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4.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charts/chart5.xml" ContentType="application/vnd.openxmlformats-officedocument.drawingml.chart+xml"/>
  <Override PartName="/ppt/charts/style4.xml" ContentType="application/vnd.ms-office.chartstyle+xml"/>
  <Override PartName="/ppt/charts/colors3.xml" ContentType="application/vnd.ms-office.chartcolorstyle+xml"/>
  <Override PartName="/ppt/charts/chart4.xml" ContentType="application/vnd.openxmlformats-officedocument.drawingml.chart+xml"/>
  <Override PartName="/ppt/charts/chart7.xml" ContentType="application/vnd.openxmlformats-officedocument.drawingml.chart+xml"/>
  <Override PartName="/ppt/charts/colors2.xml" ContentType="application/vnd.ms-office.chartcolorstyle+xml"/>
  <Override PartName="/ppt/charts/chart6.xml" ContentType="application/vnd.openxmlformats-officedocument.drawingml.chart+xml"/>
  <Override PartName="/ppt/charts/style7.xml" ContentType="application/vnd.ms-office.chartstyle+xml"/>
  <Override PartName="/ppt/charts/style6.xml" ContentType="application/vnd.ms-office.chartstyle+xml"/>
  <Override PartName="/ppt/charts/style1.xml" ContentType="application/vnd.ms-office.chartstyle+xml"/>
  <Override PartName="/ppt/charts/chart1.xml" ContentType="application/vnd.openxmlformats-officedocument.drawingml.chart+xml"/>
  <Override PartName="/ppt/charts/colors6.xml" ContentType="application/vnd.ms-office.chartcolorstyle+xml"/>
  <Override PartName="/ppt/charts/colors5.xml" ContentType="application/vnd.ms-office.chartcolorstyle+xml"/>
  <Override PartName="/ppt/charts/style5.xml" ContentType="application/vnd.ms-office.chartstyle+xml"/>
  <Override PartName="/ppt/charts/colors4.xml" ContentType="application/vnd.ms-office.chartcolorstyle+xml"/>
  <Override PartName="/ppt/charts/chart3.xml" ContentType="application/vnd.openxmlformats-officedocument.drawingml.chart+xml"/>
  <Override PartName="/ppt/charts/colors7.xml" ContentType="application/vnd.ms-office.chartcolorstyle+xml"/>
  <Override PartName="/ppt/charts/chart2.xml" ContentType="application/vnd.openxmlformats-officedocument.drawingml.chart+xml"/>
  <Override PartName="/ppt/charts/style3.xml" ContentType="application/vnd.ms-office.chartstyle+xml"/>
  <Override PartName="/ppt/charts/colors1.xml" ContentType="application/vnd.ms-office.chartcolorstyle+xml"/>
  <Override PartName="/ppt/charts/style2.xml" ContentType="application/vnd.ms-office.chartstyle+xml"/>
  <Override PartName="/ppt/slides/slide12.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1.xml" ContentType="application/vnd.openxmlformats-officedocument.presentationml.slide+xml"/>
  <Override PartName="/ppt/slides/slide5.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3.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Override PartName="/ppt/notesSlides/notesSlide4.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3.xml" ContentType="application/vnd.openxmlformats-officedocument.presentationml.notesSlide+xml"/>
  <Override PartName="/ppt/notesSlides/notesSlide8.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presProps" Target="presProps.xml"/>
</Relationships>
</file>

<file path=ppt/charts/_rels/chart1.xml.rels><?xml version="1.0" encoding="UTF-8"?>
<Relationships xmlns="http://schemas.openxmlformats.org/package/2006/relationships"><Relationship Id="rId1" Type="http://schemas.microsoft.com/office/2011/relationships/chartStyle" Target="style1.xml"/><Relationship Id="rId2" Type="http://schemas.microsoft.com/office/2011/relationships/chartColorStyle" Target="colors1.xml"/>
</Relationships>
</file>

<file path=ppt/charts/_rels/chart2.xml.rels><?xml version="1.0" encoding="UTF-8"?>
<Relationships xmlns="http://schemas.openxmlformats.org/package/2006/relationships"><Relationship Id="rId1" Type="http://schemas.microsoft.com/office/2011/relationships/chartStyle" Target="style2.xml"/><Relationship Id="rId2" Type="http://schemas.microsoft.com/office/2011/relationships/chartColorStyle" Target="colors2.xml"/>
</Relationships>
</file>

<file path=ppt/charts/_rels/chart3.xml.rels><?xml version="1.0" encoding="UTF-8"?>
<Relationships xmlns="http://schemas.openxmlformats.org/package/2006/relationships"><Relationship Id="rId1" Type="http://schemas.microsoft.com/office/2011/relationships/chartStyle" Target="style3.xml"/><Relationship Id="rId2" Type="http://schemas.microsoft.com/office/2011/relationships/chartColorStyle" Target="colors3.xml"/>
</Relationships>
</file>

<file path=ppt/charts/_rels/chart4.xml.rels><?xml version="1.0" encoding="UTF-8"?>
<Relationships xmlns="http://schemas.openxmlformats.org/package/2006/relationships"><Relationship Id="rId1" Type="http://schemas.microsoft.com/office/2011/relationships/chartStyle" Target="style4.xml"/><Relationship Id="rId2" Type="http://schemas.microsoft.com/office/2011/relationships/chartColorStyle" Target="colors4.xml"/>
</Relationships>
</file>

<file path=ppt/charts/_rels/chart5.xml.rels><?xml version="1.0" encoding="UTF-8"?>
<Relationships xmlns="http://schemas.openxmlformats.org/package/2006/relationships"><Relationship Id="rId1" Type="http://schemas.microsoft.com/office/2011/relationships/chartStyle" Target="style5.xml"/><Relationship Id="rId2" Type="http://schemas.microsoft.com/office/2011/relationships/chartColorStyle" Target="colors5.xml"/>
</Relationships>
</file>

<file path=ppt/charts/_rels/chart6.xml.rels><?xml version="1.0" encoding="UTF-8"?>
<Relationships xmlns="http://schemas.openxmlformats.org/package/2006/relationships"><Relationship Id="rId1" Type="http://schemas.microsoft.com/office/2011/relationships/chartStyle" Target="style6.xml"/><Relationship Id="rId2" Type="http://schemas.microsoft.com/office/2011/relationships/chartColorStyle" Target="colors6.xml"/>
</Relationships>
</file>

<file path=ppt/charts/_rels/chart7.xml.rels><?xml version="1.0" encoding="UTF-8"?>
<Relationships xmlns="http://schemas.openxmlformats.org/package/2006/relationships"><Relationship Id="rId1" Type="http://schemas.microsoft.com/office/2011/relationships/chartStyle" Target="style7.xml"/><Relationship Id="rId2" Type="http://schemas.microsoft.com/office/2011/relationships/chartColorStyle" Target="colors7.xml"/>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a:lstStyle/>
          <a:p>
            <a:pPr>
              <a:defRPr sz="1300" b="0" u="none" strike="noStrike">
                <a:solidFill>
                  <a:srgbClr val="000000"/>
                </a:solidFill>
                <a:uFillTx/>
                <a:latin typeface="Arial"/>
              </a:defRPr>
            </a:pPr>
            <a:r>
              <a:rPr sz="1400" b="0" u="none" strike="noStrike">
                <a:solidFill>
                  <a:srgbClr val="13293D"/>
                </a:solidFill>
                <a:uFillTx/>
                <a:latin typeface="Calibri"/>
              </a:rPr>
              <a:t>River visits reporting each nested parameter set</a:t>
            </a:r>
          </a:p>
        </c:rich>
      </c:tx>
      <c:overlay val="0"/>
      <c:spPr>
        <a:noFill/>
        <a:ln w="0">
          <a:noFill/>
        </a:ln>
      </c:spPr>
    </c:title>
    <c:autoTitleDeleted val="0"/>
    <c:plotArea>
      <c:barChart>
        <c:barDir val="bar"/>
        <c:grouping val="clustered"/>
        <c:varyColors val="0"/>
        <c:ser>
          <c:idx val="0"/>
          <c:order val="0"/>
          <c:tx>
            <c:strRef>
              <c:f>label 0</c:f>
              <c:strCache>
                <c:ptCount val="1"/>
                <c:pt idx="0">
                  <c:v>Visits</c:v>
                </c:pt>
              </c:strCache>
            </c:strRef>
          </c:tx>
          <c:spPr>
            <a:solidFill>
              <a:srgbClr val="1A7F8E"/>
            </a:solidFill>
            <a:ln w="0">
              <a:noFill/>
            </a:ln>
          </c:spPr>
          <c:invertIfNegative val="0"/>
          <c:dLbls>
            <c:numFmt formatCode="#,##0" sourceLinked="0"/>
            <c:txPr>
              <a:bodyPr wrap="square"/>
              <a:lstStyle/>
              <a:p>
                <a:pPr>
                  <a:defRPr sz="1100" b="0" u="none" strike="noStrike">
                    <a:solidFill>
                      <a:srgbClr val="13293D"/>
                    </a:solidFill>
                    <a:uFillTx/>
                    <a:latin typeface="Calibri"/>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All river visits</c:v>
                </c:pt>
                <c:pt idx="1">
                  <c:v>pH, DO, BOD</c:v>
                </c:pt>
                <c:pt idx="2">
                  <c:v>+ Fecal coliform</c:v>
                </c:pt>
                <c:pt idx="3">
                  <c:v>+ EC</c:v>
                </c:pt>
                <c:pt idx="4">
                  <c:v>+ Total coli., turbidity</c:v>
                </c:pt>
                <c:pt idx="5">
                  <c:v>All 8 (WQI computable)</c:v>
                </c:pt>
              </c:strCache>
            </c:strRef>
          </c:cat>
          <c:val>
            <c:numRef>
              <c:f>0</c:f>
              <c:numCache>
                <c:formatCode>General</c:formatCode>
                <c:ptCount val="6"/>
                <c:pt idx="0">
                  <c:v>32968</c:v>
                </c:pt>
                <c:pt idx="1">
                  <c:v>24993</c:v>
                </c:pt>
                <c:pt idx="2">
                  <c:v>21547</c:v>
                </c:pt>
                <c:pt idx="3">
                  <c:v>5961</c:v>
                </c:pt>
                <c:pt idx="4">
                  <c:v>5256</c:v>
                </c:pt>
                <c:pt idx="5">
                  <c:v>4861</c:v>
                </c:pt>
              </c:numCache>
            </c:numRef>
          </c:val>
        </c:ser>
        <c:gapWidth val="45"/>
        <c:overlap val="0"/>
        <c:axId val="69404421"/>
        <c:axId val="25710915"/>
      </c:barChart>
      <c:catAx>
        <c:axId val="69404421"/>
        <c:scaling>
          <c:orientation val="maxMin"/>
        </c:scaling>
        <c:delete val="0"/>
        <c:axPos val="b"/>
        <c:numFmt formatCode="General" sourceLinked="0"/>
        <c:majorTickMark val="out"/>
        <c:minorTickMark val="none"/>
        <c:tickLblPos val="nextTo"/>
        <c:spPr>
          <a:ln w="12600">
            <a:solidFill>
              <a:srgbClr val="888888"/>
            </a:solidFill>
            <a:round/>
          </a:ln>
        </c:spPr>
        <c:txPr>
          <a:bodyPr/>
          <a:lstStyle/>
          <a:p>
            <a:pPr>
              <a:defRPr sz="1200" b="0" u="none" strike="noStrike">
                <a:solidFill>
                  <a:srgbClr val="13293D"/>
                </a:solidFill>
                <a:uFillTx/>
                <a:latin typeface="Calibri"/>
              </a:defRPr>
            </a:pPr>
          </a:p>
        </c:txPr>
        <c:crossAx val="25710915"/>
        <c:crosses val="autoZero"/>
        <c:auto val="1"/>
        <c:lblAlgn val="ctr"/>
        <c:lblOffset val="100"/>
        <c:noMultiLvlLbl val="0"/>
      </c:catAx>
      <c:valAx>
        <c:axId val="25710915"/>
        <c:scaling>
          <c:orientation val="minMax"/>
        </c:scaling>
        <c:delete val="1"/>
        <c:axPos val="l"/>
        <c:majorGridlines>
          <c:spPr>
            <a:ln w="9360">
              <a:solidFill>
                <a:srgbClr val="D9E2E6"/>
              </a:solidFill>
              <a:round/>
            </a:ln>
          </c:spPr>
        </c:majorGridlines>
        <c:numFmt formatCode="General" sourceLinked="1"/>
        <c:majorTickMark val="out"/>
        <c:minorTickMark val="none"/>
        <c:tickLblPos val="low"/>
        <c:spPr>
          <a:ln w="12600">
            <a:solidFill>
              <a:srgbClr val="888888"/>
            </a:solidFill>
            <a:round/>
          </a:ln>
        </c:spPr>
        <c:txPr>
          <a:bodyPr/>
          <a:lstStyle/>
          <a:p>
            <a:pPr>
              <a:defRPr sz="1100" b="0" u="none" strike="noStrike">
                <a:solidFill>
                  <a:srgbClr val="13293D"/>
                </a:solidFill>
                <a:uFillTx/>
                <a:latin typeface="Calibri"/>
              </a:defRPr>
            </a:pPr>
          </a:p>
        </c:txPr>
        <c:crossAx val="69404421"/>
        <c:crossBetween val="between"/>
      </c:valAx>
      <c:spPr>
        <a:noFill/>
        <a:ln w="0">
          <a:noFill/>
        </a:ln>
      </c:spPr>
    </c:plotArea>
    <c:plotVisOnly val="1"/>
    <c:dispBlanksAs val="span"/>
  </c:chart>
  <c:spPr>
    <a:no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a:lstStyle/>
          <a:p>
            <a:pPr>
              <a:defRPr sz="1300" b="0" u="none" strike="noStrike">
                <a:solidFill>
                  <a:srgbClr val="000000"/>
                </a:solidFill>
                <a:uFillTx/>
                <a:latin typeface="Arial"/>
              </a:defRPr>
            </a:pPr>
            <a:r>
              <a:rPr sz="1400" b="0" u="none" strike="noStrike">
                <a:solidFill>
                  <a:srgbClr val="13293D"/>
                </a:solidFill>
                <a:uFillTx/>
                <a:latin typeface="Calibri"/>
              </a:rPr>
              <a:t>Exact share of index variance per parameter (%)</a:t>
            </a:r>
          </a:p>
        </c:rich>
      </c:tx>
      <c:overlay val="0"/>
      <c:spPr>
        <a:noFill/>
        <a:ln w="0">
          <a:noFill/>
        </a:ln>
      </c:spPr>
    </c:title>
    <c:autoTitleDeleted val="0"/>
    <c:plotArea>
      <c:barChart>
        <c:barDir val="bar"/>
        <c:grouping val="clustered"/>
        <c:varyColors val="0"/>
        <c:ser>
          <c:idx val="0"/>
          <c:order val="0"/>
          <c:tx>
            <c:strRef>
              <c:f>label 0</c:f>
              <c:strCache>
                <c:ptCount val="1"/>
                <c:pt idx="0">
                  <c:v>Share of WQI variance (%)</c:v>
                </c:pt>
              </c:strCache>
            </c:strRef>
          </c:tx>
          <c:spPr>
            <a:solidFill>
              <a:srgbClr val="1A7F8E"/>
            </a:solidFill>
            <a:ln w="0">
              <a:noFill/>
            </a:ln>
          </c:spPr>
          <c:invertIfNegative val="0"/>
          <c:dLbls>
            <c:numFmt formatCode="0.0#" sourceLinked="0"/>
            <c:txPr>
              <a:bodyPr wrap="square"/>
              <a:lstStyle/>
              <a:p>
                <a:pPr>
                  <a:defRPr sz="1100" b="0" u="none" strike="noStrike">
                    <a:solidFill>
                      <a:srgbClr val="13293D"/>
                    </a:solidFill>
                    <a:uFillTx/>
                    <a:latin typeface="Calibri"/>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8"/>
                <c:pt idx="0">
                  <c:v>pH</c:v>
                </c:pt>
                <c:pt idx="1">
                  <c:v>BOD</c:v>
                </c:pt>
                <c:pt idx="2">
                  <c:v>Turbidity</c:v>
                </c:pt>
                <c:pt idx="3">
                  <c:v>DO</c:v>
                </c:pt>
                <c:pt idx="4">
                  <c:v>Nitrate-N</c:v>
                </c:pt>
                <c:pt idx="5">
                  <c:v>Fecal coliform</c:v>
                </c:pt>
                <c:pt idx="6">
                  <c:v>EC</c:v>
                </c:pt>
                <c:pt idx="7">
                  <c:v>Total coliform</c:v>
                </c:pt>
              </c:strCache>
            </c:strRef>
          </c:cat>
          <c:val>
            <c:numRef>
              <c:f>0</c:f>
              <c:numCache>
                <c:formatCode>General</c:formatCode>
                <c:ptCount val="8"/>
                <c:pt idx="0">
                  <c:v>51.1</c:v>
                </c:pt>
                <c:pt idx="1">
                  <c:v>36.4</c:v>
                </c:pt>
                <c:pt idx="2">
                  <c:v>7.3</c:v>
                </c:pt>
                <c:pt idx="3">
                  <c:v>3.6</c:v>
                </c:pt>
                <c:pt idx="4">
                  <c:v>1.3</c:v>
                </c:pt>
                <c:pt idx="5">
                  <c:v>0.19</c:v>
                </c:pt>
                <c:pt idx="6">
                  <c:v>0.04</c:v>
                </c:pt>
                <c:pt idx="7">
                  <c:v>0.02</c:v>
                </c:pt>
              </c:numCache>
            </c:numRef>
          </c:val>
        </c:ser>
        <c:gapWidth val="40"/>
        <c:overlap val="0"/>
        <c:axId val="89679435"/>
        <c:axId val="1058326"/>
      </c:barChart>
      <c:catAx>
        <c:axId val="89679435"/>
        <c:scaling>
          <c:orientation val="maxMin"/>
        </c:scaling>
        <c:delete val="0"/>
        <c:axPos val="b"/>
        <c:numFmt formatCode="General" sourceLinked="0"/>
        <c:majorTickMark val="out"/>
        <c:minorTickMark val="none"/>
        <c:tickLblPos val="nextTo"/>
        <c:spPr>
          <a:ln w="12600">
            <a:solidFill>
              <a:srgbClr val="888888"/>
            </a:solidFill>
            <a:round/>
          </a:ln>
        </c:spPr>
        <c:txPr>
          <a:bodyPr/>
          <a:lstStyle/>
          <a:p>
            <a:pPr>
              <a:defRPr sz="1200" b="0" u="none" strike="noStrike">
                <a:solidFill>
                  <a:srgbClr val="13293D"/>
                </a:solidFill>
                <a:uFillTx/>
                <a:latin typeface="Calibri"/>
              </a:defRPr>
            </a:pPr>
          </a:p>
        </c:txPr>
        <c:crossAx val="1058326"/>
        <c:crosses val="autoZero"/>
        <c:auto val="1"/>
        <c:lblAlgn val="ctr"/>
        <c:lblOffset val="100"/>
        <c:noMultiLvlLbl val="0"/>
      </c:catAx>
      <c:valAx>
        <c:axId val="1058326"/>
        <c:scaling>
          <c:orientation val="minMax"/>
        </c:scaling>
        <c:delete val="1"/>
        <c:axPos val="l"/>
        <c:majorGridlines>
          <c:spPr>
            <a:ln w="9360">
              <a:solidFill>
                <a:srgbClr val="D9E2E6"/>
              </a:solidFill>
              <a:round/>
            </a:ln>
          </c:spPr>
        </c:majorGridlines>
        <c:numFmt formatCode="General" sourceLinked="1"/>
        <c:majorTickMark val="out"/>
        <c:minorTickMark val="none"/>
        <c:tickLblPos val="low"/>
        <c:spPr>
          <a:ln w="12600">
            <a:solidFill>
              <a:srgbClr val="888888"/>
            </a:solidFill>
            <a:round/>
          </a:ln>
        </c:spPr>
        <c:txPr>
          <a:bodyPr/>
          <a:lstStyle/>
          <a:p>
            <a:pPr>
              <a:defRPr sz="1100" b="0" u="none" strike="noStrike">
                <a:solidFill>
                  <a:srgbClr val="13293D"/>
                </a:solidFill>
                <a:uFillTx/>
                <a:latin typeface="Calibri"/>
              </a:defRPr>
            </a:pPr>
          </a:p>
        </c:txPr>
        <c:crossAx val="89679435"/>
        <c:crossBetween val="between"/>
      </c:valAx>
      <c:spPr>
        <a:noFill/>
        <a:ln w="0">
          <a:noFill/>
        </a:ln>
      </c:spPr>
    </c:plotArea>
    <c:plotVisOnly val="1"/>
    <c:dispBlanksAs val="span"/>
  </c:chart>
  <c:spPr>
    <a:no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a:lstStyle/>
          <a:p>
            <a:pPr>
              <a:defRPr sz="1300" b="0" u="none" strike="noStrike">
                <a:solidFill>
                  <a:srgbClr val="000000"/>
                </a:solidFill>
                <a:uFillTx/>
                <a:latin typeface="Arial"/>
              </a:defRPr>
            </a:pPr>
            <a:r>
              <a:rPr sz="1400" b="0" u="none" strike="noStrike">
                <a:solidFill>
                  <a:srgbClr val="13293D"/>
                </a:solidFill>
                <a:uFillTx/>
                <a:latin typeface="Calibri"/>
              </a:rPr>
              <a:t>Greedy forward selection (XGBoost, unseen stations)</a:t>
            </a:r>
          </a:p>
        </c:rich>
      </c:tx>
      <c:overlay val="0"/>
      <c:spPr>
        <a:noFill/>
        <a:ln w="0">
          <a:noFill/>
        </a:ln>
      </c:spPr>
    </c:title>
    <c:autoTitleDeleted val="0"/>
    <c:plotArea>
      <c:lineChart>
        <c:grouping val="standard"/>
        <c:varyColors val="0"/>
        <c:ser>
          <c:idx val="0"/>
          <c:order val="0"/>
          <c:tx>
            <c:strRef>
              <c:f>label 0</c:f>
              <c:strCache>
                <c:ptCount val="1"/>
                <c:pt idx="0">
                  <c:v>R² on unseen stations</c:v>
                </c:pt>
              </c:strCache>
            </c:strRef>
          </c:tx>
          <c:spPr>
            <a:solidFill>
              <a:srgbClr val="1A7F8E"/>
            </a:solidFill>
            <a:ln w="38160">
              <a:solidFill>
                <a:srgbClr val="1A7F8E"/>
              </a:solidFill>
              <a:round/>
            </a:ln>
          </c:spPr>
          <c:marker>
            <c:symbol val="circle"/>
            <c:size val="9"/>
            <c:spPr>
              <a:solidFill>
                <a:srgbClr val="1A7F8E"/>
              </a:solidFill>
            </c:spPr>
          </c:marker>
          <c:dLbls>
            <c:numFmt formatCode="0.000" sourceLinked="0"/>
            <c:txPr>
              <a:bodyPr wrap="square"/>
              <a:lstStyle/>
              <a:p>
                <a:pPr>
                  <a:defRPr sz="1100" b="0" u="none" strike="noStrike">
                    <a:solidFill>
                      <a:srgbClr val="13293D"/>
                    </a:solidFill>
                    <a:uFillTx/>
                    <a:latin typeface="Calibri"/>
                  </a:defRPr>
                </a:pPr>
              </a:p>
            </c:txPr>
            <c:dLblPos val="t"/>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8"/>
                <c:pt idx="0">
                  <c:v>pH</c:v>
                </c:pt>
                <c:pt idx="1">
                  <c:v>+BOD</c:v>
                </c:pt>
                <c:pt idx="2">
                  <c:v>+Turbidity</c:v>
                </c:pt>
                <c:pt idx="3">
                  <c:v>+DO</c:v>
                </c:pt>
                <c:pt idx="4">
                  <c:v>+Nitrate</c:v>
                </c:pt>
                <c:pt idx="5">
                  <c:v>+EC</c:v>
                </c:pt>
                <c:pt idx="6">
                  <c:v>+Fecal coli.</c:v>
                </c:pt>
                <c:pt idx="7">
                  <c:v>+Total coli.</c:v>
                </c:pt>
              </c:strCache>
            </c:strRef>
          </c:cat>
          <c:val>
            <c:numRef>
              <c:f>0</c:f>
              <c:numCache>
                <c:formatCode>General</c:formatCode>
                <c:ptCount val="8"/>
                <c:pt idx="0">
                  <c:v>0.508</c:v>
                </c:pt>
                <c:pt idx="1">
                  <c:v>0.939</c:v>
                </c:pt>
                <c:pt idx="2">
                  <c:v>0.977</c:v>
                </c:pt>
                <c:pt idx="3">
                  <c:v>0.993</c:v>
                </c:pt>
                <c:pt idx="4">
                  <c:v>0.998</c:v>
                </c:pt>
                <c:pt idx="5">
                  <c:v>0.997</c:v>
                </c:pt>
                <c:pt idx="6">
                  <c:v>0.997</c:v>
                </c:pt>
                <c:pt idx="7">
                  <c:v>0.997</c:v>
                </c:pt>
              </c:numCache>
            </c:numRef>
          </c:val>
          <c:smooth val="0"/>
        </c:ser>
        <c:hiLowLines>
          <c:spPr>
            <a:ln w="0">
              <a:noFill/>
            </a:ln>
          </c:spPr>
        </c:hiLowLines>
        <c:marker val="1"/>
        <c:axId val="62510030"/>
        <c:axId val="2483485"/>
      </c:lineChart>
      <c:catAx>
        <c:axId val="62510030"/>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sz="1200" b="0" u="none" strike="noStrike">
                <a:solidFill>
                  <a:srgbClr val="13293D"/>
                </a:solidFill>
                <a:uFillTx/>
                <a:latin typeface="Calibri"/>
              </a:defRPr>
            </a:pPr>
          </a:p>
        </c:txPr>
        <c:crossAx val="2483485"/>
        <c:crosses val="autoZero"/>
        <c:auto val="1"/>
        <c:lblAlgn val="ctr"/>
        <c:lblOffset val="100"/>
        <c:noMultiLvlLbl val="0"/>
      </c:catAx>
      <c:valAx>
        <c:axId val="2483485"/>
        <c:scaling>
          <c:orientation val="minMax"/>
          <c:max val="1.1"/>
          <c:min val="0.4"/>
        </c:scaling>
        <c:delete val="0"/>
        <c:axPos val="l"/>
        <c:majorGridlines>
          <c:spPr>
            <a:ln w="9360">
              <a:solidFill>
                <a:srgbClr val="D9E2E6"/>
              </a:solidFill>
              <a:round/>
            </a:ln>
          </c:spPr>
        </c:majorGridlines>
        <c:numFmt formatCode="0.0" sourceLinked="0"/>
        <c:majorTickMark val="out"/>
        <c:minorTickMark val="none"/>
        <c:tickLblPos val="nextTo"/>
        <c:spPr>
          <a:ln w="12600">
            <a:solidFill>
              <a:srgbClr val="888888"/>
            </a:solidFill>
            <a:round/>
          </a:ln>
        </c:spPr>
        <c:txPr>
          <a:bodyPr/>
          <a:lstStyle/>
          <a:p>
            <a:pPr>
              <a:defRPr sz="1100" b="0" u="none" strike="noStrike">
                <a:solidFill>
                  <a:srgbClr val="13293D"/>
                </a:solidFill>
                <a:uFillTx/>
                <a:latin typeface="Calibri"/>
              </a:defRPr>
            </a:pPr>
          </a:p>
        </c:txPr>
        <c:crossAx val="62510030"/>
        <c:crosses val="autoZero"/>
        <c:crossBetween val="between"/>
        <c:majorUnit val="0.1"/>
      </c:valAx>
      <c:spPr>
        <a:noFill/>
        <a:ln w="0">
          <a:noFill/>
        </a:ln>
      </c:spPr>
    </c:plotArea>
    <c:plotVisOnly val="1"/>
    <c:dispBlanksAs val="span"/>
  </c:chart>
  <c:spPr>
    <a:noFill/>
    <a:ln w="0">
      <a:noFill/>
    </a:ln>
  </c:spPr>
</c:chartSpace>
</file>

<file path=ppt/charts/chart4.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a:lstStyle/>
          <a:p>
            <a:pPr>
              <a:defRPr sz="1300" b="0" u="none" strike="noStrike">
                <a:solidFill>
                  <a:srgbClr val="000000"/>
                </a:solidFill>
                <a:uFillTx/>
                <a:latin typeface="Arial"/>
              </a:defRPr>
            </a:pPr>
            <a:r>
              <a:rPr sz="1400" b="0" u="none" strike="noStrike">
                <a:solidFill>
                  <a:srgbClr val="13293D"/>
                </a:solidFill>
                <a:uFillTx/>
                <a:latin typeface="Calibri"/>
              </a:rPr>
              <a:t>R² on unseen stations</a:t>
            </a:r>
          </a:p>
        </c:rich>
      </c:tx>
      <c:overlay val="0"/>
      <c:spPr>
        <a:noFill/>
        <a:ln w="0">
          <a:noFill/>
        </a:ln>
      </c:spPr>
    </c:title>
    <c:autoTitleDeleted val="0"/>
    <c:plotArea>
      <c:barChart>
        <c:barDir val="col"/>
        <c:grouping val="clustered"/>
        <c:varyColors val="0"/>
        <c:ser>
          <c:idx val="0"/>
          <c:order val="0"/>
          <c:tx>
            <c:strRef>
              <c:f>label 0</c:f>
              <c:strCache>
                <c:ptCount val="1"/>
                <c:pt idx="0">
                  <c:v>XGBoost</c:v>
                </c:pt>
              </c:strCache>
            </c:strRef>
          </c:tx>
          <c:spPr>
            <a:solidFill>
              <a:srgbClr val="1A7F8E"/>
            </a:solidFill>
            <a:ln w="0">
              <a:noFill/>
            </a:ln>
          </c:spPr>
          <c:invertIfNegative val="0"/>
          <c:dLbls>
            <c:numFmt formatCode="0.00" sourceLinked="0"/>
            <c:txPr>
              <a:bodyPr wrap="square"/>
              <a:lstStyle/>
              <a:p>
                <a:pPr>
                  <a:defRPr sz="1100" b="0" u="none" strike="noStrike">
                    <a:solidFill>
                      <a:srgbClr val="13293D"/>
                    </a:solidFill>
                    <a:uFillTx/>
                    <a:latin typeface="Calibri"/>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S3</c:v>
                </c:pt>
                <c:pt idx="1">
                  <c:v>S4-routine</c:v>
                </c:pt>
                <c:pt idx="2">
                  <c:v>S5</c:v>
                </c:pt>
                <c:pt idx="3">
                  <c:v>I3</c:v>
                </c:pt>
                <c:pt idx="4">
                  <c:v>S7</c:v>
                </c:pt>
                <c:pt idx="5">
                  <c:v>Sensor-4</c:v>
                </c:pt>
              </c:strCache>
            </c:strRef>
          </c:cat>
          <c:val>
            <c:numRef>
              <c:f>0</c:f>
              <c:numCache>
                <c:formatCode>General</c:formatCode>
                <c:ptCount val="6"/>
                <c:pt idx="0">
                  <c:v>0.957</c:v>
                </c:pt>
                <c:pt idx="1">
                  <c:v>0.965</c:v>
                </c:pt>
                <c:pt idx="2">
                  <c:v>0.967</c:v>
                </c:pt>
                <c:pt idx="3">
                  <c:v>0.977</c:v>
                </c:pt>
                <c:pt idx="4">
                  <c:v>0.994</c:v>
                </c:pt>
                <c:pt idx="5">
                  <c:v>0.828</c:v>
                </c:pt>
              </c:numCache>
            </c:numRef>
          </c:val>
        </c:ser>
        <c:ser>
          <c:idx val="1"/>
          <c:order val="1"/>
          <c:tx>
            <c:strRef>
              <c:f>label 1</c:f>
              <c:strCache>
                <c:ptCount val="1"/>
                <c:pt idx="0">
                  <c:v>Formula over available parameters</c:v>
                </c:pt>
              </c:strCache>
            </c:strRef>
          </c:tx>
          <c:spPr>
            <a:solidFill>
              <a:srgbClr val="8A9BA8"/>
            </a:solidFill>
            <a:ln w="0">
              <a:noFill/>
            </a:ln>
          </c:spPr>
          <c:invertIfNegative val="0"/>
          <c:dLbls>
            <c:numFmt formatCode="0.00" sourceLinked="0"/>
            <c:txPr>
              <a:bodyPr wrap="square"/>
              <a:lstStyle/>
              <a:p>
                <a:pPr>
                  <a:defRPr sz="1100" b="0" u="none" strike="noStrike">
                    <a:solidFill>
                      <a:srgbClr val="13293D"/>
                    </a:solidFill>
                    <a:uFillTx/>
                    <a:latin typeface="Calibri"/>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S3</c:v>
                </c:pt>
                <c:pt idx="1">
                  <c:v>S4-routine</c:v>
                </c:pt>
                <c:pt idx="2">
                  <c:v>S5</c:v>
                </c:pt>
                <c:pt idx="3">
                  <c:v>I3</c:v>
                </c:pt>
                <c:pt idx="4">
                  <c:v>S7</c:v>
                </c:pt>
                <c:pt idx="5">
                  <c:v>Sensor-4</c:v>
                </c:pt>
              </c:strCache>
            </c:strRef>
          </c:cat>
          <c:val>
            <c:numRef>
              <c:f>1</c:f>
              <c:numCache>
                <c:formatCode>General</c:formatCode>
                <c:ptCount val="6"/>
                <c:pt idx="0">
                  <c:v>0.863</c:v>
                </c:pt>
                <c:pt idx="1">
                  <c:v>0.865</c:v>
                </c:pt>
                <c:pt idx="2">
                  <c:v>0.866</c:v>
                </c:pt>
                <c:pt idx="3">
                  <c:v>0.874</c:v>
                </c:pt>
                <c:pt idx="4">
                  <c:v>0.903</c:v>
                </c:pt>
                <c:pt idx="5">
                  <c:v>0.389</c:v>
                </c:pt>
              </c:numCache>
            </c:numRef>
          </c:val>
        </c:ser>
        <c:gapWidth val="60"/>
        <c:overlap val="0"/>
        <c:axId val="29758118"/>
        <c:axId val="87258314"/>
      </c:barChart>
      <c:catAx>
        <c:axId val="29758118"/>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sz="1200" b="0" u="none" strike="noStrike">
                <a:solidFill>
                  <a:srgbClr val="13293D"/>
                </a:solidFill>
                <a:uFillTx/>
                <a:latin typeface="Calibri"/>
              </a:defRPr>
            </a:pPr>
          </a:p>
        </c:txPr>
        <c:crossAx val="87258314"/>
        <c:crosses val="autoZero"/>
        <c:auto val="1"/>
        <c:lblAlgn val="ctr"/>
        <c:lblOffset val="100"/>
        <c:noMultiLvlLbl val="0"/>
      </c:catAx>
      <c:valAx>
        <c:axId val="87258314"/>
        <c:scaling>
          <c:orientation val="minMax"/>
          <c:max val="1.1"/>
          <c:min val="0"/>
        </c:scaling>
        <c:delete val="0"/>
        <c:axPos val="l"/>
        <c:majorGridlines>
          <c:spPr>
            <a:ln w="9360">
              <a:solidFill>
                <a:srgbClr val="D9E2E6"/>
              </a:solidFill>
              <a:round/>
            </a:ln>
          </c:spPr>
        </c:majorGridlines>
        <c:numFmt formatCode="0.0" sourceLinked="0"/>
        <c:majorTickMark val="out"/>
        <c:minorTickMark val="none"/>
        <c:tickLblPos val="nextTo"/>
        <c:spPr>
          <a:ln w="12600">
            <a:solidFill>
              <a:srgbClr val="888888"/>
            </a:solidFill>
            <a:round/>
          </a:ln>
        </c:spPr>
        <c:txPr>
          <a:bodyPr/>
          <a:lstStyle/>
          <a:p>
            <a:pPr>
              <a:defRPr sz="1100" b="0" u="none" strike="noStrike">
                <a:solidFill>
                  <a:srgbClr val="13293D"/>
                </a:solidFill>
                <a:uFillTx/>
                <a:latin typeface="Calibri"/>
              </a:defRPr>
            </a:pPr>
          </a:p>
        </c:txPr>
        <c:crossAx val="29758118"/>
        <c:crosses val="autoZero"/>
        <c:crossBetween val="between"/>
        <c:majorUnit val="0.2"/>
      </c:valAx>
      <c:spPr>
        <a:noFill/>
        <a:ln w="0">
          <a:noFill/>
        </a:ln>
      </c:spPr>
    </c:plotArea>
    <c:legend>
      <c:legendPos val="b"/>
      <c:overlay val="0"/>
      <c:spPr>
        <a:noFill/>
        <a:ln w="0">
          <a:noFill/>
        </a:ln>
      </c:spPr>
      <c:txPr>
        <a:bodyPr/>
        <a:lstStyle/>
        <a:p>
          <a:pPr>
            <a:defRPr sz="1200" b="0" u="none" strike="noStrike">
              <a:solidFill>
                <a:srgbClr val="13293D"/>
              </a:solidFill>
              <a:uFillTx/>
              <a:latin typeface="Calibri"/>
            </a:defRPr>
          </a:pPr>
        </a:p>
      </c:txPr>
    </c:legend>
    <c:plotVisOnly val="1"/>
    <c:dispBlanksAs val="span"/>
  </c:chart>
  <c:spPr>
    <a:noFill/>
    <a:ln w="0">
      <a:noFill/>
    </a:ln>
  </c:spPr>
</c:chartSpace>
</file>

<file path=ppt/charts/chart5.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a:lstStyle/>
          <a:p>
            <a:pPr>
              <a:defRPr sz="1300" b="0" u="none" strike="noStrike">
                <a:solidFill>
                  <a:srgbClr val="000000"/>
                </a:solidFill>
                <a:uFillTx/>
                <a:latin typeface="Arial"/>
              </a:defRPr>
            </a:pPr>
            <a:r>
              <a:rPr sz="1400" b="0" u="none" strike="noStrike">
                <a:solidFill>
                  <a:srgbClr val="13293D"/>
                </a:solidFill>
                <a:uFillTx/>
                <a:latin typeface="Calibri"/>
              </a:rPr>
              <a:t>Error as training data shrinks</a:t>
            </a:r>
          </a:p>
        </c:rich>
      </c:tx>
      <c:overlay val="0"/>
      <c:spPr>
        <a:noFill/>
        <a:ln w="0">
          <a:noFill/>
        </a:ln>
      </c:spPr>
    </c:title>
    <c:autoTitleDeleted val="0"/>
    <c:plotArea>
      <c:lineChart>
        <c:grouping val="standard"/>
        <c:varyColors val="0"/>
        <c:ser>
          <c:idx val="0"/>
          <c:order val="0"/>
          <c:tx>
            <c:strRef>
              <c:f>label 0</c:f>
              <c:strCache>
                <c:ptCount val="1"/>
                <c:pt idx="0">
                  <c:v>Formula (no training)</c:v>
                </c:pt>
              </c:strCache>
            </c:strRef>
          </c:tx>
          <c:spPr>
            <a:solidFill>
              <a:srgbClr val="8A9BA8"/>
            </a:solidFill>
            <a:ln w="38160">
              <a:solidFill>
                <a:srgbClr val="8A9BA8"/>
              </a:solidFill>
              <a:round/>
            </a:ln>
          </c:spPr>
          <c:marker>
            <c:symbol val="circle"/>
            <c:size val="8"/>
            <c:spPr>
              <a:solidFill>
                <a:srgbClr val="8A9BA8"/>
              </a:solidFill>
            </c:spPr>
          </c:marker>
          <c:dLbls>
            <c:txPr>
              <a:bodyPr wrap="square"/>
              <a:lstStyle/>
              <a:p>
                <a:pPr>
                  <a:defRPr sz="1100" b="0" u="none" strike="noStrike">
                    <a:solidFill>
                      <a:srgbClr val="13293D"/>
                    </a:solidFill>
                    <a:uFillTx/>
                    <a:latin typeface="Calibri"/>
                  </a:defRPr>
                </a:pPr>
              </a:p>
            </c:txPr>
            <c:dLblPos val="r"/>
            <c:showLegendKey val="0"/>
            <c:showVal val="0"/>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9</c:v>
                </c:pt>
                <c:pt idx="1">
                  <c:v>24</c:v>
                </c:pt>
                <c:pt idx="2">
                  <c:v>47</c:v>
                </c:pt>
                <c:pt idx="3">
                  <c:v>118</c:v>
                </c:pt>
                <c:pt idx="4">
                  <c:v>237</c:v>
                </c:pt>
                <c:pt idx="5">
                  <c:v>474</c:v>
                </c:pt>
              </c:strCache>
            </c:strRef>
          </c:cat>
          <c:val>
            <c:numRef>
              <c:f>0</c:f>
              <c:numCache>
                <c:formatCode>General</c:formatCode>
                <c:ptCount val="6"/>
                <c:pt idx="0">
                  <c:v>5.2</c:v>
                </c:pt>
                <c:pt idx="1">
                  <c:v>5.2</c:v>
                </c:pt>
                <c:pt idx="2">
                  <c:v>5.2</c:v>
                </c:pt>
                <c:pt idx="3">
                  <c:v>5.2</c:v>
                </c:pt>
                <c:pt idx="4">
                  <c:v>5.2</c:v>
                </c:pt>
                <c:pt idx="5">
                  <c:v>5.2</c:v>
                </c:pt>
              </c:numCache>
            </c:numRef>
          </c:val>
          <c:smooth val="0"/>
        </c:ser>
        <c:ser>
          <c:idx val="1"/>
          <c:order val="1"/>
          <c:tx>
            <c:strRef>
              <c:f>label 1</c:f>
              <c:strCache>
                <c:ptCount val="1"/>
                <c:pt idx="0">
                  <c:v>Gaussian process</c:v>
                </c:pt>
              </c:strCache>
            </c:strRef>
          </c:tx>
          <c:spPr>
            <a:solidFill>
              <a:srgbClr val="F2A541"/>
            </a:solidFill>
            <a:ln w="38160">
              <a:solidFill>
                <a:srgbClr val="F2A541"/>
              </a:solidFill>
              <a:round/>
            </a:ln>
          </c:spPr>
          <c:marker>
            <c:symbol val="circle"/>
            <c:size val="8"/>
            <c:spPr>
              <a:solidFill>
                <a:srgbClr val="F2A541"/>
              </a:solidFill>
            </c:spPr>
          </c:marker>
          <c:dLbls>
            <c:txPr>
              <a:bodyPr wrap="square"/>
              <a:lstStyle/>
              <a:p>
                <a:pPr>
                  <a:defRPr sz="1100" b="0" u="none" strike="noStrike">
                    <a:solidFill>
                      <a:srgbClr val="13293D"/>
                    </a:solidFill>
                    <a:uFillTx/>
                    <a:latin typeface="Calibri"/>
                  </a:defRPr>
                </a:pPr>
              </a:p>
            </c:txPr>
            <c:dLblPos val="r"/>
            <c:showLegendKey val="0"/>
            <c:showVal val="0"/>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9</c:v>
                </c:pt>
                <c:pt idx="1">
                  <c:v>24</c:v>
                </c:pt>
                <c:pt idx="2">
                  <c:v>47</c:v>
                </c:pt>
                <c:pt idx="3">
                  <c:v>118</c:v>
                </c:pt>
                <c:pt idx="4">
                  <c:v>237</c:v>
                </c:pt>
                <c:pt idx="5">
                  <c:v>474</c:v>
                </c:pt>
              </c:strCache>
            </c:strRef>
          </c:cat>
          <c:val>
            <c:numRef>
              <c:f>1</c:f>
              <c:numCache>
                <c:formatCode>General</c:formatCode>
                <c:ptCount val="6"/>
                <c:pt idx="0">
                  <c:v>5.92</c:v>
                </c:pt>
                <c:pt idx="1">
                  <c:v>4.31</c:v>
                </c:pt>
                <c:pt idx="2">
                  <c:v>3.9</c:v>
                </c:pt>
                <c:pt idx="3">
                  <c:v>3.3</c:v>
                </c:pt>
                <c:pt idx="4">
                  <c:v>3.21</c:v>
                </c:pt>
                <c:pt idx="5">
                  <c:v>3.14</c:v>
                </c:pt>
              </c:numCache>
            </c:numRef>
          </c:val>
          <c:smooth val="0"/>
        </c:ser>
        <c:ser>
          <c:idx val="2"/>
          <c:order val="2"/>
          <c:tx>
            <c:strRef>
              <c:f>label 2</c:f>
              <c:strCache>
                <c:ptCount val="1"/>
                <c:pt idx="0">
                  <c:v>XGBoost</c:v>
                </c:pt>
              </c:strCache>
            </c:strRef>
          </c:tx>
          <c:spPr>
            <a:solidFill>
              <a:srgbClr val="1A7F8E"/>
            </a:solidFill>
            <a:ln w="38160">
              <a:solidFill>
                <a:srgbClr val="1A7F8E"/>
              </a:solidFill>
              <a:round/>
            </a:ln>
          </c:spPr>
          <c:marker>
            <c:symbol val="circle"/>
            <c:size val="8"/>
            <c:spPr>
              <a:solidFill>
                <a:srgbClr val="1A7F8E"/>
              </a:solidFill>
            </c:spPr>
          </c:marker>
          <c:dLbls>
            <c:txPr>
              <a:bodyPr wrap="square"/>
              <a:lstStyle/>
              <a:p>
                <a:pPr>
                  <a:defRPr sz="1100" b="0" u="none" strike="noStrike">
                    <a:solidFill>
                      <a:srgbClr val="13293D"/>
                    </a:solidFill>
                    <a:uFillTx/>
                    <a:latin typeface="Calibri"/>
                  </a:defRPr>
                </a:pPr>
              </a:p>
            </c:txPr>
            <c:dLblPos val="r"/>
            <c:showLegendKey val="0"/>
            <c:showVal val="0"/>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9</c:v>
                </c:pt>
                <c:pt idx="1">
                  <c:v>24</c:v>
                </c:pt>
                <c:pt idx="2">
                  <c:v>47</c:v>
                </c:pt>
                <c:pt idx="3">
                  <c:v>118</c:v>
                </c:pt>
                <c:pt idx="4">
                  <c:v>237</c:v>
                </c:pt>
                <c:pt idx="5">
                  <c:v>474</c:v>
                </c:pt>
              </c:strCache>
            </c:strRef>
          </c:cat>
          <c:val>
            <c:numRef>
              <c:f>2</c:f>
              <c:numCache>
                <c:formatCode>General</c:formatCode>
                <c:ptCount val="6"/>
                <c:pt idx="0">
                  <c:v>6.56</c:v>
                </c:pt>
                <c:pt idx="1">
                  <c:v>4.54</c:v>
                </c:pt>
                <c:pt idx="2">
                  <c:v>3.95</c:v>
                </c:pt>
                <c:pt idx="3">
                  <c:v>3.36</c:v>
                </c:pt>
                <c:pt idx="4">
                  <c:v>3.11</c:v>
                </c:pt>
                <c:pt idx="5">
                  <c:v>2.93</c:v>
                </c:pt>
              </c:numCache>
            </c:numRef>
          </c:val>
          <c:smooth val="0"/>
        </c:ser>
        <c:hiLowLines>
          <c:spPr>
            <a:ln w="0">
              <a:noFill/>
            </a:ln>
          </c:spPr>
        </c:hiLowLines>
        <c:marker val="1"/>
        <c:axId val="31928206"/>
        <c:axId val="11306269"/>
      </c:lineChart>
      <c:catAx>
        <c:axId val="31928206"/>
        <c:scaling>
          <c:orientation val="minMax"/>
        </c:scaling>
        <c:delete val="0"/>
        <c:axPos val="b"/>
        <c:title>
          <c:tx>
            <c:rich>
              <a:bodyPr rot="0"/>
              <a:lstStyle/>
              <a:p>
                <a:pPr>
                  <a:defRPr sz="1300" b="0" u="none" strike="noStrike">
                    <a:solidFill>
                      <a:srgbClr val="000000"/>
                    </a:solidFill>
                    <a:uFillTx/>
                    <a:latin typeface="Arial"/>
                  </a:defRPr>
                </a:pPr>
                <a:r>
                  <a:rPr sz="1200" b="0" u="none" strike="noStrike">
                    <a:solidFill>
                      <a:srgbClr val="13293D"/>
                    </a:solidFill>
                    <a:uFillTx/>
                    <a:latin typeface="Calibri"/>
                  </a:rPr>
                  <a:t>Training stations (S3, unseen test stations)</a:t>
                </a:r>
              </a:p>
            </c:rich>
          </c:tx>
          <c:overlay val="0"/>
          <c:spPr>
            <a:noFill/>
            <a:ln w="0">
              <a:noFill/>
            </a:ln>
          </c:spPr>
        </c:title>
        <c:numFmt formatCode="General" sourceLinked="0"/>
        <c:majorTickMark val="out"/>
        <c:minorTickMark val="none"/>
        <c:tickLblPos val="low"/>
        <c:spPr>
          <a:ln w="12600">
            <a:solidFill>
              <a:srgbClr val="888888"/>
            </a:solidFill>
            <a:round/>
          </a:ln>
        </c:spPr>
        <c:txPr>
          <a:bodyPr/>
          <a:lstStyle/>
          <a:p>
            <a:pPr>
              <a:defRPr sz="1200" b="0" u="none" strike="noStrike">
                <a:solidFill>
                  <a:srgbClr val="13293D"/>
                </a:solidFill>
                <a:uFillTx/>
                <a:latin typeface="Calibri"/>
              </a:defRPr>
            </a:pPr>
          </a:p>
        </c:txPr>
        <c:crossAx val="11306269"/>
        <c:crosses val="autoZero"/>
        <c:auto val="1"/>
        <c:lblAlgn val="ctr"/>
        <c:lblOffset val="100"/>
        <c:noMultiLvlLbl val="0"/>
      </c:catAx>
      <c:valAx>
        <c:axId val="11306269"/>
        <c:scaling>
          <c:orientation val="minMax"/>
          <c:max val="7"/>
          <c:min val="2"/>
        </c:scaling>
        <c:delete val="0"/>
        <c:axPos val="l"/>
        <c:majorGridlines>
          <c:spPr>
            <a:ln w="9360">
              <a:solidFill>
                <a:srgbClr val="D9E2E6"/>
              </a:solidFill>
              <a:round/>
            </a:ln>
          </c:spPr>
        </c:majorGridlines>
        <c:title>
          <c:tx>
            <c:rich>
              <a:bodyPr rot="-5400000"/>
              <a:lstStyle/>
              <a:p>
                <a:pPr>
                  <a:defRPr sz="1300" b="0" u="none" strike="noStrike">
                    <a:solidFill>
                      <a:srgbClr val="000000"/>
                    </a:solidFill>
                    <a:uFillTx/>
                    <a:latin typeface="Arial"/>
                  </a:defRPr>
                </a:pPr>
                <a:r>
                  <a:rPr sz="1200" b="0" u="none" strike="noStrike">
                    <a:solidFill>
                      <a:srgbClr val="13293D"/>
                    </a:solidFill>
                    <a:uFillTx/>
                    <a:latin typeface="Calibri"/>
                  </a:rPr>
                  <a:t>RMSE (WQI points)</a:t>
                </a:r>
              </a:p>
            </c:rich>
          </c:tx>
          <c:overlay val="0"/>
          <c:spPr>
            <a:noFill/>
            <a:ln w="0">
              <a:noFill/>
            </a:ln>
          </c:spPr>
        </c:title>
        <c:numFmt formatCode="General" sourceLinked="0"/>
        <c:majorTickMark val="out"/>
        <c:minorTickMark val="none"/>
        <c:tickLblPos val="nextTo"/>
        <c:spPr>
          <a:ln w="12600">
            <a:solidFill>
              <a:srgbClr val="888888"/>
            </a:solidFill>
            <a:round/>
          </a:ln>
        </c:spPr>
        <c:txPr>
          <a:bodyPr/>
          <a:lstStyle/>
          <a:p>
            <a:pPr>
              <a:defRPr sz="1100" b="0" u="none" strike="noStrike">
                <a:solidFill>
                  <a:srgbClr val="13293D"/>
                </a:solidFill>
                <a:uFillTx/>
                <a:latin typeface="Calibri"/>
              </a:defRPr>
            </a:pPr>
          </a:p>
        </c:txPr>
        <c:crossAx val="31928206"/>
        <c:crosses val="autoZero"/>
        <c:crossBetween val="between"/>
        <c:majorUnit val="1"/>
      </c:valAx>
      <c:spPr>
        <a:noFill/>
        <a:ln w="0">
          <a:noFill/>
        </a:ln>
      </c:spPr>
    </c:plotArea>
    <c:legend>
      <c:legendPos val="b"/>
      <c:overlay val="0"/>
      <c:spPr>
        <a:noFill/>
        <a:ln w="0">
          <a:noFill/>
        </a:ln>
      </c:spPr>
      <c:txPr>
        <a:bodyPr/>
        <a:lstStyle/>
        <a:p>
          <a:pPr>
            <a:defRPr sz="1200" b="0" u="none" strike="noStrike">
              <a:solidFill>
                <a:srgbClr val="13293D"/>
              </a:solidFill>
              <a:uFillTx/>
              <a:latin typeface="Calibri"/>
            </a:defRPr>
          </a:pPr>
        </a:p>
      </c:txPr>
    </c:legend>
    <c:plotVisOnly val="1"/>
    <c:dispBlanksAs val="span"/>
  </c:chart>
  <c:spPr>
    <a:noFill/>
    <a:ln w="0">
      <a:noFill/>
    </a:ln>
  </c:spPr>
</c:chartSpace>
</file>

<file path=ppt/charts/chart6.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a:lstStyle/>
          <a:p>
            <a:pPr>
              <a:defRPr sz="1300" b="0" u="none" strike="noStrike">
                <a:solidFill>
                  <a:srgbClr val="000000"/>
                </a:solidFill>
                <a:uFillTx/>
                <a:latin typeface="Arial"/>
              </a:defRPr>
            </a:pPr>
            <a:r>
              <a:rPr sz="1400" b="0" u="none" strike="noStrike">
                <a:solidFill>
                  <a:srgbClr val="13293D"/>
                </a:solidFill>
                <a:uFillTx/>
                <a:latin typeface="Calibri"/>
              </a:rPr>
              <a:t>Full-panel model error with field noise on one parameter</a:t>
            </a:r>
          </a:p>
        </c:rich>
      </c:tx>
      <c:overlay val="0"/>
      <c:spPr>
        <a:noFill/>
        <a:ln w="0">
          <a:noFill/>
        </a:ln>
      </c:spPr>
    </c:title>
    <c:autoTitleDeleted val="0"/>
    <c:plotArea>
      <c:barChart>
        <c:barDir val="bar"/>
        <c:grouping val="clustered"/>
        <c:varyColors val="0"/>
        <c:ser>
          <c:idx val="0"/>
          <c:order val="0"/>
          <c:tx>
            <c:strRef>
              <c:f>label 0</c:f>
              <c:strCache>
                <c:ptCount val="1"/>
                <c:pt idx="0">
                  <c:v>Full-8 RMSE</c:v>
                </c:pt>
              </c:strCache>
            </c:strRef>
          </c:tx>
          <c:spPr>
            <a:solidFill>
              <a:srgbClr val="D1495B"/>
            </a:solidFill>
            <a:ln w="0">
              <a:noFill/>
            </a:ln>
          </c:spPr>
          <c:invertIfNegative val="0"/>
          <c:dLbls>
            <c:numFmt formatCode="0.00" sourceLinked="0"/>
            <c:txPr>
              <a:bodyPr wrap="square"/>
              <a:lstStyle/>
              <a:p>
                <a:pPr>
                  <a:defRPr sz="1100" b="0" u="none" strike="noStrike">
                    <a:solidFill>
                      <a:srgbClr val="13293D"/>
                    </a:solidFill>
                    <a:uFillTx/>
                    <a:latin typeface="Calibri"/>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No noise</c:v>
                </c:pt>
                <c:pt idx="1">
                  <c:v>pH ±0.1</c:v>
                </c:pt>
                <c:pt idx="2">
                  <c:v>BOD ±15%</c:v>
                </c:pt>
                <c:pt idx="3">
                  <c:v>DO ±0.3 mg/L</c:v>
                </c:pt>
                <c:pt idx="4">
                  <c:v>Turbidity ±10%</c:v>
                </c:pt>
                <c:pt idx="5">
                  <c:v>Coliforms ±50%</c:v>
                </c:pt>
              </c:strCache>
            </c:strRef>
          </c:cat>
          <c:val>
            <c:numRef>
              <c:f>0</c:f>
              <c:numCache>
                <c:formatCode>General</c:formatCode>
                <c:ptCount val="6"/>
                <c:pt idx="0">
                  <c:v>0.76</c:v>
                </c:pt>
                <c:pt idx="1">
                  <c:v>3.13</c:v>
                </c:pt>
                <c:pt idx="2">
                  <c:v>2.11</c:v>
                </c:pt>
                <c:pt idx="3">
                  <c:v>0.9</c:v>
                </c:pt>
                <c:pt idx="4">
                  <c:v>0.8</c:v>
                </c:pt>
                <c:pt idx="5">
                  <c:v>0.76</c:v>
                </c:pt>
              </c:numCache>
            </c:numRef>
          </c:val>
        </c:ser>
        <c:gapWidth val="45"/>
        <c:overlap val="0"/>
        <c:axId val="96463917"/>
        <c:axId val="47784523"/>
      </c:barChart>
      <c:catAx>
        <c:axId val="96463917"/>
        <c:scaling>
          <c:orientation val="maxMin"/>
        </c:scaling>
        <c:delete val="0"/>
        <c:axPos val="b"/>
        <c:numFmt formatCode="General" sourceLinked="0"/>
        <c:majorTickMark val="out"/>
        <c:minorTickMark val="none"/>
        <c:tickLblPos val="nextTo"/>
        <c:spPr>
          <a:ln w="12600">
            <a:solidFill>
              <a:srgbClr val="888888"/>
            </a:solidFill>
            <a:round/>
          </a:ln>
        </c:spPr>
        <c:txPr>
          <a:bodyPr/>
          <a:lstStyle/>
          <a:p>
            <a:pPr>
              <a:defRPr sz="1200" b="0" u="none" strike="noStrike">
                <a:solidFill>
                  <a:srgbClr val="13293D"/>
                </a:solidFill>
                <a:uFillTx/>
                <a:latin typeface="Calibri"/>
              </a:defRPr>
            </a:pPr>
          </a:p>
        </c:txPr>
        <c:crossAx val="47784523"/>
        <c:crosses val="autoZero"/>
        <c:auto val="1"/>
        <c:lblAlgn val="ctr"/>
        <c:lblOffset val="100"/>
        <c:noMultiLvlLbl val="0"/>
      </c:catAx>
      <c:valAx>
        <c:axId val="47784523"/>
        <c:scaling>
          <c:orientation val="minMax"/>
        </c:scaling>
        <c:delete val="1"/>
        <c:axPos val="l"/>
        <c:majorGridlines>
          <c:spPr>
            <a:ln w="9360">
              <a:solidFill>
                <a:srgbClr val="D9E2E6"/>
              </a:solidFill>
              <a:round/>
            </a:ln>
          </c:spPr>
        </c:majorGridlines>
        <c:numFmt formatCode="General" sourceLinked="1"/>
        <c:majorTickMark val="out"/>
        <c:minorTickMark val="none"/>
        <c:tickLblPos val="low"/>
        <c:spPr>
          <a:ln w="12600">
            <a:solidFill>
              <a:srgbClr val="888888"/>
            </a:solidFill>
            <a:round/>
          </a:ln>
        </c:spPr>
        <c:txPr>
          <a:bodyPr/>
          <a:lstStyle/>
          <a:p>
            <a:pPr>
              <a:defRPr sz="1100" b="0" u="none" strike="noStrike">
                <a:solidFill>
                  <a:srgbClr val="13293D"/>
                </a:solidFill>
                <a:uFillTx/>
                <a:latin typeface="Calibri"/>
              </a:defRPr>
            </a:pPr>
          </a:p>
        </c:txPr>
        <c:crossAx val="96463917"/>
        <c:crossBetween val="between"/>
      </c:valAx>
      <c:spPr>
        <a:noFill/>
        <a:ln w="0">
          <a:noFill/>
        </a:ln>
      </c:spPr>
    </c:plotArea>
    <c:plotVisOnly val="1"/>
    <c:dispBlanksAs val="span"/>
  </c:chart>
  <c:spPr>
    <a:noFill/>
    <a:ln w="0">
      <a:noFill/>
    </a:ln>
  </c:spPr>
</c:chartSpace>
</file>

<file path=ppt/charts/chart7.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a:lstStyle/>
          <a:p>
            <a:pPr>
              <a:defRPr sz="1300" b="0" u="none" strike="noStrike">
                <a:solidFill>
                  <a:srgbClr val="000000"/>
                </a:solidFill>
                <a:uFillTx/>
                <a:latin typeface="Arial"/>
              </a:defRPr>
            </a:pPr>
            <a:r>
              <a:rPr sz="1400" b="0" u="none" strike="noStrike">
                <a:solidFill>
                  <a:srgbClr val="13293D"/>
                </a:solidFill>
                <a:uFillTx/>
                <a:latin typeface="Calibri"/>
              </a:rPr>
              <a:t>R² on unseen stations under two index definitions</a:t>
            </a:r>
          </a:p>
        </c:rich>
      </c:tx>
      <c:overlay val="0"/>
      <c:spPr>
        <a:noFill/>
        <a:ln w="0">
          <a:noFill/>
        </a:ln>
      </c:spPr>
    </c:title>
    <c:autoTitleDeleted val="0"/>
    <c:plotArea>
      <c:barChart>
        <c:barDir val="col"/>
        <c:grouping val="clustered"/>
        <c:varyColors val="0"/>
        <c:ser>
          <c:idx val="0"/>
          <c:order val="0"/>
          <c:tx>
            <c:strRef>
              <c:f>label 0</c:f>
              <c:strCache>
                <c:ptCount val="1"/>
                <c:pt idx="0">
                  <c:v>CPCB weights (1/Sᵢ)</c:v>
                </c:pt>
              </c:strCache>
            </c:strRef>
          </c:tx>
          <c:spPr>
            <a:solidFill>
              <a:srgbClr val="1A7F8E"/>
            </a:solidFill>
            <a:ln w="0">
              <a:noFill/>
            </a:ln>
          </c:spPr>
          <c:invertIfNegative val="0"/>
          <c:dLbls>
            <c:numFmt formatCode="0.00" sourceLinked="0"/>
            <c:txPr>
              <a:bodyPr wrap="square"/>
              <a:lstStyle/>
              <a:p>
                <a:pPr>
                  <a:defRPr sz="1100" b="0" u="none" strike="noStrike">
                    <a:solidFill>
                      <a:srgbClr val="13293D"/>
                    </a:solidFill>
                    <a:uFillTx/>
                    <a:latin typeface="Calibri"/>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S3</c:v>
                </c:pt>
                <c:pt idx="1">
                  <c:v>S4-routine</c:v>
                </c:pt>
                <c:pt idx="2">
                  <c:v>S5</c:v>
                </c:pt>
                <c:pt idx="3">
                  <c:v>I3</c:v>
                </c:pt>
                <c:pt idx="4">
                  <c:v>S7</c:v>
                </c:pt>
                <c:pt idx="5">
                  <c:v>Full-8</c:v>
                </c:pt>
              </c:strCache>
            </c:strRef>
          </c:cat>
          <c:val>
            <c:numRef>
              <c:f>0</c:f>
              <c:numCache>
                <c:formatCode>General</c:formatCode>
                <c:ptCount val="6"/>
                <c:pt idx="0">
                  <c:v>0.957</c:v>
                </c:pt>
                <c:pt idx="1">
                  <c:v>0.964</c:v>
                </c:pt>
                <c:pt idx="2">
                  <c:v>0.967</c:v>
                </c:pt>
                <c:pt idx="3">
                  <c:v>0.977</c:v>
                </c:pt>
                <c:pt idx="4">
                  <c:v>0.994</c:v>
                </c:pt>
                <c:pt idx="5">
                  <c:v>0.997</c:v>
                </c:pt>
              </c:numCache>
            </c:numRef>
          </c:val>
        </c:ser>
        <c:ser>
          <c:idx val="1"/>
          <c:order val="1"/>
          <c:tx>
            <c:strRef>
              <c:f>label 1</c:f>
              <c:strCache>
                <c:ptCount val="1"/>
                <c:pt idx="0">
                  <c:v>Equal weights</c:v>
                </c:pt>
              </c:strCache>
            </c:strRef>
          </c:tx>
          <c:spPr>
            <a:solidFill>
              <a:srgbClr val="F2A541"/>
            </a:solidFill>
            <a:ln w="0">
              <a:noFill/>
            </a:ln>
          </c:spPr>
          <c:invertIfNegative val="0"/>
          <c:dLbls>
            <c:numFmt formatCode="0.00" sourceLinked="0"/>
            <c:txPr>
              <a:bodyPr wrap="square"/>
              <a:lstStyle/>
              <a:p>
                <a:pPr>
                  <a:defRPr sz="1100" b="0" u="none" strike="noStrike">
                    <a:solidFill>
                      <a:srgbClr val="13293D"/>
                    </a:solidFill>
                    <a:uFillTx/>
                    <a:latin typeface="Calibri"/>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6"/>
                <c:pt idx="0">
                  <c:v>S3</c:v>
                </c:pt>
                <c:pt idx="1">
                  <c:v>S4-routine</c:v>
                </c:pt>
                <c:pt idx="2">
                  <c:v>S5</c:v>
                </c:pt>
                <c:pt idx="3">
                  <c:v>I3</c:v>
                </c:pt>
                <c:pt idx="4">
                  <c:v>S7</c:v>
                </c:pt>
                <c:pt idx="5">
                  <c:v>Full-8</c:v>
                </c:pt>
              </c:strCache>
            </c:strRef>
          </c:cat>
          <c:val>
            <c:numRef>
              <c:f>1</c:f>
              <c:numCache>
                <c:formatCode>General</c:formatCode>
                <c:ptCount val="6"/>
                <c:pt idx="0">
                  <c:v>0.617</c:v>
                </c:pt>
                <c:pt idx="1">
                  <c:v>0.902</c:v>
                </c:pt>
                <c:pt idx="2">
                  <c:v>0.937</c:v>
                </c:pt>
                <c:pt idx="3">
                  <c:v>0.802</c:v>
                </c:pt>
                <c:pt idx="4">
                  <c:v>0.99</c:v>
                </c:pt>
                <c:pt idx="5">
                  <c:v>0.996</c:v>
                </c:pt>
              </c:numCache>
            </c:numRef>
          </c:val>
        </c:ser>
        <c:gapWidth val="60"/>
        <c:overlap val="0"/>
        <c:axId val="70219796"/>
        <c:axId val="34317064"/>
      </c:barChart>
      <c:catAx>
        <c:axId val="70219796"/>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sz="1200" b="0" u="none" strike="noStrike">
                <a:solidFill>
                  <a:srgbClr val="13293D"/>
                </a:solidFill>
                <a:uFillTx/>
                <a:latin typeface="Calibri"/>
              </a:defRPr>
            </a:pPr>
          </a:p>
        </c:txPr>
        <c:crossAx val="34317064"/>
        <c:crosses val="autoZero"/>
        <c:auto val="1"/>
        <c:lblAlgn val="ctr"/>
        <c:lblOffset val="100"/>
        <c:noMultiLvlLbl val="0"/>
      </c:catAx>
      <c:valAx>
        <c:axId val="34317064"/>
        <c:scaling>
          <c:orientation val="minMax"/>
          <c:max val="1.1"/>
          <c:min val="0"/>
        </c:scaling>
        <c:delete val="0"/>
        <c:axPos val="l"/>
        <c:majorGridlines>
          <c:spPr>
            <a:ln w="9360">
              <a:solidFill>
                <a:srgbClr val="D9E2E6"/>
              </a:solidFill>
              <a:round/>
            </a:ln>
          </c:spPr>
        </c:majorGridlines>
        <c:numFmt formatCode="0.0" sourceLinked="0"/>
        <c:majorTickMark val="out"/>
        <c:minorTickMark val="none"/>
        <c:tickLblPos val="nextTo"/>
        <c:spPr>
          <a:ln w="12600">
            <a:solidFill>
              <a:srgbClr val="888888"/>
            </a:solidFill>
            <a:round/>
          </a:ln>
        </c:spPr>
        <c:txPr>
          <a:bodyPr/>
          <a:lstStyle/>
          <a:p>
            <a:pPr>
              <a:defRPr sz="1100" b="0" u="none" strike="noStrike">
                <a:solidFill>
                  <a:srgbClr val="13293D"/>
                </a:solidFill>
                <a:uFillTx/>
                <a:latin typeface="Calibri"/>
              </a:defRPr>
            </a:pPr>
          </a:p>
        </c:txPr>
        <c:crossAx val="70219796"/>
        <c:crosses val="autoZero"/>
        <c:crossBetween val="between"/>
        <c:majorUnit val="0.2"/>
      </c:valAx>
      <c:spPr>
        <a:noFill/>
        <a:ln w="0">
          <a:noFill/>
        </a:ln>
      </c:spPr>
    </c:plotArea>
    <c:legend>
      <c:legendPos val="b"/>
      <c:overlay val="0"/>
      <c:spPr>
        <a:noFill/>
        <a:ln w="0">
          <a:noFill/>
        </a:ln>
      </c:spPr>
      <c:txPr>
        <a:bodyPr/>
        <a:lstStyle/>
        <a:p>
          <a:pPr>
            <a:defRPr sz="1200" b="0" u="none" strike="noStrike">
              <a:solidFill>
                <a:srgbClr val="13293D"/>
              </a:solidFill>
              <a:uFillTx/>
              <a:latin typeface="Calibri"/>
            </a:defRPr>
          </a:pPr>
        </a:p>
      </c:txPr>
    </c:legend>
    <c:plotVisOnly val="1"/>
    <c:dispBlanksAs val="span"/>
  </c:chart>
  <c:spPr>
    <a:noFill/>
    <a:ln w="0">
      <a:noFill/>
    </a:ln>
  </c:spPr>
</c:chartSpace>
</file>

<file path=ppt/charts/colors1.xml><?xml version="1.0" encoding="utf-8"?>
<cs:colorStyle xmlns:cs="http://schemas.microsoft.com/office/drawing/2012/chartStyle" xmlns:a="http://schemas.openxmlformats.org/drawingml/2006/main" meth="cycle" id="10">
  <a:schemeClr val="accent1"/>
</cs:colorStyle>
</file>

<file path=ppt/charts/colors2.xml><?xml version="1.0" encoding="utf-8"?>
<cs:colorStyle xmlns:cs="http://schemas.microsoft.com/office/drawing/2012/chartStyle" xmlns:a="http://schemas.openxmlformats.org/drawingml/2006/main" meth="cycle" id="10">
  <a:schemeClr val="accent1"/>
</cs:colorStyle>
</file>

<file path=ppt/charts/colors3.xml><?xml version="1.0" encoding="utf-8"?>
<cs:colorStyle xmlns:cs="http://schemas.microsoft.com/office/drawing/2012/chartStyle" xmlns:a="http://schemas.openxmlformats.org/drawingml/2006/main" meth="cycle" id="10">
  <a:schemeClr val="accent1"/>
</cs:colorStyle>
</file>

<file path=ppt/charts/colors4.xml><?xml version="1.0" encoding="utf-8"?>
<cs:colorStyle xmlns:cs="http://schemas.microsoft.com/office/drawing/2012/chartStyle" xmlns:a="http://schemas.openxmlformats.org/drawingml/2006/main" meth="cycle" id="10">
  <a:schemeClr val="accent1"/>
</cs:colorStyle>
</file>

<file path=ppt/charts/colors5.xml><?xml version="1.0" encoding="utf-8"?>
<cs:colorStyle xmlns:cs="http://schemas.microsoft.com/office/drawing/2012/chartStyle" xmlns:a="http://schemas.openxmlformats.org/drawingml/2006/main" meth="cycle" id="10">
  <a:schemeClr val="accent1"/>
</cs:colorStyle>
</file>

<file path=ppt/charts/colors6.xml><?xml version="1.0" encoding="utf-8"?>
<cs:colorStyle xmlns:cs="http://schemas.microsoft.com/office/drawing/2012/chartStyle" xmlns:a="http://schemas.openxmlformats.org/drawingml/2006/main" meth="cycle" id="10">
  <a:schemeClr val="accent1"/>
</cs:colorStyle>
</file>

<file path=ppt/charts/colors7.xml><?xml version="1.0" encoding="utf-8"?>
<cs:colorStyle xmlns:cs="http://schemas.microsoft.com/office/drawing/2012/chartStyle" xmlns:a="http://schemas.openxmlformats.org/drawingml/2006/main" meth="cycle" id="10">
  <a:schemeClr val="accent1"/>
</cs:colorStyle>
</file>

<file path=ppt/charts/style1.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2.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3.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4.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5.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6.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7.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 name="PlaceHolder 1"/>
          <p:cNvSpPr>
            <a:spLocks noGrp="1"/>
          </p:cNvSpPr>
          <p:nvPr>
            <p:ph type="sldImg"/>
          </p:nvPr>
        </p:nvSpPr>
        <p:spPr>
          <a:xfrm>
            <a:off x="0" y="764280"/>
            <a:ext cx="0" cy="0"/>
          </a:xfrm>
          <a:prstGeom prst="rect">
            <a:avLst/>
          </a:prstGeom>
          <a:noFill/>
          <a:ln w="0">
            <a:noFill/>
          </a:ln>
        </p:spPr>
        <p:txBody>
          <a:bodyPr lIns="0" tIns="0" rIns="0" bIns="0" anchor="ctr">
            <a:noAutofit/>
          </a:bodyPr>
          <a:p>
            <a:r>
              <a:rPr lang="en-US" sz="1800" b="0" u="none" strike="noStrike">
                <a:solidFill>
                  <a:schemeClr val="dk1"/>
                </a:solidFill>
                <a:effectLst/>
                <a:uFillTx/>
                <a:latin typeface="Calibri"/>
              </a:rPr>
              <a:t>Click to move the slide</a:t>
            </a:r>
            <a:endParaRPr lang="en-US" sz="1800" b="0" u="none" strike="noStrike">
              <a:solidFill>
                <a:schemeClr val="dk1"/>
              </a:solidFill>
              <a:effectLst/>
              <a:uFillTx/>
              <a:latin typeface="Calibri"/>
            </a:endParaRPr>
          </a:p>
        </p:txBody>
      </p:sp>
      <p:sp>
        <p:nvSpPr>
          <p:cNvPr id="9"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0"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11" name="PlaceHolder 4"/>
          <p:cNvSpPr>
            <a:spLocks noGrp="1"/>
          </p:cNvSpPr>
          <p:nvPr>
            <p:ph type="dt" idx="2"/>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2" name="PlaceHolder 5"/>
          <p:cNvSpPr>
            <a:spLocks noGrp="1"/>
          </p:cNvSpPr>
          <p:nvPr>
            <p:ph type="ftr" idx="3"/>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3" name="PlaceHolder 6"/>
          <p:cNvSpPr>
            <a:spLocks noGrp="1"/>
          </p:cNvSpPr>
          <p:nvPr>
            <p:ph type="sldNum" idx="4"/>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31F517F-E3F8-4C45-8306-D81510426918}"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 name="PlaceHolder 1"/>
          <p:cNvSpPr>
            <a:spLocks noGrp="1"/>
          </p:cNvSpPr>
          <p:nvPr>
            <p:ph type="sldImg"/>
          </p:nvPr>
        </p:nvSpPr>
        <p:spPr>
          <a:xfrm>
            <a:off x="685800" y="1143000"/>
            <a:ext cx="5486040" cy="3085920"/>
          </a:xfrm>
          <a:prstGeom prst="rect">
            <a:avLst/>
          </a:prstGeom>
          <a:ln w="0">
            <a:noFill/>
          </a:ln>
        </p:spPr>
      </p:sp>
      <p:sp>
        <p:nvSpPr>
          <p:cNvPr id="16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Introduce the team and the question: can a few cheap, routinely measured parameters stand in for the full eight-parameter panel that a Water Quality Index needs? Everything shown uses real CPCB data from the National Water Data Portal.</a:t>
            </a:r>
            <a:endParaRPr lang="en-US" sz="2000" b="0" u="none" strike="noStrike">
              <a:solidFill>
                <a:srgbClr val="000000"/>
              </a:solidFill>
              <a:effectLst/>
              <a:uFillTx/>
              <a:latin typeface="Arial"/>
            </a:endParaRPr>
          </a:p>
        </p:txBody>
      </p:sp>
      <p:sp>
        <p:nvSpPr>
          <p:cNvPr id="170"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6AB3478-ACF5-4549-A8F0-9FEFB3765B1E}"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 name="PlaceHolder 1"/>
          <p:cNvSpPr>
            <a:spLocks noGrp="1"/>
          </p:cNvSpPr>
          <p:nvPr>
            <p:ph type="sldImg"/>
          </p:nvPr>
        </p:nvSpPr>
        <p:spPr>
          <a:xfrm>
            <a:off x="685800" y="1143000"/>
            <a:ext cx="5486040" cy="3085920"/>
          </a:xfrm>
          <a:prstGeom prst="rect">
            <a:avLst/>
          </a:prstGeom>
          <a:ln w="0">
            <a:noFill/>
          </a:ln>
        </p:spPr>
      </p:sp>
      <p:sp>
        <p:nvSpPr>
          <p:cNvPr id="17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CPCB visits rarely report the full panel. Three quarters report pH, DO and BOD, but only 14.7 percent report all eight parameters, so most visits never get a WQI. If a model can recover the full-panel index from the reduced panel, the index becomes available for about five times as many visits.</a:t>
            </a:r>
            <a:endParaRPr lang="en-US" sz="2000" b="0" u="none" strike="noStrike">
              <a:solidFill>
                <a:srgbClr val="000000"/>
              </a:solidFill>
              <a:effectLst/>
              <a:uFillTx/>
              <a:latin typeface="Arial"/>
            </a:endParaRPr>
          </a:p>
        </p:txBody>
      </p:sp>
      <p:sp>
        <p:nvSpPr>
          <p:cNvPr id="173"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5089D98-B66A-42EE-9456-E69976DC4D4E}"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 name="PlaceHolder 1"/>
          <p:cNvSpPr>
            <a:spLocks noGrp="1"/>
          </p:cNvSpPr>
          <p:nvPr>
            <p:ph type="sldImg"/>
          </p:nvPr>
        </p:nvSpPr>
        <p:spPr>
          <a:xfrm>
            <a:off x="685800" y="1143000"/>
            <a:ext cx="5486040" cy="3085920"/>
          </a:xfrm>
          <a:prstGeom prst="rect">
            <a:avLst/>
          </a:prstGeom>
          <a:ln w="0">
            <a:noFill/>
          </a:ln>
        </p:spPr>
      </p:sp>
      <p:sp>
        <p:nvSpPr>
          <p:cNvPr id="17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We downloaded 211 CSV files, joined physical, chemical and biological tables on station and date, filtered to rivers, and audited the pipeline. The most important finding: four of the eight parameters were recorded almost exclusively in 2020, so the ground truth exists for one year only, while 2018, 2019 and 2021 are naturally data-scarce.</a:t>
            </a:r>
            <a:endParaRPr lang="en-US" sz="2000" b="0" u="none" strike="noStrike">
              <a:solidFill>
                <a:srgbClr val="000000"/>
              </a:solidFill>
              <a:effectLst/>
              <a:uFillTx/>
              <a:latin typeface="Arial"/>
            </a:endParaRPr>
          </a:p>
        </p:txBody>
      </p:sp>
      <p:sp>
        <p:nvSpPr>
          <p:cNvPr id="176"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3B7DC7B-8465-4F93-9819-FD252066A99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7" name="PlaceHolder 1"/>
          <p:cNvSpPr>
            <a:spLocks noGrp="1"/>
          </p:cNvSpPr>
          <p:nvPr>
            <p:ph type="sldImg"/>
          </p:nvPr>
        </p:nvSpPr>
        <p:spPr>
          <a:xfrm>
            <a:off x="685800" y="1143000"/>
            <a:ext cx="5486040" cy="3085920"/>
          </a:xfrm>
          <a:prstGeom prst="rect">
            <a:avLst/>
          </a:prstGeom>
          <a:ln w="0">
            <a:noFill/>
          </a:ln>
        </p:spPr>
      </p:sp>
      <p:sp>
        <p:nvSpPr>
          <p:cNvPr id="17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Because the index is linear in the capped sub-indices, its variance decomposes exactly. pH and BOD explain 87.5 percent; the coliforms and EC together explain under 0.3 percent. This is arithmetic, not hydrology: the weights are inversely proportional to the numeric value of each standard.</a:t>
            </a:r>
            <a:endParaRPr lang="en-US" sz="2000" b="0" u="none" strike="noStrike">
              <a:solidFill>
                <a:srgbClr val="000000"/>
              </a:solidFill>
              <a:effectLst/>
              <a:uFillTx/>
              <a:latin typeface="Arial"/>
            </a:endParaRPr>
          </a:p>
        </p:txBody>
      </p:sp>
      <p:sp>
        <p:nvSpPr>
          <p:cNvPr id="179"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BE0A4D5-6098-43E0-A19B-E1BCBD8C4264}"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PlaceHolder 1"/>
          <p:cNvSpPr>
            <a:spLocks noGrp="1"/>
          </p:cNvSpPr>
          <p:nvPr>
            <p:ph type="sldImg"/>
          </p:nvPr>
        </p:nvSpPr>
        <p:spPr>
          <a:xfrm>
            <a:off x="685800" y="1143000"/>
            <a:ext cx="5486040" cy="3085920"/>
          </a:xfrm>
          <a:prstGeom prst="rect">
            <a:avLst/>
          </a:prstGeom>
          <a:ln w="0">
            <a:noFill/>
          </a:ln>
        </p:spPr>
      </p:sp>
      <p:sp>
        <p:nvSpPr>
          <p:cNvPr id="18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Surrogate modelling: the ground truth is computed once from all eight parameters. Each model sees only a subset and is trained to reproduce that same target. Headline numbers use unseen stations, which mimics deploying at a new site.</a:t>
            </a:r>
            <a:endParaRPr lang="en-US" sz="2000" b="0" u="none" strike="noStrike">
              <a:solidFill>
                <a:srgbClr val="000000"/>
              </a:solidFill>
              <a:effectLst/>
              <a:uFillTx/>
              <a:latin typeface="Arial"/>
            </a:endParaRPr>
          </a:p>
        </p:txBody>
      </p:sp>
      <p:sp>
        <p:nvSpPr>
          <p:cNvPr id="182" name="PlaceHolder 3"/>
          <p:cNvSpPr>
            <a:spLocks noGrp="1"/>
          </p:cNvSpPr>
          <p:nvPr>
            <p:ph type="sldNum" idx="2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FE031D1-FB81-469F-8116-0A85CA96606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 name="PlaceHolder 1"/>
          <p:cNvSpPr>
            <a:spLocks noGrp="1"/>
          </p:cNvSpPr>
          <p:nvPr>
            <p:ph type="sldImg"/>
          </p:nvPr>
        </p:nvSpPr>
        <p:spPr>
          <a:xfrm>
            <a:off x="685800" y="1143000"/>
            <a:ext cx="5486040" cy="3085920"/>
          </a:xfrm>
          <a:prstGeom prst="rect">
            <a:avLst/>
          </a:prstGeom>
          <a:ln w="0">
            <a:noFill/>
          </a:ln>
        </p:spPr>
      </p:sp>
      <p:sp>
        <p:nvSpPr>
          <p:cNvPr id="18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Eight importance methods (correlation, mutual information, RF, XGBoost gain, permutation, SHAP, drop-column, analytic variance share) agree on the order. Forward selection reaches the ceiling at five parameters; the last three add nothing. Picking by correlation alone would have chosen the coliforms.</a:t>
            </a:r>
            <a:endParaRPr lang="en-US" sz="2000" b="0" u="none" strike="noStrike">
              <a:solidFill>
                <a:srgbClr val="000000"/>
              </a:solidFill>
              <a:effectLst/>
              <a:uFillTx/>
              <a:latin typeface="Arial"/>
            </a:endParaRPr>
          </a:p>
        </p:txBody>
      </p:sp>
      <p:sp>
        <p:nvSpPr>
          <p:cNvPr id="185" name="PlaceHolder 3"/>
          <p:cNvSpPr>
            <a:spLocks noGrp="1"/>
          </p:cNvSpPr>
          <p:nvPr>
            <p:ph type="sldNum" idx="2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6A5D246-643A-4AD3-886C-593C3D3E322C}"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 name="PlaceHolder 1"/>
          <p:cNvSpPr>
            <a:spLocks noGrp="1"/>
          </p:cNvSpPr>
          <p:nvPr>
            <p:ph type="sldImg"/>
          </p:nvPr>
        </p:nvSpPr>
        <p:spPr>
          <a:xfrm>
            <a:off x="685800" y="1143000"/>
            <a:ext cx="5486040" cy="3085920"/>
          </a:xfrm>
          <a:prstGeom prst="rect">
            <a:avLst/>
          </a:prstGeom>
          <a:ln w="0">
            <a:noFill/>
          </a:ln>
        </p:spPr>
      </p:sp>
      <p:sp>
        <p:nvSpPr>
          <p:cNvPr id="18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All 255 subsets were scored on unseen stations. At three parameters, R-squared ranges from 0.26 to 0.98 depending on which three. The best three beat the median six. The planned S3 is second of 56; the planned S5 only 13th of 56 because it adds the near-weightless coliform and EC.</a:t>
            </a:r>
            <a:endParaRPr lang="en-US" sz="2000" b="0" u="none" strike="noStrike">
              <a:solidFill>
                <a:srgbClr val="000000"/>
              </a:solidFill>
              <a:effectLst/>
              <a:uFillTx/>
              <a:latin typeface="Arial"/>
            </a:endParaRPr>
          </a:p>
        </p:txBody>
      </p:sp>
      <p:sp>
        <p:nvSpPr>
          <p:cNvPr id="188" name="PlaceHolder 3"/>
          <p:cNvSpPr>
            <a:spLocks noGrp="1"/>
          </p:cNvSpPr>
          <p:nvPr>
            <p:ph type="sldNum" idx="2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AF08CF7-ABC9-48F1-BEFF-881E2218BBC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PlaceHolder 1"/>
          <p:cNvSpPr>
            <a:spLocks noGrp="1"/>
          </p:cNvSpPr>
          <p:nvPr>
            <p:ph type="sldImg"/>
          </p:nvPr>
        </p:nvSpPr>
        <p:spPr>
          <a:xfrm>
            <a:off x="685800" y="1143000"/>
            <a:ext cx="5486040" cy="3085920"/>
          </a:xfrm>
          <a:prstGeom prst="rect">
            <a:avLst/>
          </a:prstGeom>
          <a:ln w="0">
            <a:noFill/>
          </a:ln>
        </p:spPr>
      </p:sp>
      <p:sp>
        <p:nvSpPr>
          <p:cNvPr id="19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natural no-ML alternative is to evaluate the formula over the parameters you have, with renormalised weights. The model beats it everywhere, most dramatically for probe-only panels. The model estimates the missing turbidity and nitrate contribution from correlations, season and region.</a:t>
            </a:r>
            <a:endParaRPr lang="en-US" sz="2000" b="0" u="none" strike="noStrike">
              <a:solidFill>
                <a:srgbClr val="000000"/>
              </a:solidFill>
              <a:effectLst/>
              <a:uFillTx/>
              <a:latin typeface="Arial"/>
            </a:endParaRPr>
          </a:p>
        </p:txBody>
      </p:sp>
      <p:sp>
        <p:nvSpPr>
          <p:cNvPr id="191" name="PlaceHolder 3"/>
          <p:cNvSpPr>
            <a:spLocks noGrp="1"/>
          </p:cNvSpPr>
          <p:nvPr>
            <p:ph type="sldNum" idx="2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62262BE-F2B9-47F1-B342-705838143C9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2" name="PlaceHolder 1"/>
          <p:cNvSpPr>
            <a:spLocks noGrp="1"/>
          </p:cNvSpPr>
          <p:nvPr>
            <p:ph type="sldImg"/>
          </p:nvPr>
        </p:nvSpPr>
        <p:spPr>
          <a:xfrm>
            <a:off x="685800" y="1143000"/>
            <a:ext cx="5486040" cy="3085920"/>
          </a:xfrm>
          <a:prstGeom prst="rect">
            <a:avLst/>
          </a:prstGeom>
          <a:ln w="0">
            <a:noFill/>
          </a:ln>
        </p:spPr>
      </p:sp>
      <p:sp>
        <p:nvSpPr>
          <p:cNvPr id="19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With only pH, DO and BOD, the model reaches R-squared 0.957 at stations it has never seen, and every category error is to an adjacent class. Holding out whole rivers gives 0.942, whole states 0.943 and a whole season 0.949. Adding turbidity (S7 or I4) brings it to about 0.994.</a:t>
            </a:r>
            <a:endParaRPr lang="en-US" sz="2000" b="0" u="none" strike="noStrike">
              <a:solidFill>
                <a:srgbClr val="000000"/>
              </a:solidFill>
              <a:effectLst/>
              <a:uFillTx/>
              <a:latin typeface="Arial"/>
            </a:endParaRPr>
          </a:p>
        </p:txBody>
      </p:sp>
      <p:sp>
        <p:nvSpPr>
          <p:cNvPr id="194" name="PlaceHolder 3"/>
          <p:cNvSpPr>
            <a:spLocks noGrp="1"/>
          </p:cNvSpPr>
          <p:nvPr>
            <p:ph type="sldNum" idx="2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6BDDFB5-0D3E-492E-A8B0-20FD57D07D9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PlaceHolder 1"/>
          <p:cNvSpPr>
            <a:spLocks noGrp="1"/>
          </p:cNvSpPr>
          <p:nvPr>
            <p:ph type="sldImg"/>
          </p:nvPr>
        </p:nvSpPr>
        <p:spPr>
          <a:xfrm>
            <a:off x="685800" y="1143000"/>
            <a:ext cx="5486040" cy="3085920"/>
          </a:xfrm>
          <a:prstGeom prst="rect">
            <a:avLst/>
          </a:prstGeom>
          <a:ln w="0">
            <a:noFill/>
          </a:ln>
        </p:spPr>
      </p:sp>
      <p:sp>
        <p:nvSpPr>
          <p:cNvPr id="19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We kept 2 to 100 percent of the training stations while testing on the same unseen stations. Below about 25 stations no learned model beats the renormalised formula; GPR degrades most gracefully; XGBoost wins with more data. A sparsely monitored region gains more from more stations than from more parameters.</a:t>
            </a:r>
            <a:endParaRPr lang="en-US" sz="2000" b="0" u="none" strike="noStrike">
              <a:solidFill>
                <a:srgbClr val="000000"/>
              </a:solidFill>
              <a:effectLst/>
              <a:uFillTx/>
              <a:latin typeface="Arial"/>
            </a:endParaRPr>
          </a:p>
        </p:txBody>
      </p:sp>
      <p:sp>
        <p:nvSpPr>
          <p:cNvPr id="197" name="PlaceHolder 3"/>
          <p:cNvSpPr>
            <a:spLocks noGrp="1"/>
          </p:cNvSpPr>
          <p:nvPr>
            <p:ph type="sldNum" idx="2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4B7EA98-5167-460C-8CC6-73D944CE582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8" name="PlaceHolder 1"/>
          <p:cNvSpPr>
            <a:spLocks noGrp="1"/>
          </p:cNvSpPr>
          <p:nvPr>
            <p:ph type="sldImg"/>
          </p:nvPr>
        </p:nvSpPr>
        <p:spPr>
          <a:xfrm>
            <a:off x="685800" y="1143000"/>
            <a:ext cx="5486040" cy="3085920"/>
          </a:xfrm>
          <a:prstGeom prst="rect">
            <a:avLst/>
          </a:prstGeom>
          <a:ln w="0">
            <a:noFill/>
          </a:ln>
        </p:spPr>
      </p:sp>
      <p:sp>
        <p:nvSpPr>
          <p:cNvPr id="19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Conformal intervals hold their nominal coverage at every level from 50 to 95 percent; raw quantile regression under-covers and GPR is miscalibrated away from 90 percent. Measurement noise matters more than parameter count: a pH error of only 0.1 units raises the full model's error from 0.76 to 3.13, worse than dropping five parameters.</a:t>
            </a:r>
            <a:endParaRPr lang="en-US" sz="2000" b="0" u="none" strike="noStrike">
              <a:solidFill>
                <a:srgbClr val="000000"/>
              </a:solidFill>
              <a:effectLst/>
              <a:uFillTx/>
              <a:latin typeface="Arial"/>
            </a:endParaRPr>
          </a:p>
        </p:txBody>
      </p:sp>
      <p:sp>
        <p:nvSpPr>
          <p:cNvPr id="200" name="PlaceHolder 3"/>
          <p:cNvSpPr>
            <a:spLocks noGrp="1"/>
          </p:cNvSpPr>
          <p:nvPr>
            <p:ph type="sldNum" idx="2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4DF3936-7753-430C-BE34-8F9FF9032711}"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 name="PlaceHolder 1"/>
          <p:cNvSpPr>
            <a:spLocks noGrp="1"/>
          </p:cNvSpPr>
          <p:nvPr>
            <p:ph type="sldImg"/>
          </p:nvPr>
        </p:nvSpPr>
        <p:spPr>
          <a:xfrm>
            <a:off x="685800" y="1143000"/>
            <a:ext cx="5486040" cy="3085920"/>
          </a:xfrm>
          <a:prstGeom prst="rect">
            <a:avLst/>
          </a:prstGeom>
          <a:ln w="0">
            <a:noFill/>
          </a:ln>
        </p:spPr>
      </p:sp>
      <p:sp>
        <p:nvSpPr>
          <p:cNvPr id="20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 reduced panel inherits the priorities of the index it imitates. Under equal weights S3 explains only 62 percent of the variance; for the uncapped index, which tracks extreme silt and sewage events, turbidity is essential. The EC standard, our least well-sourced value, turns out not to matter.</a:t>
            </a:r>
            <a:endParaRPr lang="en-US" sz="2000" b="0" u="none" strike="noStrike">
              <a:solidFill>
                <a:srgbClr val="000000"/>
              </a:solidFill>
              <a:effectLst/>
              <a:uFillTx/>
              <a:latin typeface="Arial"/>
            </a:endParaRPr>
          </a:p>
        </p:txBody>
      </p:sp>
      <p:sp>
        <p:nvSpPr>
          <p:cNvPr id="203" name="PlaceHolder 3"/>
          <p:cNvSpPr>
            <a:spLocks noGrp="1"/>
          </p:cNvSpPr>
          <p:nvPr>
            <p:ph type="sldNum" idx="2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690C8C1-F6A7-47AE-AABF-BDC4EADF3A57}"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PlaceHolder 1"/>
          <p:cNvSpPr>
            <a:spLocks noGrp="1"/>
          </p:cNvSpPr>
          <p:nvPr>
            <p:ph type="sldImg"/>
          </p:nvPr>
        </p:nvSpPr>
        <p:spPr>
          <a:xfrm>
            <a:off x="685800" y="1143000"/>
            <a:ext cx="5486040" cy="3085920"/>
          </a:xfrm>
          <a:prstGeom prst="rect">
            <a:avLst/>
          </a:prstGeom>
          <a:ln w="0">
            <a:noFill/>
          </a:ln>
        </p:spPr>
      </p:sp>
      <p:sp>
        <p:nvSpPr>
          <p:cNvPr id="20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We applied the pH-DO-BOD model to every visit lacking a full panel. An adversarial check shows the inputs differ mainly in BOD; reweighting the CV errors for that shift gives RMSE 3.0, so accuracy barely changes. The data also revealed that low BOD values are left blank outside 2020, which would otherwise look like a trend.</a:t>
            </a:r>
            <a:endParaRPr lang="en-US" sz="2000" b="0" u="none" strike="noStrike">
              <a:solidFill>
                <a:srgbClr val="000000"/>
              </a:solidFill>
              <a:effectLst/>
              <a:uFillTx/>
              <a:latin typeface="Arial"/>
            </a:endParaRPr>
          </a:p>
        </p:txBody>
      </p:sp>
      <p:sp>
        <p:nvSpPr>
          <p:cNvPr id="206" name="PlaceHolder 3"/>
          <p:cNvSpPr>
            <a:spLocks noGrp="1"/>
          </p:cNvSpPr>
          <p:nvPr>
            <p:ph type="sldNum" idx="3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E111635-03E7-4C84-BF32-B1184E010581}"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 name="PlaceHolder 1"/>
          <p:cNvSpPr>
            <a:spLocks noGrp="1"/>
          </p:cNvSpPr>
          <p:nvPr>
            <p:ph type="sldImg"/>
          </p:nvPr>
        </p:nvSpPr>
        <p:spPr>
          <a:xfrm>
            <a:off x="685800" y="1143000"/>
            <a:ext cx="5486040" cy="3085920"/>
          </a:xfrm>
          <a:prstGeom prst="rect">
            <a:avLst/>
          </a:prstGeom>
          <a:ln w="0">
            <a:noFill/>
          </a:ln>
        </p:spPr>
      </p:sp>
      <p:sp>
        <p:nvSpPr>
          <p:cNvPr id="20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Tier 0 needs nothing new: the routine panel plus location and month already gives R-squared 0.977. A single turbidity probe brings it to 0.994. The operating rules matter as much as the parameters: pH calibration, routing to the right model instead of imputing, publishing intervals, and reporting coliforms separately because the CPCB weighting ignores them.</a:t>
            </a:r>
            <a:endParaRPr lang="en-US" sz="2000" b="0" u="none" strike="noStrike">
              <a:solidFill>
                <a:srgbClr val="000000"/>
              </a:solidFill>
              <a:effectLst/>
              <a:uFillTx/>
              <a:latin typeface="Arial"/>
            </a:endParaRPr>
          </a:p>
        </p:txBody>
      </p:sp>
      <p:sp>
        <p:nvSpPr>
          <p:cNvPr id="209" name="PlaceHolder 3"/>
          <p:cNvSpPr>
            <a:spLocks noGrp="1"/>
          </p:cNvSpPr>
          <p:nvPr>
            <p:ph type="sldNum" idx="3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B964A9B-5EDD-4E27-8370-EFEDE2068F27}"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PlaceHolder 1"/>
          <p:cNvSpPr>
            <a:spLocks noGrp="1"/>
          </p:cNvSpPr>
          <p:nvPr>
            <p:ph type="sldImg"/>
          </p:nvPr>
        </p:nvSpPr>
        <p:spPr>
          <a:xfrm>
            <a:off x="685800" y="1143000"/>
            <a:ext cx="5486040" cy="3085920"/>
          </a:xfrm>
          <a:prstGeom prst="rect">
            <a:avLst/>
          </a:prstGeom>
          <a:ln w="0">
            <a:noFill/>
          </a:ln>
        </p:spPr>
      </p:sp>
      <p:sp>
        <p:nvSpPr>
          <p:cNvPr id="21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Summarise: reduced-parameter monitoring works for the CPCB index if the right parameters are measured precisely and the model has enough stations to learn from. Close with the caveats and next steps, then take questions.</a:t>
            </a:r>
            <a:endParaRPr lang="en-US" sz="2000" b="0" u="none" strike="noStrike">
              <a:solidFill>
                <a:srgbClr val="000000"/>
              </a:solidFill>
              <a:effectLst/>
              <a:uFillTx/>
              <a:latin typeface="Arial"/>
            </a:endParaRPr>
          </a:p>
        </p:txBody>
      </p:sp>
      <p:sp>
        <p:nvSpPr>
          <p:cNvPr id="212" name="PlaceHolder 3"/>
          <p:cNvSpPr>
            <a:spLocks noGrp="1"/>
          </p:cNvSpPr>
          <p:nvPr>
            <p:ph type="sldNum" idx="3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1F40207-54A9-41A1-8BD4-3ED19EE1A963}"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bg>
      <p:bgPr>
        <a:solidFill>
          <a:srgbClr val="FFFFFF"/>
        </a:solidFill>
      </p:bgPr>
    </p:bg>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ARK">
    <p:bg>
      <p:bgPr>
        <a:solidFill>
          <a:schemeClr val="dk2"/>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Calibri"/>
              </a:defRPr>
            </a:lvl1pPr>
          </a:lstStyle>
          <a:p>
            <a:pPr indent="0" algn="l">
              <a:buNone/>
            </a:pPr>
            <a:r>
              <a:rPr lang="en-US" sz="1800" b="0" u="none" strike="noStrike">
                <a:solidFill>
                  <a:schemeClr val="dk1"/>
                </a:solidFill>
                <a:effectLst/>
                <a:uFillTx/>
                <a:latin typeface="Calibri"/>
              </a:rPr>
              <a:t>Click to edit the title text format</a:t>
            </a:r>
            <a:endParaRPr lang="en-US"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FFFFFF"/>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FFFFFF"/>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FFFFFF"/>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FFFFFF"/>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FFFFFF"/>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FFFFFF"/>
              </a:buClr>
              <a:buSzPct val="45000"/>
              <a:buFont typeface="Wingdings" charset="2"/>
              <a:buChar char=""/>
              <a:defRPr lang="en-US" sz="2000" b="0" u="none" strike="noStrike">
                <a:solidFill>
                  <a:schemeClr val="dk1"/>
                </a:solidFill>
                <a:effectLst/>
                <a:uFillTx/>
                <a:latin typeface="Calibri"/>
              </a:defRPr>
            </a:lvl7pPr>
          </a:lstStyle>
          <a:p>
            <a:pPr marL="432000" indent="-324000" algn="l">
              <a:spcBef>
                <a:spcPts val="1417"/>
              </a:spcBef>
              <a:buClr>
                <a:srgbClr val="FFFFFF"/>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spcBef>
                <a:spcPts val="1134"/>
              </a:spcBef>
              <a:buClr>
                <a:srgbClr val="FFFFFF"/>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spcBef>
                <a:spcPts val="850"/>
              </a:spcBef>
              <a:buClr>
                <a:srgbClr val="FFFFFF"/>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spcBef>
                <a:spcPts val="567"/>
              </a:spcBef>
              <a:buClr>
                <a:srgbClr val="FFFFFF"/>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spcBef>
                <a:spcPts val="283"/>
              </a:spcBef>
              <a:buClr>
                <a:srgbClr val="FFFFFF"/>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spcBef>
                <a:spcPts val="283"/>
              </a:spcBef>
              <a:buClr>
                <a:srgbClr val="FFFFFF"/>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spcBef>
                <a:spcPts val="283"/>
              </a:spcBef>
              <a:buClr>
                <a:srgbClr val="FFFFFF"/>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p:bg>
      <p:bgPr>
        <a:solidFill>
          <a:schemeClr val="lt1"/>
        </a:solidFill>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548640" y="274320"/>
            <a:ext cx="11063880" cy="868320"/>
          </a:xfrm>
          <a:prstGeom prst="rect">
            <a:avLst/>
          </a:prstGeom>
          <a:noFill/>
          <a:ln w="0">
            <a:noFill/>
          </a:ln>
        </p:spPr>
        <p:txBody>
          <a:bodyPr lIns="90000" tIns="45000" rIns="90000" bIns="45000" anchor="t">
            <a:noAutofit/>
          </a:bodyPr>
          <a:lstStyle>
            <a:lvl1pPr indent="0" algn="l">
              <a:buNone/>
              <a:defRPr lang="en-US" sz="3000" b="0" u="none" strike="noStrike">
                <a:solidFill>
                  <a:schemeClr val="dk1"/>
                </a:solidFill>
                <a:effectLst/>
                <a:uFillTx/>
                <a:latin typeface="Calibri"/>
              </a:defRPr>
            </a:lvl1pPr>
          </a:lstStyle>
          <a:p>
            <a:pPr indent="0" algn="l">
              <a:buNone/>
            </a:pPr>
            <a:r>
              <a:rPr lang="en-US" sz="3000" b="0" u="none" strike="noStrike">
                <a:solidFill>
                  <a:schemeClr val="dk1"/>
                </a:solidFill>
                <a:effectLst/>
                <a:uFillTx/>
                <a:latin typeface="Calibri"/>
              </a:rPr>
              <a:t>Click to edit the title text format</a:t>
            </a:r>
            <a:endParaRPr lang="en-US" sz="3000" b="0" u="none" strike="noStrike">
              <a:solidFill>
                <a:schemeClr val="dk1"/>
              </a:solidFill>
              <a:effectLst/>
              <a:uFillTx/>
              <a:latin typeface="Calibri"/>
            </a:endParaRPr>
          </a:p>
        </p:txBody>
      </p:sp>
      <p:sp>
        <p:nvSpPr>
          <p:cNvPr id="5" name="Text 0"/>
          <p:cNvSpPr/>
          <p:nvPr/>
        </p:nvSpPr>
        <p:spPr>
          <a:xfrm>
            <a:off x="548640" y="6446520"/>
            <a:ext cx="8229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chemeClr val="accent5"/>
                </a:solidFill>
                <a:effectLst/>
                <a:uFillTx/>
                <a:latin typeface="Calibri"/>
              </a:rPr>
              <a:t>CV301 Environmental Engineering · NITK Surathkal · Reduced-parameter WQI</a:t>
            </a:r>
            <a:endParaRPr lang="en-US" sz="1000" b="0" u="none" strike="noStrike">
              <a:solidFill>
                <a:srgbClr val="000000"/>
              </a:solidFill>
              <a:effectLst/>
              <a:uFillTx/>
              <a:latin typeface="Arial"/>
            </a:endParaRPr>
          </a:p>
        </p:txBody>
      </p:sp>
      <p:sp>
        <p:nvSpPr>
          <p:cNvPr id="6" name="PlaceHolder 2"/>
          <p:cNvSpPr>
            <a:spLocks noGrp="1"/>
          </p:cNvSpPr>
          <p:nvPr>
            <p:ph type="sldNum" idx="1"/>
          </p:nvPr>
        </p:nvSpPr>
        <p:spPr>
          <a:xfrm>
            <a:off x="11155680" y="644652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5"/>
                </a:solidFill>
                <a:effectLst/>
                <a:uFillTx/>
                <a:latin typeface="Calibri"/>
              </a:defRPr>
            </a:lvl1pPr>
          </a:lstStyle>
          <a:p>
            <a:pPr indent="0" algn="r" defTabSz="914400">
              <a:lnSpc>
                <a:spcPct val="100000"/>
              </a:lnSpc>
              <a:buNone/>
            </a:pPr>
            <a:fld id="{F552D73A-05D6-4C15-A906-C5CCC821F582}" type="slidenum">
              <a:rPr lang="en-US" sz="1000" b="0" u="none" strike="noStrike">
                <a:solidFill>
                  <a:schemeClr val="accent5"/>
                </a:solidFill>
                <a:effectLst/>
                <a:uFillTx/>
                <a:latin typeface="Calibri"/>
              </a:rPr>
              <a:t>&lt;number&gt;</a:t>
            </a:fld>
            <a:endParaRPr lang="en-US" sz="1000" b="0" u="none" strike="noStrike">
              <a:solidFill>
                <a:srgbClr val="000000"/>
              </a:solidFill>
              <a:effectLst/>
              <a:uFillTx/>
              <a:latin typeface="Times New Roman"/>
            </a:endParaRPr>
          </a:p>
        </p:txBody>
      </p:sp>
      <p:sp>
        <p:nvSpPr>
          <p:cNvPr id="7"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3.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3.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3.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3.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3.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3.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chart" Target="../charts/chart6.xml"/><Relationship Id="rId2" Type="http://schemas.openxmlformats.org/officeDocument/2006/relationships/slideLayout" Target="../slideLayouts/slideLayout3.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chart" Target="../charts/chart7.xml"/><Relationship Id="rId2" Type="http://schemas.openxmlformats.org/officeDocument/2006/relationships/slideLayout" Target="../slideLayouts/slideLayout3.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3.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 name="Logo card"/>
          <p:cNvSpPr/>
          <p:nvPr/>
        </p:nvSpPr>
        <p:spPr>
          <a:xfrm>
            <a:off x="685800" y="1920600"/>
            <a:ext cx="3291480" cy="3565800"/>
          </a:xfrm>
          <a:prstGeom prst="roundRect">
            <a:avLst>
              <a:gd name="adj" fmla="val 3333"/>
            </a:avLst>
          </a:prstGeom>
          <a:solidFill>
            <a:schemeClr val="bg1"/>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15" name="NITK logo" descr="/home/mayank-tiwari/Projects/envi-project/image.png"/>
          <p:cNvPicPr/>
          <p:nvPr/>
        </p:nvPicPr>
        <p:blipFill>
          <a:blip r:embed="rId1"/>
          <a:stretch/>
        </p:blipFill>
        <p:spPr>
          <a:xfrm>
            <a:off x="1005840" y="2514600"/>
            <a:ext cx="2651400" cy="2505240"/>
          </a:xfrm>
          <a:prstGeom prst="rect">
            <a:avLst/>
          </a:prstGeom>
          <a:noFill/>
          <a:ln w="0">
            <a:noFill/>
          </a:ln>
        </p:spPr>
      </p:pic>
      <p:sp>
        <p:nvSpPr>
          <p:cNvPr id="16" name="Institute"/>
          <p:cNvSpPr/>
          <p:nvPr/>
        </p:nvSpPr>
        <p:spPr>
          <a:xfrm>
            <a:off x="640080" y="411480"/>
            <a:ext cx="109724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pc="99" strike="noStrike">
                <a:solidFill>
                  <a:schemeClr val="accent2"/>
                </a:solidFill>
                <a:effectLst/>
                <a:uFillTx/>
                <a:latin typeface="Calibri"/>
              </a:rPr>
              <a:t>NATIONAL INSTITUTE OF TECHNOLOGY KARNATAKA, SURATHKAL</a:t>
            </a:r>
            <a:endParaRPr lang="en-US" sz="1600" b="0" u="none" strike="noStrike">
              <a:solidFill>
                <a:srgbClr val="FFFFFF"/>
              </a:solidFill>
              <a:effectLst/>
              <a:uFillTx/>
              <a:latin typeface="Arial"/>
            </a:endParaRPr>
          </a:p>
        </p:txBody>
      </p:sp>
      <p:sp>
        <p:nvSpPr>
          <p:cNvPr id="17" name="Deck title"/>
          <p:cNvSpPr/>
          <p:nvPr/>
        </p:nvSpPr>
        <p:spPr>
          <a:xfrm>
            <a:off x="4389120" y="1188720"/>
            <a:ext cx="7223400" cy="17370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400" b="1" u="none" strike="noStrike">
                <a:solidFill>
                  <a:schemeClr val="lt1"/>
                </a:solidFill>
                <a:effectLst/>
                <a:uFillTx/>
                <a:latin typeface="Cambria"/>
                <a:ea typeface="Cambria"/>
              </a:rPr>
              <a:t>Reduced-Parameter Water Quality Index Prediction for Data-Scarce River Systems</a:t>
            </a:r>
            <a:endParaRPr lang="en-US" sz="3400" b="0" u="none" strike="noStrike">
              <a:solidFill>
                <a:srgbClr val="FFFFFF"/>
              </a:solidFill>
              <a:effectLst/>
              <a:uFillTx/>
              <a:latin typeface="Arial"/>
            </a:endParaRPr>
          </a:p>
        </p:txBody>
      </p:sp>
      <p:sp>
        <p:nvSpPr>
          <p:cNvPr id="18" name="Subtitle"/>
          <p:cNvSpPr/>
          <p:nvPr/>
        </p:nvSpPr>
        <p:spPr>
          <a:xfrm>
            <a:off x="4389120" y="2971800"/>
            <a:ext cx="722340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0" i="1" u="none" strike="noStrike">
                <a:solidFill>
                  <a:schemeClr val="lt2"/>
                </a:solidFill>
                <a:effectLst/>
                <a:uFillTx/>
                <a:latin typeface="Calibri"/>
              </a:rPr>
              <a:t>Evidence from 32,968 CPCB river monitoring visits, 2018–2021</a:t>
            </a:r>
            <a:endParaRPr lang="en-US" sz="1800" b="0" u="none" strike="noStrike">
              <a:solidFill>
                <a:srgbClr val="FFFFFF"/>
              </a:solidFill>
              <a:effectLst/>
              <a:uFillTx/>
              <a:latin typeface="Arial"/>
            </a:endParaRPr>
          </a:p>
        </p:txBody>
      </p:sp>
      <p:sp>
        <p:nvSpPr>
          <p:cNvPr id="19" name="Course and faculty"/>
          <p:cNvSpPr/>
          <p:nvPr/>
        </p:nvSpPr>
        <p:spPr>
          <a:xfrm>
            <a:off x="4389120" y="3657600"/>
            <a:ext cx="722340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chemeClr val="accent2"/>
                </a:solidFill>
                <a:effectLst/>
                <a:uFillTx/>
                <a:latin typeface="Calibri"/>
              </a:rPr>
              <a:t>Course: </a:t>
            </a:r>
            <a:r>
              <a:rPr lang="en-US" sz="1600" b="0" u="none" strike="noStrike">
                <a:solidFill>
                  <a:schemeClr val="lt1"/>
                </a:solidFill>
                <a:effectLst/>
                <a:uFillTx/>
                <a:latin typeface="Calibri"/>
              </a:rPr>
              <a:t>CV301 Environmental Engineering</a:t>
            </a:r>
            <a:endParaRPr lang="en-US" sz="1600" b="0" u="none" strike="noStrike">
              <a:solidFill>
                <a:srgbClr val="FFFFFF"/>
              </a:solidFill>
              <a:effectLst/>
              <a:uFillTx/>
              <a:latin typeface="Arial"/>
            </a:endParaRPr>
          </a:p>
          <a:p>
            <a:pPr defTabSz="914400">
              <a:lnSpc>
                <a:spcPct val="100000"/>
              </a:lnSpc>
              <a:tabLst>
                <a:tab pos="0" algn="l"/>
              </a:tabLst>
            </a:pPr>
            <a:r>
              <a:rPr lang="en-US" sz="1600" b="1" u="none" strike="noStrike">
                <a:solidFill>
                  <a:schemeClr val="accent2"/>
                </a:solidFill>
                <a:effectLst/>
                <a:uFillTx/>
                <a:latin typeface="Calibri"/>
              </a:rPr>
              <a:t>Faculty: </a:t>
            </a:r>
            <a:r>
              <a:rPr lang="en-US" sz="1600" b="0" u="none" strike="noStrike">
                <a:solidFill>
                  <a:schemeClr val="lt1"/>
                </a:solidFill>
                <a:effectLst/>
                <a:uFillTx/>
                <a:latin typeface="Calibri"/>
              </a:rPr>
              <a:t>Saranya P</a:t>
            </a:r>
            <a:endParaRPr lang="en-US" sz="1600" b="0" u="none" strike="noStrike">
              <a:solidFill>
                <a:srgbClr val="FFFFFF"/>
              </a:solidFill>
              <a:effectLst/>
              <a:uFillTx/>
              <a:latin typeface="Arial"/>
            </a:endParaRPr>
          </a:p>
        </p:txBody>
      </p:sp>
      <p:sp>
        <p:nvSpPr>
          <p:cNvPr id="20" name="Team heading"/>
          <p:cNvSpPr/>
          <p:nvPr/>
        </p:nvSpPr>
        <p:spPr>
          <a:xfrm>
            <a:off x="4389120" y="4572000"/>
            <a:ext cx="274284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chemeClr val="accent2"/>
                </a:solidFill>
                <a:effectLst/>
                <a:uFillTx/>
                <a:latin typeface="Calibri"/>
              </a:rPr>
              <a:t>Team</a:t>
            </a:r>
            <a:endParaRPr lang="en-US" sz="1400" b="0" u="none" strike="noStrike">
              <a:solidFill>
                <a:srgbClr val="FFFFFF"/>
              </a:solidFill>
              <a:effectLst/>
              <a:uFillTx/>
              <a:latin typeface="Arial"/>
            </a:endParaRPr>
          </a:p>
        </p:txBody>
      </p:sp>
      <p:sp>
        <p:nvSpPr>
          <p:cNvPr id="21" name="Team member 1"/>
          <p:cNvSpPr/>
          <p:nvPr/>
        </p:nvSpPr>
        <p:spPr>
          <a:xfrm>
            <a:off x="4389120" y="4937760"/>
            <a:ext cx="347436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chemeClr val="lt1"/>
                </a:solidFill>
                <a:effectLst/>
                <a:uFillTx/>
                <a:latin typeface="Calibri"/>
              </a:rPr>
              <a:t>Mayank Tiwari  </a:t>
            </a:r>
            <a:r>
              <a:rPr lang="en-US" sz="1400" b="0" u="none" strike="noStrike">
                <a:solidFill>
                  <a:schemeClr val="lt2"/>
                </a:solidFill>
                <a:effectLst/>
                <a:uFillTx/>
                <a:latin typeface="Calibri"/>
              </a:rPr>
              <a:t>241CV235</a:t>
            </a:r>
            <a:endParaRPr lang="en-US" sz="1400" b="0" u="none" strike="noStrike">
              <a:solidFill>
                <a:srgbClr val="FFFFFF"/>
              </a:solidFill>
              <a:effectLst/>
              <a:uFillTx/>
              <a:latin typeface="Arial"/>
            </a:endParaRPr>
          </a:p>
        </p:txBody>
      </p:sp>
      <p:sp>
        <p:nvSpPr>
          <p:cNvPr id="22" name="Team member 2"/>
          <p:cNvSpPr/>
          <p:nvPr/>
        </p:nvSpPr>
        <p:spPr>
          <a:xfrm>
            <a:off x="4389120" y="5285160"/>
            <a:ext cx="347436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chemeClr val="lt1"/>
                </a:solidFill>
                <a:effectLst/>
                <a:uFillTx/>
                <a:latin typeface="Calibri"/>
              </a:rPr>
              <a:t>Krupa Marol  </a:t>
            </a:r>
            <a:r>
              <a:rPr lang="en-US" sz="1400" b="0" u="none" strike="noStrike">
                <a:solidFill>
                  <a:schemeClr val="lt2"/>
                </a:solidFill>
                <a:effectLst/>
                <a:uFillTx/>
                <a:latin typeface="Calibri"/>
              </a:rPr>
              <a:t>241CV231</a:t>
            </a:r>
            <a:endParaRPr lang="en-US" sz="1400" b="0" u="none" strike="noStrike">
              <a:solidFill>
                <a:srgbClr val="FFFFFF"/>
              </a:solidFill>
              <a:effectLst/>
              <a:uFillTx/>
              <a:latin typeface="Arial"/>
            </a:endParaRPr>
          </a:p>
        </p:txBody>
      </p:sp>
      <p:sp>
        <p:nvSpPr>
          <p:cNvPr id="23" name="Team member 3"/>
          <p:cNvSpPr/>
          <p:nvPr/>
        </p:nvSpPr>
        <p:spPr>
          <a:xfrm>
            <a:off x="4389120" y="5632560"/>
            <a:ext cx="347436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chemeClr val="lt1"/>
                </a:solidFill>
                <a:effectLst/>
                <a:uFillTx/>
                <a:latin typeface="Calibri"/>
              </a:rPr>
              <a:t>Srushti Dongre  </a:t>
            </a:r>
            <a:r>
              <a:rPr lang="en-US" sz="1400" b="0" u="none" strike="noStrike">
                <a:solidFill>
                  <a:schemeClr val="lt2"/>
                </a:solidFill>
                <a:effectLst/>
                <a:uFillTx/>
                <a:latin typeface="Calibri"/>
              </a:rPr>
              <a:t>241CV248</a:t>
            </a:r>
            <a:endParaRPr lang="en-US" sz="1400" b="0" u="none" strike="noStrike">
              <a:solidFill>
                <a:srgbClr val="FFFFFF"/>
              </a:solidFill>
              <a:effectLst/>
              <a:uFillTx/>
              <a:latin typeface="Arial"/>
            </a:endParaRPr>
          </a:p>
        </p:txBody>
      </p:sp>
      <p:sp>
        <p:nvSpPr>
          <p:cNvPr id="24" name="Team member 4"/>
          <p:cNvSpPr/>
          <p:nvPr/>
        </p:nvSpPr>
        <p:spPr>
          <a:xfrm>
            <a:off x="7955280" y="4937760"/>
            <a:ext cx="347436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chemeClr val="lt1"/>
                </a:solidFill>
                <a:effectLst/>
                <a:uFillTx/>
                <a:latin typeface="Calibri"/>
              </a:rPr>
              <a:t>Sreenidhi Golamaru  </a:t>
            </a:r>
            <a:r>
              <a:rPr lang="en-US" sz="1400" b="0" u="none" strike="noStrike">
                <a:solidFill>
                  <a:schemeClr val="lt2"/>
                </a:solidFill>
                <a:effectLst/>
                <a:uFillTx/>
                <a:latin typeface="Calibri"/>
              </a:rPr>
              <a:t>241CV247</a:t>
            </a:r>
            <a:endParaRPr lang="en-US" sz="1400" b="0" u="none" strike="noStrike">
              <a:solidFill>
                <a:srgbClr val="FFFFFF"/>
              </a:solidFill>
              <a:effectLst/>
              <a:uFillTx/>
              <a:latin typeface="Arial"/>
            </a:endParaRPr>
          </a:p>
        </p:txBody>
      </p:sp>
      <p:sp>
        <p:nvSpPr>
          <p:cNvPr id="25" name="Team member 5"/>
          <p:cNvSpPr/>
          <p:nvPr/>
        </p:nvSpPr>
        <p:spPr>
          <a:xfrm>
            <a:off x="7955280" y="5285160"/>
            <a:ext cx="347436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chemeClr val="lt1"/>
                </a:solidFill>
                <a:effectLst/>
                <a:uFillTx/>
                <a:latin typeface="Calibri"/>
              </a:rPr>
              <a:t>Bharath Chowdary  </a:t>
            </a:r>
            <a:r>
              <a:rPr lang="en-US" sz="1400" b="0" u="none" strike="noStrike">
                <a:solidFill>
                  <a:schemeClr val="lt2"/>
                </a:solidFill>
                <a:effectLst/>
                <a:uFillTx/>
                <a:latin typeface="Calibri"/>
              </a:rPr>
              <a:t>241CV213</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 name="PlaceHolder 1"/>
          <p:cNvSpPr>
            <a:spLocks noGrp="1"/>
          </p:cNvSpPr>
          <p:nvPr>
            <p:ph type="title" hasCustomPrompt="1"/>
          </p:nvPr>
        </p:nvSpPr>
        <p:spPr>
          <a:xfrm>
            <a:off x="548640" y="274320"/>
            <a:ext cx="11063880" cy="86832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1" u="none" strike="noStrike">
                <a:solidFill>
                  <a:schemeClr val="dk2"/>
                </a:solidFill>
                <a:effectLst/>
                <a:uFillTx/>
                <a:latin typeface="Cambria"/>
              </a:rPr>
              <a:t>Only 15% of river visits can compute a full WQI</a:t>
            </a:r>
            <a:endParaRPr lang="en-US" sz="3000" b="0" u="none" strike="noStrike">
              <a:solidFill>
                <a:schemeClr val="dk1"/>
              </a:solidFill>
              <a:effectLst/>
              <a:uFillTx/>
              <a:latin typeface="Calibri"/>
            </a:endParaRPr>
          </a:p>
        </p:txBody>
      </p:sp>
      <p:sp>
        <p:nvSpPr>
          <p:cNvPr id="27" name="Full panel share value"/>
          <p:cNvSpPr/>
          <p:nvPr/>
        </p:nvSpPr>
        <p:spPr>
          <a:xfrm>
            <a:off x="548640" y="1417320"/>
            <a:ext cx="32914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chemeClr val="accent3"/>
                </a:solidFill>
                <a:effectLst/>
                <a:uFillTx/>
                <a:latin typeface="Cambria"/>
                <a:ea typeface="Cambria"/>
              </a:rPr>
              <a:t>14.7%</a:t>
            </a:r>
            <a:endParaRPr lang="en-US" sz="4000" b="0" u="none" strike="noStrike">
              <a:solidFill>
                <a:srgbClr val="000000"/>
              </a:solidFill>
              <a:effectLst/>
              <a:uFillTx/>
              <a:latin typeface="Arial"/>
            </a:endParaRPr>
          </a:p>
        </p:txBody>
      </p:sp>
      <p:sp>
        <p:nvSpPr>
          <p:cNvPr id="28" name="Full panel share label"/>
          <p:cNvSpPr/>
          <p:nvPr/>
        </p:nvSpPr>
        <p:spPr>
          <a:xfrm>
            <a:off x="548640" y="2194560"/>
            <a:ext cx="329148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1"/>
                </a:solidFill>
                <a:effectLst/>
                <a:uFillTx/>
                <a:latin typeface="Calibri"/>
              </a:rPr>
              <a:t>of 32,968 river visits report all 8 WQI parameters</a:t>
            </a:r>
            <a:endParaRPr lang="en-US" sz="1400" b="0" u="none" strike="noStrike">
              <a:solidFill>
                <a:srgbClr val="000000"/>
              </a:solidFill>
              <a:effectLst/>
              <a:uFillTx/>
              <a:latin typeface="Arial"/>
            </a:endParaRPr>
          </a:p>
        </p:txBody>
      </p:sp>
      <p:sp>
        <p:nvSpPr>
          <p:cNvPr id="29" name="S3 share value"/>
          <p:cNvSpPr/>
          <p:nvPr/>
        </p:nvSpPr>
        <p:spPr>
          <a:xfrm>
            <a:off x="548640" y="2880360"/>
            <a:ext cx="32914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chemeClr val="accent1"/>
                </a:solidFill>
                <a:effectLst/>
                <a:uFillTx/>
                <a:latin typeface="Cambria"/>
                <a:ea typeface="Cambria"/>
              </a:rPr>
              <a:t>75.8%</a:t>
            </a:r>
            <a:endParaRPr lang="en-US" sz="4000" b="0" u="none" strike="noStrike">
              <a:solidFill>
                <a:srgbClr val="000000"/>
              </a:solidFill>
              <a:effectLst/>
              <a:uFillTx/>
              <a:latin typeface="Arial"/>
            </a:endParaRPr>
          </a:p>
        </p:txBody>
      </p:sp>
      <p:sp>
        <p:nvSpPr>
          <p:cNvPr id="30" name="S3 share label"/>
          <p:cNvSpPr/>
          <p:nvPr/>
        </p:nvSpPr>
        <p:spPr>
          <a:xfrm>
            <a:off x="548640" y="3657600"/>
            <a:ext cx="329148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1"/>
                </a:solidFill>
                <a:effectLst/>
                <a:uFillTx/>
                <a:latin typeface="Calibri"/>
              </a:rPr>
              <a:t>report pH, DO and BOD, the three best-covered parameters</a:t>
            </a:r>
            <a:endParaRPr lang="en-US" sz="1400" b="0" u="none" strike="noStrike">
              <a:solidFill>
                <a:srgbClr val="000000"/>
              </a:solidFill>
              <a:effectLst/>
              <a:uFillTx/>
              <a:latin typeface="Arial"/>
            </a:endParaRPr>
          </a:p>
        </p:txBody>
      </p:sp>
      <p:sp>
        <p:nvSpPr>
          <p:cNvPr id="31" name="Research question card"/>
          <p:cNvSpPr/>
          <p:nvPr/>
        </p:nvSpPr>
        <p:spPr>
          <a:xfrm>
            <a:off x="548640" y="4434840"/>
            <a:ext cx="3565800" cy="1371240"/>
          </a:xfrm>
          <a:prstGeom prst="roundRect">
            <a:avLst>
              <a:gd name="adj" fmla="val 8000"/>
            </a:avLst>
          </a:prstGeom>
          <a:solidFill>
            <a:schemeClr val="bg2"/>
          </a:solidFill>
          <a:ln w="12700">
            <a:solidFill>
              <a:srgbClr val="E8F3F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 name="Research question"/>
          <p:cNvSpPr/>
          <p:nvPr/>
        </p:nvSpPr>
        <p:spPr>
          <a:xfrm>
            <a:off x="731520" y="4553640"/>
            <a:ext cx="3200040" cy="14626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1" u="none" strike="noStrike">
                <a:solidFill>
                  <a:schemeClr val="dk2"/>
                </a:solidFill>
                <a:effectLst/>
                <a:uFillTx/>
                <a:latin typeface="Calibri"/>
              </a:rPr>
              <a:t>Research question</a:t>
            </a:r>
            <a:endParaRPr lang="en-US" sz="1500" b="0" u="none" strike="noStrike">
              <a:solidFill>
                <a:srgbClr val="000000"/>
              </a:solidFill>
              <a:effectLst/>
              <a:uFillTx/>
              <a:latin typeface="Arial"/>
            </a:endParaRPr>
          </a:p>
          <a:p>
            <a:pPr defTabSz="914400">
              <a:lnSpc>
                <a:spcPct val="100000"/>
              </a:lnSpc>
              <a:tabLst>
                <a:tab pos="0" algn="l"/>
              </a:tabLst>
            </a:pPr>
            <a:r>
              <a:rPr lang="en-US" sz="1500" b="0" i="1" u="none" strike="noStrike">
                <a:solidFill>
                  <a:schemeClr val="dk1"/>
                </a:solidFill>
                <a:effectLst/>
                <a:uFillTx/>
                <a:latin typeface="Calibri"/>
              </a:rPr>
              <a:t>Can reduced-parameter monitoring provide reliable WQI prediction for data-scarce river systems?</a:t>
            </a:r>
            <a:endParaRPr lang="en-US" sz="1500" b="0" u="none" strike="noStrike">
              <a:solidFill>
                <a:srgbClr val="000000"/>
              </a:solidFill>
              <a:effectLst/>
              <a:uFillTx/>
              <a:latin typeface="Arial"/>
            </a:endParaRPr>
          </a:p>
        </p:txBody>
      </p:sp>
      <p:graphicFrame>
        <p:nvGraphicFramePr>
          <p:cNvPr id="33" name="Funnel chart"/>
          <p:cNvGraphicFramePr/>
          <p:nvPr/>
        </p:nvGraphicFramePr>
        <p:xfrm>
          <a:off x="4480560" y="1325880"/>
          <a:ext cx="7131960" cy="4845960"/>
        </p:xfrm>
        <a:graphic>
          <a:graphicData uri="http://schemas.openxmlformats.org/drawingml/2006/chart">
            <c:chart xmlns:c="http://schemas.openxmlformats.org/drawingml/2006/chart" xmlns:r="http://schemas.openxmlformats.org/officeDocument/2006/relationships" r:id="rId1"/>
          </a:graphicData>
        </a:graphic>
      </p:graphicFrame>
      <p:sp>
        <p:nvSpPr>
          <p:cNvPr id="34" name="PlaceHolder 2"/>
          <p:cNvSpPr>
            <a:spLocks noGrp="1"/>
          </p:cNvSpPr>
          <p:nvPr>
            <p:ph type="sldNum" idx="5"/>
          </p:nvPr>
        </p:nvSpPr>
        <p:spPr>
          <a:xfrm>
            <a:off x="11155680" y="644652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5"/>
                </a:solidFill>
                <a:effectLst/>
                <a:uFillTx/>
                <a:latin typeface="Calibri"/>
              </a:defRPr>
            </a:lvl1pPr>
          </a:lstStyle>
          <a:p>
            <a:pPr indent="0" algn="r" defTabSz="914400">
              <a:lnSpc>
                <a:spcPct val="100000"/>
              </a:lnSpc>
              <a:buNone/>
            </a:pPr>
            <a:fld id="{10A106D9-45F3-4F95-ABEE-17A9BA33E312}" type="slidenum">
              <a:rPr lang="en-US" sz="1000" b="0" u="none" strike="noStrike">
                <a:solidFill>
                  <a:schemeClr val="accent5"/>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 name="PlaceHolder 1"/>
          <p:cNvSpPr>
            <a:spLocks noGrp="1"/>
          </p:cNvSpPr>
          <p:nvPr>
            <p:ph type="title" hasCustomPrompt="1"/>
          </p:nvPr>
        </p:nvSpPr>
        <p:spPr>
          <a:xfrm>
            <a:off x="548640" y="274320"/>
            <a:ext cx="11063880" cy="86832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1" u="none" strike="noStrike">
                <a:solidFill>
                  <a:schemeClr val="dk2"/>
                </a:solidFill>
                <a:effectLst/>
                <a:uFillTx/>
                <a:latin typeface="Cambria"/>
              </a:rPr>
              <a:t>The full panel was recorded in one year only</a:t>
            </a:r>
            <a:endParaRPr lang="en-US" sz="3000" b="0" u="none" strike="noStrike">
              <a:solidFill>
                <a:schemeClr val="dk1"/>
              </a:solidFill>
              <a:effectLst/>
              <a:uFillTx/>
              <a:latin typeface="Calibri"/>
            </a:endParaRPr>
          </a:p>
        </p:txBody>
      </p:sp>
      <p:pic>
        <p:nvPicPr>
          <p:cNvPr id="36" name="Fill rate heatmap" descr="/home/mayank-tiwari/Projects/envi-project/figures/fig_eda_fill_by_year.png"/>
          <p:cNvPicPr/>
          <p:nvPr/>
        </p:nvPicPr>
        <p:blipFill>
          <a:blip r:embed="rId1"/>
          <a:stretch/>
        </p:blipFill>
        <p:spPr>
          <a:xfrm>
            <a:off x="548640" y="1371600"/>
            <a:ext cx="6674760" cy="3444480"/>
          </a:xfrm>
          <a:prstGeom prst="rect">
            <a:avLst/>
          </a:prstGeom>
          <a:noFill/>
          <a:ln w="0">
            <a:noFill/>
          </a:ln>
        </p:spPr>
      </p:pic>
      <p:sp>
        <p:nvSpPr>
          <p:cNvPr id="37" name="Heatmap caption"/>
          <p:cNvSpPr/>
          <p:nvPr/>
        </p:nvSpPr>
        <p:spPr>
          <a:xfrm>
            <a:off x="548640" y="4956120"/>
            <a:ext cx="667476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chemeClr val="accent5"/>
                </a:solidFill>
                <a:effectLst/>
                <a:uFillTx/>
                <a:latin typeface="Calibri"/>
              </a:rPr>
              <a:t>Fill rate (% of river visits) by parameter and year</a:t>
            </a:r>
            <a:endParaRPr lang="en-US" sz="1100" b="0" u="none" strike="noStrike">
              <a:solidFill>
                <a:srgbClr val="000000"/>
              </a:solidFill>
              <a:effectLst/>
              <a:uFillTx/>
              <a:latin typeface="Arial"/>
            </a:endParaRPr>
          </a:p>
        </p:txBody>
      </p:sp>
      <p:sp>
        <p:nvSpPr>
          <p:cNvPr id="38" name="Pipeline step 1"/>
          <p:cNvSpPr/>
          <p:nvPr/>
        </p:nvSpPr>
        <p:spPr>
          <a:xfrm>
            <a:off x="7589520" y="1371600"/>
            <a:ext cx="4023000" cy="959760"/>
          </a:xfrm>
          <a:prstGeom prst="roundRect">
            <a:avLst>
              <a:gd name="adj" fmla="val 11429"/>
            </a:avLst>
          </a:prstGeom>
          <a:solidFill>
            <a:schemeClr val="bg2"/>
          </a:solidFill>
          <a:ln w="12700">
            <a:solidFill>
              <a:srgbClr val="E8F3F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 name="Pipeline step 1 badge"/>
          <p:cNvSpPr/>
          <p:nvPr/>
        </p:nvSpPr>
        <p:spPr>
          <a:xfrm>
            <a:off x="7726680" y="1645920"/>
            <a:ext cx="411120" cy="411120"/>
          </a:xfrm>
          <a:prstGeom prst="ellipse">
            <a:avLst/>
          </a:prstGeom>
          <a:solidFill>
            <a:schemeClr val="accent1"/>
          </a:solidFill>
          <a:ln w="12700">
            <a:solidFill>
              <a:srgbClr val="1A7F8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 name="Pipeline step 1 number"/>
          <p:cNvSpPr/>
          <p:nvPr/>
        </p:nvSpPr>
        <p:spPr>
          <a:xfrm>
            <a:off x="7726680" y="1645920"/>
            <a:ext cx="41112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chemeClr val="lt1"/>
                </a:solidFill>
                <a:effectLst/>
                <a:uFillTx/>
                <a:latin typeface="Calibri"/>
              </a:rPr>
              <a:t>1</a:t>
            </a:r>
            <a:endParaRPr lang="en-US" sz="1400" b="0" u="none" strike="noStrike">
              <a:solidFill>
                <a:srgbClr val="000000"/>
              </a:solidFill>
              <a:effectLst/>
              <a:uFillTx/>
              <a:latin typeface="Arial"/>
            </a:endParaRPr>
          </a:p>
        </p:txBody>
      </p:sp>
      <p:sp>
        <p:nvSpPr>
          <p:cNvPr id="41" name="Pipeline step 1 text"/>
          <p:cNvSpPr/>
          <p:nvPr/>
        </p:nvSpPr>
        <p:spPr>
          <a:xfrm>
            <a:off x="8275320" y="1481400"/>
            <a:ext cx="324576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chemeClr val="dk2"/>
                </a:solidFill>
                <a:effectLst/>
                <a:uFillTx/>
                <a:latin typeface="Calibri"/>
              </a:rPr>
              <a:t>211 raw CSVs</a:t>
            </a:r>
            <a:endParaRPr lang="en-US" sz="1600" b="0" u="none" strike="noStrike">
              <a:solidFill>
                <a:srgbClr val="000000"/>
              </a:solidFill>
              <a:effectLst/>
              <a:uFillTx/>
              <a:latin typeface="Arial"/>
            </a:endParaRPr>
          </a:p>
          <a:p>
            <a:pPr defTabSz="914400">
              <a:lnSpc>
                <a:spcPct val="100000"/>
              </a:lnSpc>
              <a:tabLst>
                <a:tab pos="0" algn="l"/>
              </a:tabLst>
            </a:pPr>
            <a:r>
              <a:rPr lang="en-US" sz="1300" b="0" u="none" strike="noStrike">
                <a:solidFill>
                  <a:schemeClr val="dk1"/>
                </a:solidFill>
                <a:effectLst/>
                <a:uFillTx/>
                <a:latin typeface="Calibri"/>
              </a:rPr>
              <a:t>physical, chemical and biological tables (57 MB)</a:t>
            </a:r>
            <a:endParaRPr lang="en-US" sz="1300" b="0" u="none" strike="noStrike">
              <a:solidFill>
                <a:srgbClr val="000000"/>
              </a:solidFill>
              <a:effectLst/>
              <a:uFillTx/>
              <a:latin typeface="Arial"/>
            </a:endParaRPr>
          </a:p>
        </p:txBody>
      </p:sp>
      <p:sp>
        <p:nvSpPr>
          <p:cNvPr id="42" name="Pipeline step 2"/>
          <p:cNvSpPr/>
          <p:nvPr/>
        </p:nvSpPr>
        <p:spPr>
          <a:xfrm>
            <a:off x="7589520" y="2514600"/>
            <a:ext cx="4023000" cy="959760"/>
          </a:xfrm>
          <a:prstGeom prst="roundRect">
            <a:avLst>
              <a:gd name="adj" fmla="val 11429"/>
            </a:avLst>
          </a:prstGeom>
          <a:solidFill>
            <a:schemeClr val="bg2"/>
          </a:solidFill>
          <a:ln w="12700">
            <a:solidFill>
              <a:srgbClr val="E8F3F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 name="Pipeline step 2 badge"/>
          <p:cNvSpPr/>
          <p:nvPr/>
        </p:nvSpPr>
        <p:spPr>
          <a:xfrm>
            <a:off x="7726680" y="2788920"/>
            <a:ext cx="411120" cy="411120"/>
          </a:xfrm>
          <a:prstGeom prst="ellipse">
            <a:avLst/>
          </a:prstGeom>
          <a:solidFill>
            <a:schemeClr val="accent1"/>
          </a:solidFill>
          <a:ln w="12700">
            <a:solidFill>
              <a:srgbClr val="1A7F8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4" name="Pipeline step 2 number"/>
          <p:cNvSpPr/>
          <p:nvPr/>
        </p:nvSpPr>
        <p:spPr>
          <a:xfrm>
            <a:off x="7726680" y="2788920"/>
            <a:ext cx="41112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chemeClr val="lt1"/>
                </a:solidFill>
                <a:effectLst/>
                <a:uFillTx/>
                <a:latin typeface="Calibri"/>
              </a:rPr>
              <a:t>2</a:t>
            </a:r>
            <a:endParaRPr lang="en-US" sz="1400" b="0" u="none" strike="noStrike">
              <a:solidFill>
                <a:srgbClr val="000000"/>
              </a:solidFill>
              <a:effectLst/>
              <a:uFillTx/>
              <a:latin typeface="Arial"/>
            </a:endParaRPr>
          </a:p>
        </p:txBody>
      </p:sp>
      <p:sp>
        <p:nvSpPr>
          <p:cNvPr id="45" name="Pipeline step 2 text"/>
          <p:cNvSpPr/>
          <p:nvPr/>
        </p:nvSpPr>
        <p:spPr>
          <a:xfrm>
            <a:off x="8275320" y="2624400"/>
            <a:ext cx="324576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chemeClr val="dk2"/>
                </a:solidFill>
                <a:effectLst/>
                <a:uFillTx/>
                <a:latin typeface="Calibri"/>
              </a:rPr>
              <a:t>32,968 river visits</a:t>
            </a:r>
            <a:endParaRPr lang="en-US" sz="1600" b="0" u="none" strike="noStrike">
              <a:solidFill>
                <a:srgbClr val="000000"/>
              </a:solidFill>
              <a:effectLst/>
              <a:uFillTx/>
              <a:latin typeface="Arial"/>
            </a:endParaRPr>
          </a:p>
          <a:p>
            <a:pPr defTabSz="914400">
              <a:lnSpc>
                <a:spcPct val="100000"/>
              </a:lnSpc>
              <a:tabLst>
                <a:tab pos="0" algn="l"/>
              </a:tabLst>
            </a:pPr>
            <a:r>
              <a:rPr lang="en-US" sz="1300" b="0" u="none" strike="noStrike">
                <a:solidFill>
                  <a:schemeClr val="dk1"/>
                </a:solidFill>
                <a:effectLst/>
                <a:uFillTx/>
                <a:latin typeface="Calibri"/>
              </a:rPr>
              <a:t>888 stations, 87 rivers, joined and audited</a:t>
            </a:r>
            <a:endParaRPr lang="en-US" sz="1300" b="0" u="none" strike="noStrike">
              <a:solidFill>
                <a:srgbClr val="000000"/>
              </a:solidFill>
              <a:effectLst/>
              <a:uFillTx/>
              <a:latin typeface="Arial"/>
            </a:endParaRPr>
          </a:p>
        </p:txBody>
      </p:sp>
      <p:sp>
        <p:nvSpPr>
          <p:cNvPr id="46" name="Pipeline step 3"/>
          <p:cNvSpPr/>
          <p:nvPr/>
        </p:nvSpPr>
        <p:spPr>
          <a:xfrm>
            <a:off x="7589520" y="3657600"/>
            <a:ext cx="4023000" cy="959760"/>
          </a:xfrm>
          <a:prstGeom prst="roundRect">
            <a:avLst>
              <a:gd name="adj" fmla="val 11429"/>
            </a:avLst>
          </a:prstGeom>
          <a:solidFill>
            <a:schemeClr val="bg2"/>
          </a:solidFill>
          <a:ln w="12700">
            <a:solidFill>
              <a:srgbClr val="E8F3F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7" name="Pipeline step 3 badge"/>
          <p:cNvSpPr/>
          <p:nvPr/>
        </p:nvSpPr>
        <p:spPr>
          <a:xfrm>
            <a:off x="7726680" y="3931920"/>
            <a:ext cx="411120" cy="411120"/>
          </a:xfrm>
          <a:prstGeom prst="ellipse">
            <a:avLst/>
          </a:prstGeom>
          <a:solidFill>
            <a:schemeClr val="accent1"/>
          </a:solidFill>
          <a:ln w="12700">
            <a:solidFill>
              <a:srgbClr val="1A7F8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8" name="Pipeline step 3 number"/>
          <p:cNvSpPr/>
          <p:nvPr/>
        </p:nvSpPr>
        <p:spPr>
          <a:xfrm>
            <a:off x="7726680" y="3931920"/>
            <a:ext cx="41112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chemeClr val="lt1"/>
                </a:solidFill>
                <a:effectLst/>
                <a:uFillTx/>
                <a:latin typeface="Calibri"/>
              </a:rPr>
              <a:t>3</a:t>
            </a:r>
            <a:endParaRPr lang="en-US" sz="1400" b="0" u="none" strike="noStrike">
              <a:solidFill>
                <a:srgbClr val="000000"/>
              </a:solidFill>
              <a:effectLst/>
              <a:uFillTx/>
              <a:latin typeface="Arial"/>
            </a:endParaRPr>
          </a:p>
        </p:txBody>
      </p:sp>
      <p:sp>
        <p:nvSpPr>
          <p:cNvPr id="49" name="Pipeline step 3 text"/>
          <p:cNvSpPr/>
          <p:nvPr/>
        </p:nvSpPr>
        <p:spPr>
          <a:xfrm>
            <a:off x="8275320" y="3767400"/>
            <a:ext cx="324576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chemeClr val="dk2"/>
                </a:solidFill>
                <a:effectLst/>
                <a:uFillTx/>
                <a:latin typeface="Calibri"/>
              </a:rPr>
              <a:t>4,861 labelled visits</a:t>
            </a:r>
            <a:endParaRPr lang="en-US" sz="1600" b="0" u="none" strike="noStrike">
              <a:solidFill>
                <a:srgbClr val="000000"/>
              </a:solidFill>
              <a:effectLst/>
              <a:uFillTx/>
              <a:latin typeface="Arial"/>
            </a:endParaRPr>
          </a:p>
          <a:p>
            <a:pPr defTabSz="914400">
              <a:lnSpc>
                <a:spcPct val="100000"/>
              </a:lnSpc>
              <a:tabLst>
                <a:tab pos="0" algn="l"/>
              </a:tabLst>
            </a:pPr>
            <a:r>
              <a:rPr lang="en-US" sz="1300" b="0" u="none" strike="noStrike">
                <a:solidFill>
                  <a:schemeClr val="dk1"/>
                </a:solidFill>
                <a:effectLst/>
                <a:uFillTx/>
                <a:latin typeface="Calibri"/>
              </a:rPr>
              <a:t>593 stations with all 8 parameters, all in 2020</a:t>
            </a:r>
            <a:endParaRPr lang="en-US" sz="1300" b="0" u="none" strike="noStrike">
              <a:solidFill>
                <a:srgbClr val="000000"/>
              </a:solidFill>
              <a:effectLst/>
              <a:uFillTx/>
              <a:latin typeface="Arial"/>
            </a:endParaRPr>
          </a:p>
        </p:txBody>
      </p:sp>
      <p:sp>
        <p:nvSpPr>
          <p:cNvPr id="50" name="Text 14"/>
          <p:cNvSpPr/>
          <p:nvPr/>
        </p:nvSpPr>
        <p:spPr>
          <a:xfrm>
            <a:off x="7589520" y="4937760"/>
            <a:ext cx="4023000" cy="1188360"/>
          </a:xfrm>
          <a:prstGeom prst="rect">
            <a:avLst/>
          </a:prstGeom>
          <a:noFill/>
          <a:ln w="0">
            <a:noFill/>
          </a:ln>
        </p:spPr>
        <p:style>
          <a:lnRef idx="0"/>
          <a:fillRef idx="0"/>
          <a:effectRef idx="0"/>
          <a:fontRef idx="minor"/>
        </p:style>
        <p:txBody>
          <a:bodyPr lIns="0" tIns="0" rIns="0" bIns="0" anchor="t">
            <a:noAutofit/>
          </a:bodyPr>
          <a:p>
            <a:pPr defTabSz="914400">
              <a:lnSpc>
                <a:spcPct val="100000"/>
              </a:lnSpc>
              <a:spcAft>
                <a:spcPts val="601"/>
              </a:spcAft>
              <a:tabLst>
                <a:tab pos="0" algn="l"/>
              </a:tabLst>
            </a:pPr>
            <a:r>
              <a:rPr lang="en-US" sz="1400" b="0" u="none" strike="noStrike">
                <a:solidFill>
                  <a:schemeClr val="dk1"/>
                </a:solidFill>
                <a:effectLst/>
                <a:uFillTx/>
                <a:latin typeface="Calibri"/>
              </a:rPr>
              <a:t>EC, coliforms, turbidity and nitrate were logged almost only in 2020. Other years carry a routine pH–DO–BOD–coliform panel: a real, not simulated, data-scarce setting.</a:t>
            </a:r>
            <a:endParaRPr lang="en-US" sz="1400" b="0" u="none" strike="noStrike">
              <a:solidFill>
                <a:srgbClr val="000000"/>
              </a:solidFill>
              <a:effectLst/>
              <a:uFillTx/>
              <a:latin typeface="Arial"/>
            </a:endParaRPr>
          </a:p>
        </p:txBody>
      </p:sp>
      <p:sp>
        <p:nvSpPr>
          <p:cNvPr id="51" name="PlaceHolder 2"/>
          <p:cNvSpPr>
            <a:spLocks noGrp="1"/>
          </p:cNvSpPr>
          <p:nvPr>
            <p:ph type="sldNum" idx="6"/>
          </p:nvPr>
        </p:nvSpPr>
        <p:spPr>
          <a:xfrm>
            <a:off x="11155680" y="644652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5"/>
                </a:solidFill>
                <a:effectLst/>
                <a:uFillTx/>
                <a:latin typeface="Calibri"/>
              </a:defRPr>
            </a:lvl1pPr>
          </a:lstStyle>
          <a:p>
            <a:pPr indent="0" algn="r" defTabSz="914400">
              <a:lnSpc>
                <a:spcPct val="100000"/>
              </a:lnSpc>
              <a:buNone/>
            </a:pPr>
            <a:fld id="{0D4CA63D-C458-4762-8D5D-4260AA75D80A}" type="slidenum">
              <a:rPr lang="en-US" sz="1000" b="0" u="none" strike="noStrike">
                <a:solidFill>
                  <a:schemeClr val="accent5"/>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PlaceHolder 1"/>
          <p:cNvSpPr>
            <a:spLocks noGrp="1"/>
          </p:cNvSpPr>
          <p:nvPr>
            <p:ph type="title" hasCustomPrompt="1"/>
          </p:nvPr>
        </p:nvSpPr>
        <p:spPr>
          <a:xfrm>
            <a:off x="548640" y="274320"/>
            <a:ext cx="11063880" cy="86832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1" u="none" strike="noStrike">
                <a:solidFill>
                  <a:schemeClr val="dk2"/>
                </a:solidFill>
                <a:effectLst/>
                <a:uFillTx/>
                <a:latin typeface="Cambria"/>
              </a:rPr>
              <a:t>pH and BOD drive 87.5% of the CPCB index</a:t>
            </a:r>
            <a:endParaRPr lang="en-US" sz="3000" b="0" u="none" strike="noStrike">
              <a:solidFill>
                <a:schemeClr val="dk1"/>
              </a:solidFill>
              <a:effectLst/>
              <a:uFillTx/>
              <a:latin typeface="Calibri"/>
            </a:endParaRPr>
          </a:p>
        </p:txBody>
      </p:sp>
      <p:graphicFrame>
        <p:nvGraphicFramePr>
          <p:cNvPr id="53" name="Variance share chart"/>
          <p:cNvGraphicFramePr/>
          <p:nvPr/>
        </p:nvGraphicFramePr>
        <p:xfrm>
          <a:off x="548640" y="1325880"/>
          <a:ext cx="6766200" cy="4845960"/>
        </p:xfrm>
        <a:graphic>
          <a:graphicData uri="http://schemas.openxmlformats.org/drawingml/2006/chart">
            <c:chart xmlns:c="http://schemas.openxmlformats.org/drawingml/2006/chart" xmlns:r="http://schemas.openxmlformats.org/officeDocument/2006/relationships" r:id="rId1"/>
          </a:graphicData>
        </a:graphic>
      </p:graphicFrame>
      <p:sp>
        <p:nvSpPr>
          <p:cNvPr id="54" name="Formula card"/>
          <p:cNvSpPr/>
          <p:nvPr/>
        </p:nvSpPr>
        <p:spPr>
          <a:xfrm>
            <a:off x="7680960" y="1371600"/>
            <a:ext cx="3931560" cy="1599840"/>
          </a:xfrm>
          <a:prstGeom prst="roundRect">
            <a:avLst>
              <a:gd name="adj" fmla="val 6857"/>
            </a:avLst>
          </a:prstGeom>
          <a:solidFill>
            <a:schemeClr val="bg2"/>
          </a:solidFill>
          <a:ln w="12700">
            <a:solidFill>
              <a:srgbClr val="E8F3F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5" name="Formula text"/>
          <p:cNvSpPr/>
          <p:nvPr/>
        </p:nvSpPr>
        <p:spPr>
          <a:xfrm>
            <a:off x="7863840" y="1508760"/>
            <a:ext cx="3565800" cy="1828440"/>
          </a:xfrm>
          <a:prstGeom prst="rect">
            <a:avLst/>
          </a:prstGeom>
          <a:noFill/>
          <a:ln w="0">
            <a:noFill/>
          </a:ln>
        </p:spPr>
        <p:style>
          <a:lnRef idx="0"/>
          <a:fillRef idx="0"/>
          <a:effectRef idx="0"/>
          <a:fontRef idx="minor"/>
        </p:style>
        <p:txBody>
          <a:bodyPr lIns="0" tIns="0" rIns="0" bIns="0" anchor="t">
            <a:noAutofit/>
          </a:bodyPr>
          <a:p>
            <a:pPr defTabSz="914400">
              <a:lnSpc>
                <a:spcPct val="100000"/>
              </a:lnSpc>
              <a:spcAft>
                <a:spcPts val="799"/>
              </a:spcAft>
              <a:tabLst>
                <a:tab pos="0" algn="l"/>
              </a:tabLst>
            </a:pPr>
            <a:r>
              <a:rPr lang="en-US" sz="1500" b="1" u="none" strike="noStrike">
                <a:solidFill>
                  <a:schemeClr val="dk2"/>
                </a:solidFill>
                <a:effectLst/>
                <a:uFillTx/>
                <a:latin typeface="Calibri"/>
              </a:rPr>
              <a:t>CPCB weighted-arithmetic WQI</a:t>
            </a:r>
            <a:endParaRPr lang="en-US" sz="1500" b="0" u="none" strike="noStrike">
              <a:solidFill>
                <a:srgbClr val="000000"/>
              </a:solidFill>
              <a:effectLst/>
              <a:uFillTx/>
              <a:latin typeface="Arial"/>
            </a:endParaRPr>
          </a:p>
          <a:p>
            <a:pPr defTabSz="914400">
              <a:lnSpc>
                <a:spcPct val="100000"/>
              </a:lnSpc>
              <a:spcAft>
                <a:spcPts val="799"/>
              </a:spcAft>
              <a:tabLst>
                <a:tab pos="0" algn="l"/>
              </a:tabLst>
            </a:pPr>
            <a:r>
              <a:rPr lang="en-US" sz="1500" b="0" u="none" strike="noStrike">
                <a:solidFill>
                  <a:schemeClr val="dk1"/>
                </a:solidFill>
                <a:effectLst/>
                <a:uFillTx/>
                <a:latin typeface="Calibri"/>
              </a:rPr>
              <a:t>WQI = Σ Wᵢ·qᵢ / Σ Wᵢ,  with qᵢ capped at 100</a:t>
            </a:r>
            <a:endParaRPr lang="en-US" sz="1500" b="0" u="none" strike="noStrike">
              <a:solidFill>
                <a:srgbClr val="000000"/>
              </a:solidFill>
              <a:effectLst/>
              <a:uFillTx/>
              <a:latin typeface="Arial"/>
            </a:endParaRPr>
          </a:p>
          <a:p>
            <a:pPr defTabSz="914400">
              <a:lnSpc>
                <a:spcPct val="100000"/>
              </a:lnSpc>
              <a:spcAft>
                <a:spcPts val="799"/>
              </a:spcAft>
              <a:tabLst>
                <a:tab pos="0" algn="l"/>
              </a:tabLst>
            </a:pPr>
            <a:r>
              <a:rPr lang="en-US" sz="1500" b="0" u="none" strike="noStrike">
                <a:solidFill>
                  <a:schemeClr val="dk1"/>
                </a:solidFill>
                <a:effectLst/>
                <a:uFillTx/>
                <a:latin typeface="Calibri"/>
              </a:rPr>
              <a:t>Unit weight Wᵢ ∝ 1 / Sᵢ (Sᵢ = standard)</a:t>
            </a:r>
            <a:endParaRPr lang="en-US" sz="1500" b="0" u="none" strike="noStrike">
              <a:solidFill>
                <a:srgbClr val="000000"/>
              </a:solidFill>
              <a:effectLst/>
              <a:uFillTx/>
              <a:latin typeface="Arial"/>
            </a:endParaRPr>
          </a:p>
        </p:txBody>
      </p:sp>
      <p:sp>
        <p:nvSpPr>
          <p:cNvPr id="56" name="Coliform callout"/>
          <p:cNvSpPr/>
          <p:nvPr/>
        </p:nvSpPr>
        <p:spPr>
          <a:xfrm>
            <a:off x="7680960" y="3794760"/>
            <a:ext cx="393156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i="1" u="none" strike="noStrike">
                <a:solidFill>
                  <a:schemeClr val="accent3"/>
                </a:solidFill>
                <a:effectLst/>
                <a:uFillTx/>
                <a:latin typeface="Calibri"/>
              </a:rPr>
              <a:t>Fecal coliform exceeds its bathing standard on 34% of visits, yet explains 0.2% of the index.</a:t>
            </a:r>
            <a:endParaRPr lang="en-US" sz="1800" b="0" u="none" strike="noStrike">
              <a:solidFill>
                <a:srgbClr val="000000"/>
              </a:solidFill>
              <a:effectLst/>
              <a:uFillTx/>
              <a:latin typeface="Arial"/>
            </a:endParaRPr>
          </a:p>
        </p:txBody>
      </p:sp>
      <p:sp>
        <p:nvSpPr>
          <p:cNvPr id="57" name="Text 4"/>
          <p:cNvSpPr/>
          <p:nvPr/>
        </p:nvSpPr>
        <p:spPr>
          <a:xfrm>
            <a:off x="7680960" y="5029200"/>
            <a:ext cx="3931560" cy="1096920"/>
          </a:xfrm>
          <a:prstGeom prst="rect">
            <a:avLst/>
          </a:prstGeom>
          <a:noFill/>
          <a:ln w="0">
            <a:noFill/>
          </a:ln>
        </p:spPr>
        <p:style>
          <a:lnRef idx="0"/>
          <a:fillRef idx="0"/>
          <a:effectRef idx="0"/>
          <a:fontRef idx="minor"/>
        </p:style>
        <p:txBody>
          <a:bodyPr lIns="0" tIns="0" rIns="0" bIns="0" anchor="t">
            <a:noAutofit/>
          </a:bodyPr>
          <a:p>
            <a:pPr defTabSz="914400">
              <a:lnSpc>
                <a:spcPct val="100000"/>
              </a:lnSpc>
              <a:spcAft>
                <a:spcPts val="601"/>
              </a:spcAft>
              <a:tabLst>
                <a:tab pos="0" algn="l"/>
              </a:tabLst>
            </a:pPr>
            <a:r>
              <a:rPr lang="en-US" sz="1400" b="0" u="none" strike="noStrike">
                <a:solidFill>
                  <a:schemeClr val="dk1"/>
                </a:solidFill>
                <a:effectLst/>
                <a:uFillTx/>
                <a:latin typeface="Calibri"/>
              </a:rPr>
              <a:t>Weights ∝ 1/Sᵢ reward parameters whose standard is a small number: 2 pH units or 3 mg/L, versus 500 MPN/100 mL.</a:t>
            </a:r>
            <a:endParaRPr lang="en-US" sz="1400" b="0" u="none" strike="noStrike">
              <a:solidFill>
                <a:srgbClr val="000000"/>
              </a:solidFill>
              <a:effectLst/>
              <a:uFillTx/>
              <a:latin typeface="Arial"/>
            </a:endParaRPr>
          </a:p>
        </p:txBody>
      </p:sp>
      <p:sp>
        <p:nvSpPr>
          <p:cNvPr id="58" name="PlaceHolder 2"/>
          <p:cNvSpPr>
            <a:spLocks noGrp="1"/>
          </p:cNvSpPr>
          <p:nvPr>
            <p:ph type="sldNum" idx="7"/>
          </p:nvPr>
        </p:nvSpPr>
        <p:spPr>
          <a:xfrm>
            <a:off x="11155680" y="644652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5"/>
                </a:solidFill>
                <a:effectLst/>
                <a:uFillTx/>
                <a:latin typeface="Calibri"/>
              </a:defRPr>
            </a:lvl1pPr>
          </a:lstStyle>
          <a:p>
            <a:pPr indent="0" algn="r" defTabSz="914400">
              <a:lnSpc>
                <a:spcPct val="100000"/>
              </a:lnSpc>
              <a:buNone/>
            </a:pPr>
            <a:fld id="{B023C369-BFA5-4B71-A7E8-0D20986B1894}" type="slidenum">
              <a:rPr lang="en-US" sz="1000" b="0" u="none" strike="noStrike">
                <a:solidFill>
                  <a:schemeClr val="accent5"/>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 name="PlaceHolder 1"/>
          <p:cNvSpPr>
            <a:spLocks noGrp="1"/>
          </p:cNvSpPr>
          <p:nvPr>
            <p:ph type="title" hasCustomPrompt="1"/>
          </p:nvPr>
        </p:nvSpPr>
        <p:spPr>
          <a:xfrm>
            <a:off x="548640" y="274320"/>
            <a:ext cx="11063880" cy="86832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1" u="none" strike="noStrike">
                <a:solidFill>
                  <a:schemeClr val="dk2"/>
                </a:solidFill>
                <a:effectLst/>
                <a:uFillTx/>
                <a:latin typeface="Cambria"/>
              </a:rPr>
              <a:t>Approach: learn the full-panel WQI from a few inputs</a:t>
            </a:r>
            <a:endParaRPr lang="en-US" sz="3000" b="0" u="none" strike="noStrike">
              <a:solidFill>
                <a:schemeClr val="dk1"/>
              </a:solidFill>
              <a:effectLst/>
              <a:uFillTx/>
              <a:latin typeface="Calibri"/>
            </a:endParaRPr>
          </a:p>
        </p:txBody>
      </p:sp>
      <p:pic>
        <p:nvPicPr>
          <p:cNvPr id="60" name="Surrogate diagram" descr="/home/mayank-tiwari/Projects/envi-project/report/latex/diagrams/surrogate.png"/>
          <p:cNvPicPr/>
          <p:nvPr/>
        </p:nvPicPr>
        <p:blipFill>
          <a:blip r:embed="rId1"/>
          <a:stretch/>
        </p:blipFill>
        <p:spPr>
          <a:xfrm>
            <a:off x="1097280" y="1234440"/>
            <a:ext cx="6949080" cy="3484080"/>
          </a:xfrm>
          <a:prstGeom prst="rect">
            <a:avLst/>
          </a:prstGeom>
          <a:noFill/>
          <a:ln w="0">
            <a:noFill/>
          </a:ln>
        </p:spPr>
      </p:pic>
      <p:sp>
        <p:nvSpPr>
          <p:cNvPr id="61" name="Method card 1"/>
          <p:cNvSpPr/>
          <p:nvPr/>
        </p:nvSpPr>
        <p:spPr>
          <a:xfrm>
            <a:off x="548640" y="4892040"/>
            <a:ext cx="3565800" cy="1188360"/>
          </a:xfrm>
          <a:prstGeom prst="roundRect">
            <a:avLst>
              <a:gd name="adj" fmla="val 9231"/>
            </a:avLst>
          </a:prstGeom>
          <a:solidFill>
            <a:schemeClr val="bg2"/>
          </a:solidFill>
          <a:ln w="12700">
            <a:solidFill>
              <a:srgbClr val="E8F3F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2" name="Method card 1 text"/>
          <p:cNvSpPr/>
          <p:nvPr/>
        </p:nvSpPr>
        <p:spPr>
          <a:xfrm>
            <a:off x="731520" y="4983480"/>
            <a:ext cx="3200040" cy="11426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chemeClr val="dk2"/>
                </a:solidFill>
                <a:effectLst/>
                <a:uFillTx/>
                <a:latin typeface="Calibri"/>
              </a:rPr>
              <a:t>8 model families</a:t>
            </a:r>
            <a:endParaRPr lang="en-US" sz="1600" b="0" u="none" strike="noStrike">
              <a:solidFill>
                <a:srgbClr val="000000"/>
              </a:solidFill>
              <a:effectLst/>
              <a:uFillTx/>
              <a:latin typeface="Arial"/>
            </a:endParaRPr>
          </a:p>
          <a:p>
            <a:pPr defTabSz="914400">
              <a:lnSpc>
                <a:spcPct val="100000"/>
              </a:lnSpc>
              <a:tabLst>
                <a:tab pos="0" algn="l"/>
              </a:tabLst>
            </a:pPr>
            <a:r>
              <a:rPr lang="en-US" sz="1300" b="0" u="none" strike="noStrike">
                <a:solidFill>
                  <a:schemeClr val="dk1"/>
                </a:solidFill>
                <a:effectLst/>
                <a:uFillTx/>
                <a:latin typeface="Calibri"/>
              </a:rPr>
              <a:t>Formula (no ML), Linear, kNN, SVR, MLP, Random Forest, XGBoost, Gaussian process</a:t>
            </a:r>
            <a:endParaRPr lang="en-US" sz="1300" b="0" u="none" strike="noStrike">
              <a:solidFill>
                <a:srgbClr val="000000"/>
              </a:solidFill>
              <a:effectLst/>
              <a:uFillTx/>
              <a:latin typeface="Arial"/>
            </a:endParaRPr>
          </a:p>
        </p:txBody>
      </p:sp>
      <p:sp>
        <p:nvSpPr>
          <p:cNvPr id="63" name="Method card 2"/>
          <p:cNvSpPr/>
          <p:nvPr/>
        </p:nvSpPr>
        <p:spPr>
          <a:xfrm>
            <a:off x="4297680" y="4892040"/>
            <a:ext cx="3565800" cy="1188360"/>
          </a:xfrm>
          <a:prstGeom prst="roundRect">
            <a:avLst>
              <a:gd name="adj" fmla="val 9231"/>
            </a:avLst>
          </a:prstGeom>
          <a:solidFill>
            <a:schemeClr val="bg2"/>
          </a:solidFill>
          <a:ln w="12700">
            <a:solidFill>
              <a:srgbClr val="E8F3F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4" name="Method card 2 text"/>
          <p:cNvSpPr/>
          <p:nvPr/>
        </p:nvSpPr>
        <p:spPr>
          <a:xfrm>
            <a:off x="4480560" y="4983480"/>
            <a:ext cx="3200040" cy="11426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chemeClr val="dk2"/>
                </a:solidFill>
                <a:effectLst/>
                <a:uFillTx/>
                <a:latin typeface="Calibri"/>
              </a:rPr>
              <a:t>12 named + all 255 subsets</a:t>
            </a:r>
            <a:endParaRPr lang="en-US" sz="1600" b="0" u="none" strike="noStrike">
              <a:solidFill>
                <a:srgbClr val="000000"/>
              </a:solidFill>
              <a:effectLst/>
              <a:uFillTx/>
              <a:latin typeface="Arial"/>
            </a:endParaRPr>
          </a:p>
          <a:p>
            <a:pPr defTabSz="914400">
              <a:lnSpc>
                <a:spcPct val="100000"/>
              </a:lnSpc>
              <a:tabLst>
                <a:tab pos="0" algn="l"/>
              </a:tabLst>
            </a:pPr>
            <a:r>
              <a:rPr lang="en-US" sz="1300" b="0" u="none" strike="noStrike">
                <a:solidFill>
                  <a:schemeClr val="dk1"/>
                </a:solidFill>
                <a:effectLst/>
                <a:uFillTx/>
                <a:latin typeface="Calibri"/>
              </a:rPr>
              <a:t>3, 4, 5, 7 and 8 parameters; availability-, importance- and sensor-based</a:t>
            </a:r>
            <a:endParaRPr lang="en-US" sz="1300" b="0" u="none" strike="noStrike">
              <a:solidFill>
                <a:srgbClr val="000000"/>
              </a:solidFill>
              <a:effectLst/>
              <a:uFillTx/>
              <a:latin typeface="Arial"/>
            </a:endParaRPr>
          </a:p>
        </p:txBody>
      </p:sp>
      <p:sp>
        <p:nvSpPr>
          <p:cNvPr id="65" name="Method card 3"/>
          <p:cNvSpPr/>
          <p:nvPr/>
        </p:nvSpPr>
        <p:spPr>
          <a:xfrm>
            <a:off x="8046720" y="4892040"/>
            <a:ext cx="3565800" cy="1188360"/>
          </a:xfrm>
          <a:prstGeom prst="roundRect">
            <a:avLst>
              <a:gd name="adj" fmla="val 9231"/>
            </a:avLst>
          </a:prstGeom>
          <a:solidFill>
            <a:schemeClr val="bg2"/>
          </a:solidFill>
          <a:ln w="12700">
            <a:solidFill>
              <a:srgbClr val="E8F3F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 name="Method card 3 text"/>
          <p:cNvSpPr/>
          <p:nvPr/>
        </p:nvSpPr>
        <p:spPr>
          <a:xfrm>
            <a:off x="8229600" y="4983480"/>
            <a:ext cx="3200040" cy="11426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chemeClr val="dk2"/>
                </a:solidFill>
                <a:effectLst/>
                <a:uFillTx/>
                <a:latin typeface="Calibri"/>
              </a:rPr>
              <a:t>5 validation schemes</a:t>
            </a:r>
            <a:endParaRPr lang="en-US" sz="1600" b="0" u="none" strike="noStrike">
              <a:solidFill>
                <a:srgbClr val="000000"/>
              </a:solidFill>
              <a:effectLst/>
              <a:uFillTx/>
              <a:latin typeface="Arial"/>
            </a:endParaRPr>
          </a:p>
          <a:p>
            <a:pPr defTabSz="914400">
              <a:lnSpc>
                <a:spcPct val="100000"/>
              </a:lnSpc>
              <a:tabLst>
                <a:tab pos="0" algn="l"/>
              </a:tabLst>
            </a:pPr>
            <a:r>
              <a:rPr lang="en-US" sz="1300" b="0" u="none" strike="noStrike">
                <a:solidFill>
                  <a:schemeClr val="dk1"/>
                </a:solidFill>
                <a:effectLst/>
                <a:uFillTx/>
                <a:latin typeface="Calibri"/>
              </a:rPr>
              <a:t>random rows, unseen stations (primary), unseen rivers, states, season</a:t>
            </a:r>
            <a:endParaRPr lang="en-US" sz="1300" b="0" u="none" strike="noStrike">
              <a:solidFill>
                <a:srgbClr val="000000"/>
              </a:solidFill>
              <a:effectLst/>
              <a:uFillTx/>
              <a:latin typeface="Arial"/>
            </a:endParaRPr>
          </a:p>
        </p:txBody>
      </p:sp>
      <p:sp>
        <p:nvSpPr>
          <p:cNvPr id="67" name="Text 7"/>
          <p:cNvSpPr/>
          <p:nvPr/>
        </p:nvSpPr>
        <p:spPr>
          <a:xfrm>
            <a:off x="8321040" y="1463040"/>
            <a:ext cx="3291480" cy="2925720"/>
          </a:xfrm>
          <a:prstGeom prst="rect">
            <a:avLst/>
          </a:prstGeom>
          <a:noFill/>
          <a:ln w="0">
            <a:noFill/>
          </a:ln>
        </p:spPr>
        <p:style>
          <a:lnRef idx="0"/>
          <a:fillRef idx="0"/>
          <a:effectRef idx="0"/>
          <a:fontRef idx="minor"/>
        </p:style>
        <p:txBody>
          <a:bodyPr lIns="0" tIns="0" rIns="0" bIns="0" anchor="t">
            <a:noAutofit/>
          </a:bodyPr>
          <a:p>
            <a:pPr defTabSz="914400">
              <a:lnSpc>
                <a:spcPct val="100000"/>
              </a:lnSpc>
              <a:spcAft>
                <a:spcPts val="601"/>
              </a:spcAft>
              <a:tabLst>
                <a:tab pos="0" algn="l"/>
              </a:tabLst>
            </a:pPr>
            <a:r>
              <a:rPr lang="en-US" sz="1600" b="0" u="none" strike="noStrike">
                <a:solidFill>
                  <a:schemeClr val="dk1"/>
                </a:solidFill>
                <a:effectLst/>
                <a:uFillTx/>
                <a:latin typeface="Calibri"/>
              </a:rPr>
              <a:t>The target never changes: every model predicts the same full-panel WQI, so subset sizes are compared fairly.</a:t>
            </a:r>
            <a:endParaRPr lang="en-US" sz="1600" b="0" u="none" strike="noStrike">
              <a:solidFill>
                <a:srgbClr val="000000"/>
              </a:solidFill>
              <a:effectLst/>
              <a:uFillTx/>
              <a:latin typeface="Arial"/>
            </a:endParaRPr>
          </a:p>
        </p:txBody>
      </p:sp>
      <p:sp>
        <p:nvSpPr>
          <p:cNvPr id="68" name="PlaceHolder 2"/>
          <p:cNvSpPr>
            <a:spLocks noGrp="1"/>
          </p:cNvSpPr>
          <p:nvPr>
            <p:ph type="sldNum" idx="8"/>
          </p:nvPr>
        </p:nvSpPr>
        <p:spPr>
          <a:xfrm>
            <a:off x="11155680" y="644652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5"/>
                </a:solidFill>
                <a:effectLst/>
                <a:uFillTx/>
                <a:latin typeface="Calibri"/>
              </a:defRPr>
            </a:lvl1pPr>
          </a:lstStyle>
          <a:p>
            <a:pPr indent="0" algn="r" defTabSz="914400">
              <a:lnSpc>
                <a:spcPct val="100000"/>
              </a:lnSpc>
              <a:buNone/>
            </a:pPr>
            <a:fld id="{970A056B-CF13-420A-9BA4-94CA7ACDD96F}" type="slidenum">
              <a:rPr lang="en-US" sz="1000" b="0" u="none" strike="noStrike">
                <a:solidFill>
                  <a:schemeClr val="accent5"/>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PlaceHolder 1"/>
          <p:cNvSpPr>
            <a:spLocks noGrp="1"/>
          </p:cNvSpPr>
          <p:nvPr>
            <p:ph type="title" hasCustomPrompt="1"/>
          </p:nvPr>
        </p:nvSpPr>
        <p:spPr>
          <a:xfrm>
            <a:off x="548640" y="274320"/>
            <a:ext cx="11063880" cy="86832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1" u="none" strike="noStrike">
                <a:solidFill>
                  <a:schemeClr val="dk2"/>
                </a:solidFill>
                <a:effectLst/>
                <a:uFillTx/>
                <a:latin typeface="Cambria"/>
              </a:rPr>
              <a:t>Importance: pH › BOD › turbidity › DO › nitrate</a:t>
            </a:r>
            <a:endParaRPr lang="en-US" sz="3000" b="0" u="none" strike="noStrike">
              <a:solidFill>
                <a:schemeClr val="dk1"/>
              </a:solidFill>
              <a:effectLst/>
              <a:uFillTx/>
              <a:latin typeface="Calibri"/>
            </a:endParaRPr>
          </a:p>
        </p:txBody>
      </p:sp>
      <p:graphicFrame>
        <p:nvGraphicFramePr>
          <p:cNvPr id="70" name="Forward selection chart"/>
          <p:cNvGraphicFramePr/>
          <p:nvPr/>
        </p:nvGraphicFramePr>
        <p:xfrm>
          <a:off x="548640" y="1325880"/>
          <a:ext cx="6949080" cy="4845960"/>
        </p:xfrm>
        <a:graphic>
          <a:graphicData uri="http://schemas.openxmlformats.org/drawingml/2006/chart">
            <c:chart xmlns:c="http://schemas.openxmlformats.org/drawingml/2006/chart" xmlns:r="http://schemas.openxmlformats.org/officeDocument/2006/relationships" r:id="rId1"/>
          </a:graphicData>
        </a:graphic>
      </p:graphicFrame>
      <p:sp>
        <p:nvSpPr>
          <p:cNvPr id="71" name="Two param stat value"/>
          <p:cNvSpPr/>
          <p:nvPr/>
        </p:nvSpPr>
        <p:spPr>
          <a:xfrm>
            <a:off x="7863840" y="1417320"/>
            <a:ext cx="37486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chemeClr val="accent1"/>
                </a:solidFill>
                <a:effectLst/>
                <a:uFillTx/>
                <a:latin typeface="Cambria"/>
                <a:ea typeface="Cambria"/>
              </a:rPr>
              <a:t>0.94</a:t>
            </a:r>
            <a:endParaRPr lang="en-US" sz="4000" b="0" u="none" strike="noStrike">
              <a:solidFill>
                <a:srgbClr val="000000"/>
              </a:solidFill>
              <a:effectLst/>
              <a:uFillTx/>
              <a:latin typeface="Arial"/>
            </a:endParaRPr>
          </a:p>
        </p:txBody>
      </p:sp>
      <p:sp>
        <p:nvSpPr>
          <p:cNvPr id="72" name="Two param stat label"/>
          <p:cNvSpPr/>
          <p:nvPr/>
        </p:nvSpPr>
        <p:spPr>
          <a:xfrm>
            <a:off x="7863840" y="2194560"/>
            <a:ext cx="374868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1"/>
                </a:solidFill>
                <a:effectLst/>
                <a:uFillTx/>
                <a:latin typeface="Calibri"/>
              </a:rPr>
              <a:t>R² from pH and BOD alone</a:t>
            </a:r>
            <a:endParaRPr lang="en-US" sz="1400" b="0" u="none" strike="noStrike">
              <a:solidFill>
                <a:srgbClr val="000000"/>
              </a:solidFill>
              <a:effectLst/>
              <a:uFillTx/>
              <a:latin typeface="Arial"/>
            </a:endParaRPr>
          </a:p>
        </p:txBody>
      </p:sp>
      <p:sp>
        <p:nvSpPr>
          <p:cNvPr id="73" name="Drop column stat value"/>
          <p:cNvSpPr/>
          <p:nvPr/>
        </p:nvSpPr>
        <p:spPr>
          <a:xfrm>
            <a:off x="7863840" y="2788920"/>
            <a:ext cx="37486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chemeClr val="accent3"/>
                </a:solidFill>
                <a:effectLst/>
                <a:uFillTx/>
                <a:latin typeface="Cambria"/>
                <a:ea typeface="Cambria"/>
              </a:rPr>
              <a:t>0</a:t>
            </a:r>
            <a:endParaRPr lang="en-US" sz="4000" b="0" u="none" strike="noStrike">
              <a:solidFill>
                <a:srgbClr val="000000"/>
              </a:solidFill>
              <a:effectLst/>
              <a:uFillTx/>
              <a:latin typeface="Arial"/>
            </a:endParaRPr>
          </a:p>
        </p:txBody>
      </p:sp>
      <p:sp>
        <p:nvSpPr>
          <p:cNvPr id="74" name="Drop column stat label"/>
          <p:cNvSpPr/>
          <p:nvPr/>
        </p:nvSpPr>
        <p:spPr>
          <a:xfrm>
            <a:off x="7863840" y="3566160"/>
            <a:ext cx="374868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1"/>
                </a:solidFill>
                <a:effectLst/>
                <a:uFillTx/>
                <a:latin typeface="Calibri"/>
              </a:rPr>
              <a:t>R² lost when coliforms or EC are removed from the full model</a:t>
            </a:r>
            <a:endParaRPr lang="en-US" sz="1400" b="0" u="none" strike="noStrike">
              <a:solidFill>
                <a:srgbClr val="000000"/>
              </a:solidFill>
              <a:effectLst/>
              <a:uFillTx/>
              <a:latin typeface="Arial"/>
            </a:endParaRPr>
          </a:p>
        </p:txBody>
      </p:sp>
      <p:sp>
        <p:nvSpPr>
          <p:cNvPr id="75" name="Text 5"/>
          <p:cNvSpPr/>
          <p:nvPr/>
        </p:nvSpPr>
        <p:spPr>
          <a:xfrm>
            <a:off x="7863840" y="4343400"/>
            <a:ext cx="3748680" cy="1737000"/>
          </a:xfrm>
          <a:prstGeom prst="rect">
            <a:avLst/>
          </a:prstGeom>
          <a:noFill/>
          <a:ln w="0">
            <a:noFill/>
          </a:ln>
        </p:spPr>
        <p:style>
          <a:lnRef idx="0"/>
          <a:fillRef idx="0"/>
          <a:effectRef idx="0"/>
          <a:fontRef idx="minor"/>
        </p:style>
        <p:txBody>
          <a:bodyPr lIns="0" tIns="0" rIns="0" bIns="0" anchor="t">
            <a:noAutofit/>
          </a:bodyPr>
          <a:p>
            <a:pPr defTabSz="914400">
              <a:lnSpc>
                <a:spcPct val="100000"/>
              </a:lnSpc>
              <a:spcAft>
                <a:spcPts val="601"/>
              </a:spcAft>
              <a:tabLst>
                <a:tab pos="0" algn="l"/>
              </a:tabLst>
            </a:pPr>
            <a:r>
              <a:rPr lang="en-US" sz="1500" b="1" u="none" strike="noStrike">
                <a:solidFill>
                  <a:schemeClr val="dk1"/>
                </a:solidFill>
                <a:effectLst/>
                <a:uFillTx/>
                <a:latin typeface="Calibri"/>
              </a:rPr>
              <a:t>Correlation ≠ importance: </a:t>
            </a:r>
            <a:r>
              <a:rPr lang="en-US" sz="1500" b="0" u="none" strike="noStrike">
                <a:solidFill>
                  <a:schemeClr val="dk1"/>
                </a:solidFill>
                <a:effectLst/>
                <a:uFillTx/>
                <a:latin typeface="Calibri"/>
              </a:rPr>
              <a:t>the coliforms correlate with WQI (ρ ≈ 0.38) only because sewage raises BOD too. Seven methods agree on the order.</a:t>
            </a:r>
            <a:endParaRPr lang="en-US" sz="1500" b="0" u="none" strike="noStrike">
              <a:solidFill>
                <a:srgbClr val="000000"/>
              </a:solidFill>
              <a:effectLst/>
              <a:uFillTx/>
              <a:latin typeface="Arial"/>
            </a:endParaRPr>
          </a:p>
        </p:txBody>
      </p:sp>
      <p:sp>
        <p:nvSpPr>
          <p:cNvPr id="76" name="PlaceHolder 2"/>
          <p:cNvSpPr>
            <a:spLocks noGrp="1"/>
          </p:cNvSpPr>
          <p:nvPr>
            <p:ph type="sldNum" idx="9"/>
          </p:nvPr>
        </p:nvSpPr>
        <p:spPr>
          <a:xfrm>
            <a:off x="11155680" y="644652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5"/>
                </a:solidFill>
                <a:effectLst/>
                <a:uFillTx/>
                <a:latin typeface="Calibri"/>
              </a:defRPr>
            </a:lvl1pPr>
          </a:lstStyle>
          <a:p>
            <a:pPr indent="0" algn="r" defTabSz="914400">
              <a:lnSpc>
                <a:spcPct val="100000"/>
              </a:lnSpc>
              <a:buNone/>
            </a:pPr>
            <a:fld id="{794CF7B3-3879-43C7-A43D-CF5BF78A7422}" type="slidenum">
              <a:rPr lang="en-US" sz="1000" b="0" u="none" strike="noStrike">
                <a:solidFill>
                  <a:schemeClr val="accent5"/>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type="title" hasCustomPrompt="1"/>
          </p:nvPr>
        </p:nvSpPr>
        <p:spPr>
          <a:xfrm>
            <a:off x="548640" y="274320"/>
            <a:ext cx="11063880" cy="86832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1" u="none" strike="noStrike">
                <a:solidFill>
                  <a:schemeClr val="dk2"/>
                </a:solidFill>
                <a:effectLst/>
                <a:uFillTx/>
                <a:latin typeface="Cambria"/>
              </a:rPr>
              <a:t>Choosing the right parameters beats adding more</a:t>
            </a:r>
            <a:endParaRPr lang="en-US" sz="3000" b="0" u="none" strike="noStrike">
              <a:solidFill>
                <a:schemeClr val="dk1"/>
              </a:solidFill>
              <a:effectLst/>
              <a:uFillTx/>
              <a:latin typeface="Calibri"/>
            </a:endParaRPr>
          </a:p>
        </p:txBody>
      </p:sp>
      <p:pic>
        <p:nvPicPr>
          <p:cNvPr id="78" name="All subsets chart" descr="/home/mayank-tiwari/Projects/envi-project/figures/fig_comb_all_subsets.png"/>
          <p:cNvPicPr/>
          <p:nvPr/>
        </p:nvPicPr>
        <p:blipFill>
          <a:blip r:embed="rId1"/>
          <a:stretch/>
        </p:blipFill>
        <p:spPr>
          <a:xfrm>
            <a:off x="548640" y="1280160"/>
            <a:ext cx="7223400" cy="4552200"/>
          </a:xfrm>
          <a:prstGeom prst="rect">
            <a:avLst/>
          </a:prstGeom>
          <a:noFill/>
          <a:ln w="0">
            <a:noFill/>
          </a:ln>
        </p:spPr>
      </p:pic>
      <p:sp>
        <p:nvSpPr>
          <p:cNvPr id="79" name="Subset stat 1 value"/>
          <p:cNvSpPr/>
          <p:nvPr/>
        </p:nvSpPr>
        <p:spPr>
          <a:xfrm>
            <a:off x="8138160" y="1371600"/>
            <a:ext cx="347436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chemeClr val="accent1"/>
                </a:solidFill>
                <a:effectLst/>
                <a:uFillTx/>
                <a:latin typeface="Cambria"/>
                <a:ea typeface="Cambria"/>
              </a:rPr>
              <a:t>0.977</a:t>
            </a:r>
            <a:endParaRPr lang="en-US" sz="4000" b="0" u="none" strike="noStrike">
              <a:solidFill>
                <a:srgbClr val="000000"/>
              </a:solidFill>
              <a:effectLst/>
              <a:uFillTx/>
              <a:latin typeface="Arial"/>
            </a:endParaRPr>
          </a:p>
        </p:txBody>
      </p:sp>
      <p:sp>
        <p:nvSpPr>
          <p:cNvPr id="80" name="Subset stat 1 label"/>
          <p:cNvSpPr/>
          <p:nvPr/>
        </p:nvSpPr>
        <p:spPr>
          <a:xfrm>
            <a:off x="8138160" y="2148840"/>
            <a:ext cx="347436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1"/>
                </a:solidFill>
                <a:effectLst/>
                <a:uFillTx/>
                <a:latin typeface="Calibri"/>
              </a:rPr>
              <a:t>best 3-parameter set: pH, BOD, turbidity</a:t>
            </a:r>
            <a:endParaRPr lang="en-US" sz="1400" b="0" u="none" strike="noStrike">
              <a:solidFill>
                <a:srgbClr val="000000"/>
              </a:solidFill>
              <a:effectLst/>
              <a:uFillTx/>
              <a:latin typeface="Arial"/>
            </a:endParaRPr>
          </a:p>
        </p:txBody>
      </p:sp>
      <p:sp>
        <p:nvSpPr>
          <p:cNvPr id="81" name="Subset stat 2 value"/>
          <p:cNvSpPr/>
          <p:nvPr/>
        </p:nvSpPr>
        <p:spPr>
          <a:xfrm>
            <a:off x="8138160" y="2971800"/>
            <a:ext cx="347436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chemeClr val="accent3"/>
                </a:solidFill>
                <a:effectLst/>
                <a:uFillTx/>
                <a:latin typeface="Cambria"/>
                <a:ea typeface="Cambria"/>
              </a:rPr>
              <a:t>0.53</a:t>
            </a:r>
            <a:endParaRPr lang="en-US" sz="4000" b="0" u="none" strike="noStrike">
              <a:solidFill>
                <a:srgbClr val="000000"/>
              </a:solidFill>
              <a:effectLst/>
              <a:uFillTx/>
              <a:latin typeface="Arial"/>
            </a:endParaRPr>
          </a:p>
        </p:txBody>
      </p:sp>
      <p:sp>
        <p:nvSpPr>
          <p:cNvPr id="82" name="Subset stat 2 label"/>
          <p:cNvSpPr/>
          <p:nvPr/>
        </p:nvSpPr>
        <p:spPr>
          <a:xfrm>
            <a:off x="8138160" y="3749040"/>
            <a:ext cx="347436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1"/>
                </a:solidFill>
                <a:effectLst/>
                <a:uFillTx/>
                <a:latin typeface="Calibri"/>
              </a:rPr>
              <a:t>median 3-parameter set</a:t>
            </a:r>
            <a:endParaRPr lang="en-US" sz="1400" b="0" u="none" strike="noStrike">
              <a:solidFill>
                <a:srgbClr val="000000"/>
              </a:solidFill>
              <a:effectLst/>
              <a:uFillTx/>
              <a:latin typeface="Arial"/>
            </a:endParaRPr>
          </a:p>
        </p:txBody>
      </p:sp>
      <p:sp>
        <p:nvSpPr>
          <p:cNvPr id="83" name="Subset stat 3 value"/>
          <p:cNvSpPr/>
          <p:nvPr/>
        </p:nvSpPr>
        <p:spPr>
          <a:xfrm>
            <a:off x="8138160" y="4572000"/>
            <a:ext cx="347436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chemeClr val="dk2"/>
                </a:solidFill>
                <a:effectLst/>
                <a:uFillTx/>
                <a:latin typeface="Cambria"/>
                <a:ea typeface="Cambria"/>
              </a:rPr>
              <a:t>2nd / 56</a:t>
            </a:r>
            <a:endParaRPr lang="en-US" sz="4000" b="0" u="none" strike="noStrike">
              <a:solidFill>
                <a:srgbClr val="000000"/>
              </a:solidFill>
              <a:effectLst/>
              <a:uFillTx/>
              <a:latin typeface="Arial"/>
            </a:endParaRPr>
          </a:p>
        </p:txBody>
      </p:sp>
      <p:sp>
        <p:nvSpPr>
          <p:cNvPr id="84" name="Subset stat 3 label"/>
          <p:cNvSpPr/>
          <p:nvPr/>
        </p:nvSpPr>
        <p:spPr>
          <a:xfrm>
            <a:off x="8138160" y="5349240"/>
            <a:ext cx="347436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1"/>
                </a:solidFill>
                <a:effectLst/>
                <a:uFillTx/>
                <a:latin typeface="Calibri"/>
              </a:rPr>
              <a:t>rank of the planned S3 (pH, DO, BOD): R² 0.957</a:t>
            </a:r>
            <a:endParaRPr lang="en-US" sz="1400" b="0" u="none" strike="noStrike">
              <a:solidFill>
                <a:srgbClr val="000000"/>
              </a:solidFill>
              <a:effectLst/>
              <a:uFillTx/>
              <a:latin typeface="Arial"/>
            </a:endParaRPr>
          </a:p>
        </p:txBody>
      </p:sp>
      <p:sp>
        <p:nvSpPr>
          <p:cNvPr id="85" name="PlaceHolder 2"/>
          <p:cNvSpPr>
            <a:spLocks noGrp="1"/>
          </p:cNvSpPr>
          <p:nvPr>
            <p:ph type="sldNum" idx="10"/>
          </p:nvPr>
        </p:nvSpPr>
        <p:spPr>
          <a:xfrm>
            <a:off x="11155680" y="644652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5"/>
                </a:solidFill>
                <a:effectLst/>
                <a:uFillTx/>
                <a:latin typeface="Calibri"/>
              </a:defRPr>
            </a:lvl1pPr>
          </a:lstStyle>
          <a:p>
            <a:pPr indent="0" algn="r" defTabSz="914400">
              <a:lnSpc>
                <a:spcPct val="100000"/>
              </a:lnSpc>
              <a:buNone/>
            </a:pPr>
            <a:fld id="{EC361EDA-F61A-4C5B-BF7E-701FC7DA0A04}" type="slidenum">
              <a:rPr lang="en-US" sz="1000" b="0" u="none" strike="noStrike">
                <a:solidFill>
                  <a:schemeClr val="accent5"/>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type="title" hasCustomPrompt="1"/>
          </p:nvPr>
        </p:nvSpPr>
        <p:spPr>
          <a:xfrm>
            <a:off x="548640" y="274320"/>
            <a:ext cx="11063880" cy="86832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1" u="none" strike="noStrike">
                <a:solidFill>
                  <a:schemeClr val="dk2"/>
                </a:solidFill>
                <a:effectLst/>
                <a:uFillTx/>
                <a:latin typeface="Cambria"/>
              </a:rPr>
              <a:t>Machine learning clearly beats re-weighting the formula</a:t>
            </a:r>
            <a:endParaRPr lang="en-US" sz="3000" b="0" u="none" strike="noStrike">
              <a:solidFill>
                <a:schemeClr val="dk1"/>
              </a:solidFill>
              <a:effectLst/>
              <a:uFillTx/>
              <a:latin typeface="Calibri"/>
            </a:endParaRPr>
          </a:p>
        </p:txBody>
      </p:sp>
      <p:graphicFrame>
        <p:nvGraphicFramePr>
          <p:cNvPr id="87" name="ML versus formula chart"/>
          <p:cNvGraphicFramePr/>
          <p:nvPr/>
        </p:nvGraphicFramePr>
        <p:xfrm>
          <a:off x="548640" y="1325880"/>
          <a:ext cx="7497720" cy="4845960"/>
        </p:xfrm>
        <a:graphic>
          <a:graphicData uri="http://schemas.openxmlformats.org/drawingml/2006/chart">
            <c:chart xmlns:c="http://schemas.openxmlformats.org/drawingml/2006/chart" xmlns:r="http://schemas.openxmlformats.org/officeDocument/2006/relationships" r:id="rId1"/>
          </a:graphicData>
        </a:graphic>
      </p:graphicFrame>
      <p:sp>
        <p:nvSpPr>
          <p:cNvPr id="88" name="Text 1"/>
          <p:cNvSpPr/>
          <p:nvPr/>
        </p:nvSpPr>
        <p:spPr>
          <a:xfrm>
            <a:off x="8412480" y="1463040"/>
            <a:ext cx="3200040" cy="4663080"/>
          </a:xfrm>
          <a:prstGeom prst="rect">
            <a:avLst/>
          </a:prstGeom>
          <a:noFill/>
          <a:ln w="0">
            <a:noFill/>
          </a:ln>
        </p:spPr>
        <p:style>
          <a:lnRef idx="0"/>
          <a:fillRef idx="0"/>
          <a:effectRef idx="0"/>
          <a:fontRef idx="minor"/>
        </p:style>
        <p:txBody>
          <a:bodyPr lIns="0" tIns="0" rIns="0" bIns="0" anchor="t">
            <a:noAutofit/>
          </a:bodyPr>
          <a:p>
            <a:pPr marL="343080" indent="-343080" defTabSz="914400">
              <a:lnSpc>
                <a:spcPct val="100000"/>
              </a:lnSpc>
              <a:spcAft>
                <a:spcPts val="1001"/>
              </a:spcAft>
              <a:buClr>
                <a:srgbClr val="13293D"/>
              </a:buClr>
              <a:buFont typeface="Symbol" charset="2"/>
              <a:buChar char=""/>
            </a:pPr>
            <a:r>
              <a:rPr lang="en-US" sz="1500" b="0" u="none" strike="noStrike">
                <a:solidFill>
                  <a:schemeClr val="dk1"/>
                </a:solidFill>
                <a:effectLst/>
                <a:uFillTx/>
                <a:latin typeface="Calibri"/>
              </a:rPr>
              <a:t>XGBoost is best for every subset; RF, MLP and GPR are close behind</a:t>
            </a:r>
            <a:endParaRPr lang="en-US" sz="1500" b="0" u="none" strike="noStrike">
              <a:solidFill>
                <a:srgbClr val="000000"/>
              </a:solidFill>
              <a:effectLst/>
              <a:uFillTx/>
              <a:latin typeface="Arial"/>
            </a:endParaRPr>
          </a:p>
          <a:p>
            <a:pPr marL="343080" indent="-343080" defTabSz="914400">
              <a:lnSpc>
                <a:spcPct val="100000"/>
              </a:lnSpc>
              <a:spcAft>
                <a:spcPts val="1001"/>
              </a:spcAft>
              <a:buClr>
                <a:srgbClr val="13293D"/>
              </a:buClr>
              <a:buFont typeface="Symbol" charset="2"/>
              <a:buChar char=""/>
            </a:pPr>
            <a:r>
              <a:rPr lang="en-US" sz="1500" b="0" u="none" strike="noStrike">
                <a:solidFill>
                  <a:schemeClr val="dk1"/>
                </a:solidFill>
                <a:effectLst/>
                <a:uFillTx/>
                <a:latin typeface="Calibri"/>
              </a:rPr>
              <a:t>The subset matters far more than the model: for S3, flexible models span R² 0.934–0.957</a:t>
            </a:r>
            <a:endParaRPr lang="en-US" sz="1500" b="0" u="none" strike="noStrike">
              <a:solidFill>
                <a:srgbClr val="000000"/>
              </a:solidFill>
              <a:effectLst/>
              <a:uFillTx/>
              <a:latin typeface="Arial"/>
            </a:endParaRPr>
          </a:p>
          <a:p>
            <a:pPr marL="343080" indent="-343080" defTabSz="914400">
              <a:lnSpc>
                <a:spcPct val="100000"/>
              </a:lnSpc>
              <a:spcAft>
                <a:spcPts val="1001"/>
              </a:spcAft>
              <a:buClr>
                <a:srgbClr val="13293D"/>
              </a:buClr>
              <a:buFont typeface="Symbol" charset="2"/>
              <a:buChar char=""/>
            </a:pPr>
            <a:r>
              <a:rPr lang="en-US" sz="1500" b="0" u="none" strike="noStrike">
                <a:solidFill>
                  <a:schemeClr val="dk1"/>
                </a:solidFill>
                <a:effectLst/>
                <a:uFillTx/>
                <a:latin typeface="Calibri"/>
              </a:rPr>
              <a:t>Linear regression fails (R² ≈ 0.74): the capped sub-indices are piecewise-linear</a:t>
            </a:r>
            <a:endParaRPr lang="en-US" sz="1500" b="0" u="none" strike="noStrike">
              <a:solidFill>
                <a:srgbClr val="000000"/>
              </a:solidFill>
              <a:effectLst/>
              <a:uFillTx/>
              <a:latin typeface="Arial"/>
            </a:endParaRPr>
          </a:p>
          <a:p>
            <a:pPr marL="343080" indent="-343080" defTabSz="914400">
              <a:lnSpc>
                <a:spcPct val="100000"/>
              </a:lnSpc>
              <a:spcAft>
                <a:spcPts val="1001"/>
              </a:spcAft>
              <a:buClr>
                <a:srgbClr val="13293D"/>
              </a:buClr>
              <a:buFont typeface="Symbol" charset="2"/>
              <a:buChar char=""/>
            </a:pPr>
            <a:r>
              <a:rPr lang="en-US" sz="1500" b="0" u="none" strike="noStrike">
                <a:solidFill>
                  <a:schemeClr val="dk1"/>
                </a:solidFill>
                <a:effectLst/>
                <a:uFillTx/>
                <a:latin typeface="Calibri"/>
              </a:rPr>
              <a:t>The model learns the expected contribution of the missing parameters; the formula cannot</a:t>
            </a:r>
            <a:endParaRPr lang="en-US" sz="1500" b="0" u="none" strike="noStrike">
              <a:solidFill>
                <a:srgbClr val="000000"/>
              </a:solidFill>
              <a:effectLst/>
              <a:uFillTx/>
              <a:latin typeface="Arial"/>
            </a:endParaRPr>
          </a:p>
        </p:txBody>
      </p:sp>
      <p:sp>
        <p:nvSpPr>
          <p:cNvPr id="89" name="PlaceHolder 2"/>
          <p:cNvSpPr>
            <a:spLocks noGrp="1"/>
          </p:cNvSpPr>
          <p:nvPr>
            <p:ph type="sldNum" idx="11"/>
          </p:nvPr>
        </p:nvSpPr>
        <p:spPr>
          <a:xfrm>
            <a:off x="11155680" y="644652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5"/>
                </a:solidFill>
                <a:effectLst/>
                <a:uFillTx/>
                <a:latin typeface="Calibri"/>
              </a:defRPr>
            </a:lvl1pPr>
          </a:lstStyle>
          <a:p>
            <a:pPr indent="0" algn="r" defTabSz="914400">
              <a:lnSpc>
                <a:spcPct val="100000"/>
              </a:lnSpc>
              <a:buNone/>
            </a:pPr>
            <a:fld id="{32F31947-9E6C-4EB5-8F24-BD877D8687B1}" type="slidenum">
              <a:rPr lang="en-US" sz="1000" b="0" u="none" strike="noStrike">
                <a:solidFill>
                  <a:schemeClr val="accent5"/>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hasCustomPrompt="1"/>
          </p:nvPr>
        </p:nvSpPr>
        <p:spPr>
          <a:xfrm>
            <a:off x="548640" y="274320"/>
            <a:ext cx="11063880" cy="86832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1" u="none" strike="noStrike">
                <a:solidFill>
                  <a:schemeClr val="dk2"/>
                </a:solidFill>
                <a:effectLst/>
                <a:uFillTx/>
                <a:latin typeface="Cambria"/>
              </a:rPr>
              <a:t>Three parameters predict the WQI at unseen stations</a:t>
            </a:r>
            <a:endParaRPr lang="en-US" sz="3000" b="0" u="none" strike="noStrike">
              <a:solidFill>
                <a:schemeClr val="dk1"/>
              </a:solidFill>
              <a:effectLst/>
              <a:uFillTx/>
              <a:latin typeface="Calibri"/>
            </a:endParaRPr>
          </a:p>
        </p:txBody>
      </p:sp>
      <p:sp>
        <p:nvSpPr>
          <p:cNvPr id="91" name="Headline 1 value"/>
          <p:cNvSpPr/>
          <p:nvPr/>
        </p:nvSpPr>
        <p:spPr>
          <a:xfrm>
            <a:off x="548640" y="1325880"/>
            <a:ext cx="26514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chemeClr val="dk2"/>
                </a:solidFill>
                <a:effectLst/>
                <a:uFillTx/>
                <a:latin typeface="Cambria"/>
                <a:ea typeface="Cambria"/>
              </a:rPr>
              <a:t>0.957</a:t>
            </a:r>
            <a:endParaRPr lang="en-US" sz="4000" b="0" u="none" strike="noStrike">
              <a:solidFill>
                <a:srgbClr val="000000"/>
              </a:solidFill>
              <a:effectLst/>
              <a:uFillTx/>
              <a:latin typeface="Arial"/>
            </a:endParaRPr>
          </a:p>
        </p:txBody>
      </p:sp>
      <p:sp>
        <p:nvSpPr>
          <p:cNvPr id="92" name="Headline 1 label"/>
          <p:cNvSpPr/>
          <p:nvPr/>
        </p:nvSpPr>
        <p:spPr>
          <a:xfrm>
            <a:off x="548640" y="2103120"/>
            <a:ext cx="265140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1"/>
                </a:solidFill>
                <a:effectLst/>
                <a:uFillTx/>
                <a:latin typeface="Calibri"/>
              </a:rPr>
              <a:t>R² (NSE) for pH, DO, BOD</a:t>
            </a:r>
            <a:endParaRPr lang="en-US" sz="1400" b="0" u="none" strike="noStrike">
              <a:solidFill>
                <a:srgbClr val="000000"/>
              </a:solidFill>
              <a:effectLst/>
              <a:uFillTx/>
              <a:latin typeface="Arial"/>
            </a:endParaRPr>
          </a:p>
        </p:txBody>
      </p:sp>
      <p:sp>
        <p:nvSpPr>
          <p:cNvPr id="93" name="Headline 2 value"/>
          <p:cNvSpPr/>
          <p:nvPr/>
        </p:nvSpPr>
        <p:spPr>
          <a:xfrm>
            <a:off x="3383280" y="1325880"/>
            <a:ext cx="26514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chemeClr val="dk2"/>
                </a:solidFill>
                <a:effectLst/>
                <a:uFillTx/>
                <a:latin typeface="Cambria"/>
                <a:ea typeface="Cambria"/>
              </a:rPr>
              <a:t>2.9</a:t>
            </a:r>
            <a:endParaRPr lang="en-US" sz="4000" b="0" u="none" strike="noStrike">
              <a:solidFill>
                <a:srgbClr val="000000"/>
              </a:solidFill>
              <a:effectLst/>
              <a:uFillTx/>
              <a:latin typeface="Arial"/>
            </a:endParaRPr>
          </a:p>
        </p:txBody>
      </p:sp>
      <p:sp>
        <p:nvSpPr>
          <p:cNvPr id="94" name="Headline 2 label"/>
          <p:cNvSpPr/>
          <p:nvPr/>
        </p:nvSpPr>
        <p:spPr>
          <a:xfrm>
            <a:off x="3383280" y="2103120"/>
            <a:ext cx="265140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1"/>
                </a:solidFill>
                <a:effectLst/>
                <a:uFillTx/>
                <a:latin typeface="Calibri"/>
              </a:rPr>
              <a:t>RMSE in WQI points (target s.d. 14.1)</a:t>
            </a:r>
            <a:endParaRPr lang="en-US" sz="1400" b="0" u="none" strike="noStrike">
              <a:solidFill>
                <a:srgbClr val="000000"/>
              </a:solidFill>
              <a:effectLst/>
              <a:uFillTx/>
              <a:latin typeface="Arial"/>
            </a:endParaRPr>
          </a:p>
        </p:txBody>
      </p:sp>
      <p:sp>
        <p:nvSpPr>
          <p:cNvPr id="95" name="Headline 3 value"/>
          <p:cNvSpPr/>
          <p:nvPr/>
        </p:nvSpPr>
        <p:spPr>
          <a:xfrm>
            <a:off x="6217920" y="1325880"/>
            <a:ext cx="26514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chemeClr val="dk2"/>
                </a:solidFill>
                <a:effectLst/>
                <a:uFillTx/>
                <a:latin typeface="Cambria"/>
                <a:ea typeface="Cambria"/>
              </a:rPr>
              <a:t>90.6%</a:t>
            </a:r>
            <a:endParaRPr lang="en-US" sz="4000" b="0" u="none" strike="noStrike">
              <a:solidFill>
                <a:srgbClr val="000000"/>
              </a:solidFill>
              <a:effectLst/>
              <a:uFillTx/>
              <a:latin typeface="Arial"/>
            </a:endParaRPr>
          </a:p>
        </p:txBody>
      </p:sp>
      <p:sp>
        <p:nvSpPr>
          <p:cNvPr id="96" name="Headline 3 label"/>
          <p:cNvSpPr/>
          <p:nvPr/>
        </p:nvSpPr>
        <p:spPr>
          <a:xfrm>
            <a:off x="6217920" y="2103120"/>
            <a:ext cx="265140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1"/>
                </a:solidFill>
                <a:effectLst/>
                <a:uFillTx/>
                <a:latin typeface="Calibri"/>
              </a:rPr>
              <a:t>category accuracy (baseline 58%)</a:t>
            </a:r>
            <a:endParaRPr lang="en-US" sz="1400" b="0" u="none" strike="noStrike">
              <a:solidFill>
                <a:srgbClr val="000000"/>
              </a:solidFill>
              <a:effectLst/>
              <a:uFillTx/>
              <a:latin typeface="Arial"/>
            </a:endParaRPr>
          </a:p>
        </p:txBody>
      </p:sp>
      <p:sp>
        <p:nvSpPr>
          <p:cNvPr id="97" name="Headline 4 value"/>
          <p:cNvSpPr/>
          <p:nvPr/>
        </p:nvSpPr>
        <p:spPr>
          <a:xfrm>
            <a:off x="9052560" y="1325880"/>
            <a:ext cx="26514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chemeClr val="accent4"/>
                </a:solidFill>
                <a:effectLst/>
                <a:uFillTx/>
                <a:latin typeface="Cambria"/>
                <a:ea typeface="Cambria"/>
              </a:rPr>
              <a:t>0</a:t>
            </a:r>
            <a:endParaRPr lang="en-US" sz="4000" b="0" u="none" strike="noStrike">
              <a:solidFill>
                <a:srgbClr val="000000"/>
              </a:solidFill>
              <a:effectLst/>
              <a:uFillTx/>
              <a:latin typeface="Arial"/>
            </a:endParaRPr>
          </a:p>
        </p:txBody>
      </p:sp>
      <p:sp>
        <p:nvSpPr>
          <p:cNvPr id="98" name="Headline 4 label"/>
          <p:cNvSpPr/>
          <p:nvPr/>
        </p:nvSpPr>
        <p:spPr>
          <a:xfrm>
            <a:off x="9052560" y="2103120"/>
            <a:ext cx="265140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1"/>
                </a:solidFill>
                <a:effectLst/>
                <a:uFillTx/>
                <a:latin typeface="Calibri"/>
              </a:rPr>
              <a:t>visits off by two or more categories</a:t>
            </a:r>
            <a:endParaRPr lang="en-US" sz="1400" b="0" u="none" strike="noStrike">
              <a:solidFill>
                <a:srgbClr val="000000"/>
              </a:solidFill>
              <a:effectLst/>
              <a:uFillTx/>
              <a:latin typeface="Arial"/>
            </a:endParaRPr>
          </a:p>
        </p:txBody>
      </p:sp>
      <p:pic>
        <p:nvPicPr>
          <p:cNvPr id="99" name="Predicted versus true" descr="/home/mayank-tiwari/Projects/envi-project/figures/fig_models_pred_vs_true.png"/>
          <p:cNvPicPr/>
          <p:nvPr/>
        </p:nvPicPr>
        <p:blipFill>
          <a:blip r:embed="rId1"/>
          <a:stretch/>
        </p:blipFill>
        <p:spPr>
          <a:xfrm>
            <a:off x="822960" y="2880360"/>
            <a:ext cx="10515240" cy="3512160"/>
          </a:xfrm>
          <a:prstGeom prst="rect">
            <a:avLst/>
          </a:prstGeom>
          <a:noFill/>
          <a:ln w="0">
            <a:noFill/>
          </a:ln>
        </p:spPr>
      </p:pic>
      <p:sp>
        <p:nvSpPr>
          <p:cNvPr id="100" name="PlaceHolder 2"/>
          <p:cNvSpPr>
            <a:spLocks noGrp="1"/>
          </p:cNvSpPr>
          <p:nvPr>
            <p:ph type="sldNum" idx="12"/>
          </p:nvPr>
        </p:nvSpPr>
        <p:spPr>
          <a:xfrm>
            <a:off x="11155680" y="644652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5"/>
                </a:solidFill>
                <a:effectLst/>
                <a:uFillTx/>
                <a:latin typeface="Calibri"/>
              </a:defRPr>
            </a:lvl1pPr>
          </a:lstStyle>
          <a:p>
            <a:pPr indent="0" algn="r" defTabSz="914400">
              <a:lnSpc>
                <a:spcPct val="100000"/>
              </a:lnSpc>
              <a:buNone/>
            </a:pPr>
            <a:fld id="{AD9D5C14-8640-4889-8B9C-D78C08428ED3}" type="slidenum">
              <a:rPr lang="en-US" sz="1000" b="0" u="none" strike="noStrike">
                <a:solidFill>
                  <a:schemeClr val="accent5"/>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PlaceHolder 1"/>
          <p:cNvSpPr>
            <a:spLocks noGrp="1"/>
          </p:cNvSpPr>
          <p:nvPr>
            <p:ph type="title" hasCustomPrompt="1"/>
          </p:nvPr>
        </p:nvSpPr>
        <p:spPr>
          <a:xfrm>
            <a:off x="548640" y="274320"/>
            <a:ext cx="11063880" cy="86832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1" u="none" strike="noStrike">
                <a:solidFill>
                  <a:schemeClr val="dk2"/>
                </a:solidFill>
                <a:effectLst/>
                <a:uFillTx/>
                <a:latin typeface="Cambria"/>
              </a:rPr>
              <a:t>Models need ~25 training stations to beat the formula</a:t>
            </a:r>
            <a:endParaRPr lang="en-US" sz="3000" b="0" u="none" strike="noStrike">
              <a:solidFill>
                <a:schemeClr val="dk1"/>
              </a:solidFill>
              <a:effectLst/>
              <a:uFillTx/>
              <a:latin typeface="Calibri"/>
            </a:endParaRPr>
          </a:p>
        </p:txBody>
      </p:sp>
      <p:graphicFrame>
        <p:nvGraphicFramePr>
          <p:cNvPr id="102" name="Scarcity chart"/>
          <p:cNvGraphicFramePr/>
          <p:nvPr/>
        </p:nvGraphicFramePr>
        <p:xfrm>
          <a:off x="548640" y="1325880"/>
          <a:ext cx="7223400" cy="4845960"/>
        </p:xfrm>
        <a:graphic>
          <a:graphicData uri="http://schemas.openxmlformats.org/drawingml/2006/chart">
            <c:chart xmlns:c="http://schemas.openxmlformats.org/drawingml/2006/chart" xmlns:r="http://schemas.openxmlformats.org/officeDocument/2006/relationships" r:id="rId1"/>
          </a:graphicData>
        </a:graphic>
      </p:graphicFrame>
      <p:sp>
        <p:nvSpPr>
          <p:cNvPr id="103" name="Scarcity rule 1"/>
          <p:cNvSpPr/>
          <p:nvPr/>
        </p:nvSpPr>
        <p:spPr>
          <a:xfrm>
            <a:off x="8138160" y="1463040"/>
            <a:ext cx="3474360" cy="868320"/>
          </a:xfrm>
          <a:prstGeom prst="roundRect">
            <a:avLst>
              <a:gd name="adj" fmla="val 12632"/>
            </a:avLst>
          </a:prstGeom>
          <a:solidFill>
            <a:schemeClr val="bg2"/>
          </a:solidFill>
          <a:ln w="12700">
            <a:solidFill>
              <a:srgbClr val="E8F3F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4" name="Scarcity rule 1 badge"/>
          <p:cNvSpPr/>
          <p:nvPr/>
        </p:nvSpPr>
        <p:spPr>
          <a:xfrm>
            <a:off x="8275320" y="1691640"/>
            <a:ext cx="411120" cy="411120"/>
          </a:xfrm>
          <a:prstGeom prst="ellipse">
            <a:avLst/>
          </a:prstGeom>
          <a:solidFill>
            <a:schemeClr val="accent1"/>
          </a:solidFill>
          <a:ln w="12700">
            <a:solidFill>
              <a:srgbClr val="1A7F8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5" name="Scarcity rule 1 number"/>
          <p:cNvSpPr/>
          <p:nvPr/>
        </p:nvSpPr>
        <p:spPr>
          <a:xfrm>
            <a:off x="8275320" y="1691640"/>
            <a:ext cx="41112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chemeClr val="lt1"/>
                </a:solidFill>
                <a:effectLst/>
                <a:uFillTx/>
                <a:latin typeface="Calibri"/>
              </a:rPr>
              <a:t>1</a:t>
            </a:r>
            <a:endParaRPr lang="en-US" sz="1400" b="0" u="none" strike="noStrike">
              <a:solidFill>
                <a:srgbClr val="000000"/>
              </a:solidFill>
              <a:effectLst/>
              <a:uFillTx/>
              <a:latin typeface="Arial"/>
            </a:endParaRPr>
          </a:p>
        </p:txBody>
      </p:sp>
      <p:sp>
        <p:nvSpPr>
          <p:cNvPr id="106" name="Scarcity rule 1 text"/>
          <p:cNvSpPr/>
          <p:nvPr/>
        </p:nvSpPr>
        <p:spPr>
          <a:xfrm>
            <a:off x="8823960" y="1554480"/>
            <a:ext cx="269712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chemeClr val="dk2"/>
                </a:solidFill>
                <a:effectLst/>
                <a:uFillTx/>
                <a:latin typeface="Calibri"/>
              </a:rPr>
              <a:t>&lt; 25 stations</a:t>
            </a:r>
            <a:endParaRPr lang="en-US" sz="1500" b="0" u="none" strike="noStrike">
              <a:solidFill>
                <a:srgbClr val="000000"/>
              </a:solidFill>
              <a:effectLst/>
              <a:uFillTx/>
              <a:latin typeface="Arial"/>
            </a:endParaRPr>
          </a:p>
          <a:p>
            <a:pPr defTabSz="914400">
              <a:lnSpc>
                <a:spcPct val="100000"/>
              </a:lnSpc>
              <a:tabLst>
                <a:tab pos="0" algn="l"/>
              </a:tabLst>
            </a:pPr>
            <a:r>
              <a:rPr lang="en-US" sz="1500" b="0" u="none" strike="noStrike">
                <a:solidFill>
                  <a:schemeClr val="dk1"/>
                </a:solidFill>
                <a:effectLst/>
                <a:uFillTx/>
                <a:latin typeface="Calibri"/>
              </a:rPr>
              <a:t>use the formula</a:t>
            </a:r>
            <a:endParaRPr lang="en-US" sz="1500" b="0" u="none" strike="noStrike">
              <a:solidFill>
                <a:srgbClr val="000000"/>
              </a:solidFill>
              <a:effectLst/>
              <a:uFillTx/>
              <a:latin typeface="Arial"/>
            </a:endParaRPr>
          </a:p>
        </p:txBody>
      </p:sp>
      <p:sp>
        <p:nvSpPr>
          <p:cNvPr id="107" name="Scarcity rule 2"/>
          <p:cNvSpPr/>
          <p:nvPr/>
        </p:nvSpPr>
        <p:spPr>
          <a:xfrm>
            <a:off x="8138160" y="2514600"/>
            <a:ext cx="3474360" cy="868320"/>
          </a:xfrm>
          <a:prstGeom prst="roundRect">
            <a:avLst>
              <a:gd name="adj" fmla="val 12632"/>
            </a:avLst>
          </a:prstGeom>
          <a:solidFill>
            <a:schemeClr val="bg2"/>
          </a:solidFill>
          <a:ln w="12700">
            <a:solidFill>
              <a:srgbClr val="E8F3F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8" name="Scarcity rule 2 badge"/>
          <p:cNvSpPr/>
          <p:nvPr/>
        </p:nvSpPr>
        <p:spPr>
          <a:xfrm>
            <a:off x="8275320" y="2743200"/>
            <a:ext cx="411120" cy="411120"/>
          </a:xfrm>
          <a:prstGeom prst="ellipse">
            <a:avLst/>
          </a:prstGeom>
          <a:solidFill>
            <a:schemeClr val="accent1"/>
          </a:solidFill>
          <a:ln w="12700">
            <a:solidFill>
              <a:srgbClr val="1A7F8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9" name="Scarcity rule 2 number"/>
          <p:cNvSpPr/>
          <p:nvPr/>
        </p:nvSpPr>
        <p:spPr>
          <a:xfrm>
            <a:off x="8275320" y="2743200"/>
            <a:ext cx="41112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chemeClr val="lt1"/>
                </a:solidFill>
                <a:effectLst/>
                <a:uFillTx/>
                <a:latin typeface="Calibri"/>
              </a:rPr>
              <a:t>2</a:t>
            </a:r>
            <a:endParaRPr lang="en-US" sz="1400" b="0" u="none" strike="noStrike">
              <a:solidFill>
                <a:srgbClr val="000000"/>
              </a:solidFill>
              <a:effectLst/>
              <a:uFillTx/>
              <a:latin typeface="Arial"/>
            </a:endParaRPr>
          </a:p>
        </p:txBody>
      </p:sp>
      <p:sp>
        <p:nvSpPr>
          <p:cNvPr id="110" name="Scarcity rule 2 text"/>
          <p:cNvSpPr/>
          <p:nvPr/>
        </p:nvSpPr>
        <p:spPr>
          <a:xfrm>
            <a:off x="8823960" y="2606040"/>
            <a:ext cx="269712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chemeClr val="dk2"/>
                </a:solidFill>
                <a:effectLst/>
                <a:uFillTx/>
                <a:latin typeface="Calibri"/>
              </a:rPr>
              <a:t>25–100 stations</a:t>
            </a:r>
            <a:endParaRPr lang="en-US" sz="1500" b="0" u="none" strike="noStrike">
              <a:solidFill>
                <a:srgbClr val="000000"/>
              </a:solidFill>
              <a:effectLst/>
              <a:uFillTx/>
              <a:latin typeface="Arial"/>
            </a:endParaRPr>
          </a:p>
          <a:p>
            <a:pPr defTabSz="914400">
              <a:lnSpc>
                <a:spcPct val="100000"/>
              </a:lnSpc>
              <a:tabLst>
                <a:tab pos="0" algn="l"/>
              </a:tabLst>
            </a:pPr>
            <a:r>
              <a:rPr lang="en-US" sz="1500" b="0" u="none" strike="noStrike">
                <a:solidFill>
                  <a:schemeClr val="dk1"/>
                </a:solidFill>
                <a:effectLst/>
                <a:uFillTx/>
                <a:latin typeface="Calibri"/>
              </a:rPr>
              <a:t>Gaussian process</a:t>
            </a:r>
            <a:endParaRPr lang="en-US" sz="1500" b="0" u="none" strike="noStrike">
              <a:solidFill>
                <a:srgbClr val="000000"/>
              </a:solidFill>
              <a:effectLst/>
              <a:uFillTx/>
              <a:latin typeface="Arial"/>
            </a:endParaRPr>
          </a:p>
        </p:txBody>
      </p:sp>
      <p:sp>
        <p:nvSpPr>
          <p:cNvPr id="111" name="Scarcity rule 3"/>
          <p:cNvSpPr/>
          <p:nvPr/>
        </p:nvSpPr>
        <p:spPr>
          <a:xfrm>
            <a:off x="8138160" y="3566160"/>
            <a:ext cx="3474360" cy="868320"/>
          </a:xfrm>
          <a:prstGeom prst="roundRect">
            <a:avLst>
              <a:gd name="adj" fmla="val 12632"/>
            </a:avLst>
          </a:prstGeom>
          <a:solidFill>
            <a:schemeClr val="bg2"/>
          </a:solidFill>
          <a:ln w="12700">
            <a:solidFill>
              <a:srgbClr val="E8F3F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2" name="Scarcity rule 3 badge"/>
          <p:cNvSpPr/>
          <p:nvPr/>
        </p:nvSpPr>
        <p:spPr>
          <a:xfrm>
            <a:off x="8275320" y="3794760"/>
            <a:ext cx="411120" cy="411120"/>
          </a:xfrm>
          <a:prstGeom prst="ellipse">
            <a:avLst/>
          </a:prstGeom>
          <a:solidFill>
            <a:schemeClr val="accent1"/>
          </a:solidFill>
          <a:ln w="12700">
            <a:solidFill>
              <a:srgbClr val="1A7F8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3" name="Scarcity rule 3 number"/>
          <p:cNvSpPr/>
          <p:nvPr/>
        </p:nvSpPr>
        <p:spPr>
          <a:xfrm>
            <a:off x="8275320" y="3794760"/>
            <a:ext cx="41112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chemeClr val="lt1"/>
                </a:solidFill>
                <a:effectLst/>
                <a:uFillTx/>
                <a:latin typeface="Calibri"/>
              </a:rPr>
              <a:t>3</a:t>
            </a:r>
            <a:endParaRPr lang="en-US" sz="1400" b="0" u="none" strike="noStrike">
              <a:solidFill>
                <a:srgbClr val="000000"/>
              </a:solidFill>
              <a:effectLst/>
              <a:uFillTx/>
              <a:latin typeface="Arial"/>
            </a:endParaRPr>
          </a:p>
        </p:txBody>
      </p:sp>
      <p:sp>
        <p:nvSpPr>
          <p:cNvPr id="114" name="Scarcity rule 3 text"/>
          <p:cNvSpPr/>
          <p:nvPr/>
        </p:nvSpPr>
        <p:spPr>
          <a:xfrm>
            <a:off x="8823960" y="3657600"/>
            <a:ext cx="269712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chemeClr val="dk2"/>
                </a:solidFill>
                <a:effectLst/>
                <a:uFillTx/>
                <a:latin typeface="Calibri"/>
              </a:rPr>
              <a:t>&gt; 100 stations</a:t>
            </a:r>
            <a:endParaRPr lang="en-US" sz="1500" b="0" u="none" strike="noStrike">
              <a:solidFill>
                <a:srgbClr val="000000"/>
              </a:solidFill>
              <a:effectLst/>
              <a:uFillTx/>
              <a:latin typeface="Arial"/>
            </a:endParaRPr>
          </a:p>
          <a:p>
            <a:pPr defTabSz="914400">
              <a:lnSpc>
                <a:spcPct val="100000"/>
              </a:lnSpc>
              <a:tabLst>
                <a:tab pos="0" algn="l"/>
              </a:tabLst>
            </a:pPr>
            <a:r>
              <a:rPr lang="en-US" sz="1500" b="0" u="none" strike="noStrike">
                <a:solidFill>
                  <a:schemeClr val="dk1"/>
                </a:solidFill>
                <a:effectLst/>
                <a:uFillTx/>
                <a:latin typeface="Calibri"/>
              </a:rPr>
              <a:t>XGBoost</a:t>
            </a:r>
            <a:endParaRPr lang="en-US" sz="1500" b="0" u="none" strike="noStrike">
              <a:solidFill>
                <a:srgbClr val="000000"/>
              </a:solidFill>
              <a:effectLst/>
              <a:uFillTx/>
              <a:latin typeface="Arial"/>
            </a:endParaRPr>
          </a:p>
        </p:txBody>
      </p:sp>
      <p:sp>
        <p:nvSpPr>
          <p:cNvPr id="115" name="Text 13"/>
          <p:cNvSpPr/>
          <p:nvPr/>
        </p:nvSpPr>
        <p:spPr>
          <a:xfrm>
            <a:off x="8138160" y="4754880"/>
            <a:ext cx="3474360" cy="1371240"/>
          </a:xfrm>
          <a:prstGeom prst="rect">
            <a:avLst/>
          </a:prstGeom>
          <a:noFill/>
          <a:ln w="0">
            <a:noFill/>
          </a:ln>
        </p:spPr>
        <p:style>
          <a:lnRef idx="0"/>
          <a:fillRef idx="0"/>
          <a:effectRef idx="0"/>
          <a:fontRef idx="minor"/>
        </p:style>
        <p:txBody>
          <a:bodyPr lIns="0" tIns="0" rIns="0" bIns="0" anchor="t">
            <a:noAutofit/>
          </a:bodyPr>
          <a:p>
            <a:pPr defTabSz="914400">
              <a:lnSpc>
                <a:spcPct val="100000"/>
              </a:lnSpc>
              <a:spcAft>
                <a:spcPts val="601"/>
              </a:spcAft>
              <a:tabLst>
                <a:tab pos="0" algn="l"/>
              </a:tabLst>
            </a:pPr>
            <a:r>
              <a:rPr lang="en-US" sz="1400" b="0" u="none" strike="noStrike">
                <a:solidFill>
                  <a:schemeClr val="dk1"/>
                </a:solidFill>
                <a:effectLst/>
                <a:uFillTx/>
                <a:latin typeface="Calibri"/>
              </a:rPr>
              <a:t>Neural networks fail when data are scarce (R² &lt; 0 with 9 stations). Extra parameters only pay off beyond about 50 stations.</a:t>
            </a:r>
            <a:endParaRPr lang="en-US" sz="1400" b="0" u="none" strike="noStrike">
              <a:solidFill>
                <a:srgbClr val="000000"/>
              </a:solidFill>
              <a:effectLst/>
              <a:uFillTx/>
              <a:latin typeface="Arial"/>
            </a:endParaRPr>
          </a:p>
        </p:txBody>
      </p:sp>
      <p:sp>
        <p:nvSpPr>
          <p:cNvPr id="116" name="PlaceHolder 2"/>
          <p:cNvSpPr>
            <a:spLocks noGrp="1"/>
          </p:cNvSpPr>
          <p:nvPr>
            <p:ph type="sldNum" idx="13"/>
          </p:nvPr>
        </p:nvSpPr>
        <p:spPr>
          <a:xfrm>
            <a:off x="11155680" y="644652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5"/>
                </a:solidFill>
                <a:effectLst/>
                <a:uFillTx/>
                <a:latin typeface="Calibri"/>
              </a:defRPr>
            </a:lvl1pPr>
          </a:lstStyle>
          <a:p>
            <a:pPr indent="0" algn="r" defTabSz="914400">
              <a:lnSpc>
                <a:spcPct val="100000"/>
              </a:lnSpc>
              <a:buNone/>
            </a:pPr>
            <a:fld id="{FE79670B-5870-41FE-8B34-C0F275379344}" type="slidenum">
              <a:rPr lang="en-US" sz="1000" b="0" u="none" strike="noStrike">
                <a:solidFill>
                  <a:schemeClr val="accent5"/>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 name="PlaceHolder 1"/>
          <p:cNvSpPr>
            <a:spLocks noGrp="1"/>
          </p:cNvSpPr>
          <p:nvPr>
            <p:ph type="title" hasCustomPrompt="1"/>
          </p:nvPr>
        </p:nvSpPr>
        <p:spPr>
          <a:xfrm>
            <a:off x="548640" y="274320"/>
            <a:ext cx="11063880" cy="86832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1" u="none" strike="noStrike">
                <a:solidFill>
                  <a:schemeClr val="dk2"/>
                </a:solidFill>
                <a:effectLst/>
                <a:uFillTx/>
                <a:latin typeface="Cambria"/>
              </a:rPr>
              <a:t>Calibrated intervals; pH precision matters most</a:t>
            </a:r>
            <a:endParaRPr lang="en-US" sz="3000" b="0" u="none" strike="noStrike">
              <a:solidFill>
                <a:schemeClr val="dk1"/>
              </a:solidFill>
              <a:effectLst/>
              <a:uFillTx/>
              <a:latin typeface="Calibri"/>
            </a:endParaRPr>
          </a:p>
        </p:txBody>
      </p:sp>
      <p:sp>
        <p:nvSpPr>
          <p:cNvPr id="118" name="Uncertainty card"/>
          <p:cNvSpPr/>
          <p:nvPr/>
        </p:nvSpPr>
        <p:spPr>
          <a:xfrm>
            <a:off x="548640" y="1325880"/>
            <a:ext cx="4205880" cy="4800240"/>
          </a:xfrm>
          <a:prstGeom prst="roundRect">
            <a:avLst>
              <a:gd name="adj" fmla="val 2609"/>
            </a:avLst>
          </a:prstGeom>
          <a:solidFill>
            <a:schemeClr val="bg2"/>
          </a:solidFill>
          <a:ln w="12700">
            <a:solidFill>
              <a:srgbClr val="E8F3F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9" name="Uncertainty heading"/>
          <p:cNvSpPr/>
          <p:nvPr/>
        </p:nvSpPr>
        <p:spPr>
          <a:xfrm>
            <a:off x="777240" y="1463040"/>
            <a:ext cx="37486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chemeClr val="dk2"/>
                </a:solidFill>
                <a:effectLst/>
                <a:uFillTx/>
                <a:latin typeface="Calibri"/>
              </a:rPr>
              <a:t>Split-conformal 90% intervals</a:t>
            </a:r>
            <a:endParaRPr lang="en-US" sz="1700" b="0" u="none" strike="noStrike">
              <a:solidFill>
                <a:srgbClr val="000000"/>
              </a:solidFill>
              <a:effectLst/>
              <a:uFillTx/>
              <a:latin typeface="Arial"/>
            </a:endParaRPr>
          </a:p>
        </p:txBody>
      </p:sp>
      <p:sp>
        <p:nvSpPr>
          <p:cNvPr id="120" name="Coverage value"/>
          <p:cNvSpPr/>
          <p:nvPr/>
        </p:nvSpPr>
        <p:spPr>
          <a:xfrm>
            <a:off x="777240" y="1965960"/>
            <a:ext cx="37486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chemeClr val="accent1"/>
                </a:solidFill>
                <a:effectLst/>
                <a:uFillTx/>
                <a:latin typeface="Cambria"/>
                <a:ea typeface="Cambria"/>
              </a:rPr>
              <a:t>90.3%</a:t>
            </a:r>
            <a:endParaRPr lang="en-US" sz="4000" b="0" u="none" strike="noStrike">
              <a:solidFill>
                <a:srgbClr val="000000"/>
              </a:solidFill>
              <a:effectLst/>
              <a:uFillTx/>
              <a:latin typeface="Arial"/>
            </a:endParaRPr>
          </a:p>
        </p:txBody>
      </p:sp>
      <p:sp>
        <p:nvSpPr>
          <p:cNvPr id="121" name="Coverage label"/>
          <p:cNvSpPr/>
          <p:nvPr/>
        </p:nvSpPr>
        <p:spPr>
          <a:xfrm>
            <a:off x="777240" y="2743200"/>
            <a:ext cx="374868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1"/>
                </a:solidFill>
                <a:effectLst/>
                <a:uFillTx/>
                <a:latin typeface="Calibri"/>
              </a:rPr>
              <a:t>empirical coverage on unseen stations (S3)</a:t>
            </a:r>
            <a:endParaRPr lang="en-US" sz="1400" b="0" u="none" strike="noStrike">
              <a:solidFill>
                <a:srgbClr val="000000"/>
              </a:solidFill>
              <a:effectLst/>
              <a:uFillTx/>
              <a:latin typeface="Arial"/>
            </a:endParaRPr>
          </a:p>
        </p:txBody>
      </p:sp>
      <p:sp>
        <p:nvSpPr>
          <p:cNvPr id="122" name="Half width value"/>
          <p:cNvSpPr/>
          <p:nvPr/>
        </p:nvSpPr>
        <p:spPr>
          <a:xfrm>
            <a:off x="777240" y="3337560"/>
            <a:ext cx="37486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chemeClr val="dk2"/>
                </a:solidFill>
                <a:effectLst/>
                <a:uFillTx/>
                <a:latin typeface="Cambria"/>
                <a:ea typeface="Cambria"/>
              </a:rPr>
              <a:t>± 4.7</a:t>
            </a:r>
            <a:endParaRPr lang="en-US" sz="4000" b="0" u="none" strike="noStrike">
              <a:solidFill>
                <a:srgbClr val="000000"/>
              </a:solidFill>
              <a:effectLst/>
              <a:uFillTx/>
              <a:latin typeface="Arial"/>
            </a:endParaRPr>
          </a:p>
        </p:txBody>
      </p:sp>
      <p:sp>
        <p:nvSpPr>
          <p:cNvPr id="123" name="Half width label"/>
          <p:cNvSpPr/>
          <p:nvPr/>
        </p:nvSpPr>
        <p:spPr>
          <a:xfrm>
            <a:off x="777240" y="4114800"/>
            <a:ext cx="374868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1"/>
                </a:solidFill>
                <a:effectLst/>
                <a:uFillTx/>
                <a:latin typeface="Calibri"/>
              </a:rPr>
              <a:t>WQI points for S3; ± 1.6 for S7</a:t>
            </a:r>
            <a:endParaRPr lang="en-US" sz="1400" b="0" u="none" strike="noStrike">
              <a:solidFill>
                <a:srgbClr val="000000"/>
              </a:solidFill>
              <a:effectLst/>
              <a:uFillTx/>
              <a:latin typeface="Arial"/>
            </a:endParaRPr>
          </a:p>
        </p:txBody>
      </p:sp>
      <p:sp>
        <p:nvSpPr>
          <p:cNvPr id="124" name="Text 7"/>
          <p:cNvSpPr/>
          <p:nvPr/>
        </p:nvSpPr>
        <p:spPr>
          <a:xfrm>
            <a:off x="777240" y="4754880"/>
            <a:ext cx="3748680" cy="1188360"/>
          </a:xfrm>
          <a:prstGeom prst="rect">
            <a:avLst/>
          </a:prstGeom>
          <a:noFill/>
          <a:ln w="0">
            <a:noFill/>
          </a:ln>
        </p:spPr>
        <p:style>
          <a:lnRef idx="0"/>
          <a:fillRef idx="0"/>
          <a:effectRef idx="0"/>
          <a:fontRef idx="minor"/>
        </p:style>
        <p:txBody>
          <a:bodyPr lIns="0" tIns="0" rIns="0" bIns="0" anchor="t">
            <a:noAutofit/>
          </a:bodyPr>
          <a:p>
            <a:pPr defTabSz="914400">
              <a:lnSpc>
                <a:spcPct val="100000"/>
              </a:lnSpc>
              <a:spcAft>
                <a:spcPts val="601"/>
              </a:spcAft>
              <a:tabLst>
                <a:tab pos="0" algn="l"/>
              </a:tabLst>
            </a:pPr>
            <a:r>
              <a:rPr lang="en-US" sz="1400" b="0" u="none" strike="noStrike">
                <a:solidFill>
                  <a:schemeClr val="dk1"/>
                </a:solidFill>
                <a:effectLst/>
                <a:uFillTx/>
                <a:latin typeface="Calibri"/>
              </a:rPr>
              <a:t>62% of visits get an interval inside a single category; the rest are flagged “category uncertain”.</a:t>
            </a:r>
            <a:endParaRPr lang="en-US" sz="1400" b="0" u="none" strike="noStrike">
              <a:solidFill>
                <a:srgbClr val="000000"/>
              </a:solidFill>
              <a:effectLst/>
              <a:uFillTx/>
              <a:latin typeface="Arial"/>
            </a:endParaRPr>
          </a:p>
        </p:txBody>
      </p:sp>
      <p:graphicFrame>
        <p:nvGraphicFramePr>
          <p:cNvPr id="125" name="Noise chart"/>
          <p:cNvGraphicFramePr/>
          <p:nvPr/>
        </p:nvGraphicFramePr>
        <p:xfrm>
          <a:off x="5120640" y="1325880"/>
          <a:ext cx="6491880" cy="4845960"/>
        </p:xfrm>
        <a:graphic>
          <a:graphicData uri="http://schemas.openxmlformats.org/drawingml/2006/chart">
            <c:chart xmlns:c="http://schemas.openxmlformats.org/drawingml/2006/chart" xmlns:r="http://schemas.openxmlformats.org/officeDocument/2006/relationships" r:id="rId1"/>
          </a:graphicData>
        </a:graphic>
      </p:graphicFrame>
      <p:sp>
        <p:nvSpPr>
          <p:cNvPr id="126" name="PlaceHolder 2"/>
          <p:cNvSpPr>
            <a:spLocks noGrp="1"/>
          </p:cNvSpPr>
          <p:nvPr>
            <p:ph type="sldNum" idx="14"/>
          </p:nvPr>
        </p:nvSpPr>
        <p:spPr>
          <a:xfrm>
            <a:off x="11155680" y="644652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5"/>
                </a:solidFill>
                <a:effectLst/>
                <a:uFillTx/>
                <a:latin typeface="Calibri"/>
              </a:defRPr>
            </a:lvl1pPr>
          </a:lstStyle>
          <a:p>
            <a:pPr indent="0" algn="r" defTabSz="914400">
              <a:lnSpc>
                <a:spcPct val="100000"/>
              </a:lnSpc>
              <a:buNone/>
            </a:pPr>
            <a:fld id="{57F669A7-8A57-40B0-A0B5-1171AABD9C3E}" type="slidenum">
              <a:rPr lang="en-US" sz="1000" b="0" u="none" strike="noStrike">
                <a:solidFill>
                  <a:schemeClr val="accent5"/>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PlaceHolder 1"/>
          <p:cNvSpPr>
            <a:spLocks noGrp="1"/>
          </p:cNvSpPr>
          <p:nvPr>
            <p:ph type="title" hasCustomPrompt="1"/>
          </p:nvPr>
        </p:nvSpPr>
        <p:spPr>
          <a:xfrm>
            <a:off x="548640" y="274320"/>
            <a:ext cx="11063880" cy="86832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1" u="none" strike="noStrike">
                <a:solidFill>
                  <a:schemeClr val="dk2"/>
                </a:solidFill>
                <a:effectLst/>
                <a:uFillTx/>
                <a:latin typeface="Cambria"/>
              </a:rPr>
              <a:t>Which panel works depends on the index definition</a:t>
            </a:r>
            <a:endParaRPr lang="en-US" sz="3000" b="0" u="none" strike="noStrike">
              <a:solidFill>
                <a:schemeClr val="dk1"/>
              </a:solidFill>
              <a:effectLst/>
              <a:uFillTx/>
              <a:latin typeface="Calibri"/>
            </a:endParaRPr>
          </a:p>
        </p:txBody>
      </p:sp>
      <p:graphicFrame>
        <p:nvGraphicFramePr>
          <p:cNvPr id="128" name="Sensitivity chart"/>
          <p:cNvGraphicFramePr/>
          <p:nvPr/>
        </p:nvGraphicFramePr>
        <p:xfrm>
          <a:off x="548640" y="1325880"/>
          <a:ext cx="7314840" cy="4845960"/>
        </p:xfrm>
        <a:graphic>
          <a:graphicData uri="http://schemas.openxmlformats.org/drawingml/2006/chart">
            <c:chart xmlns:c="http://schemas.openxmlformats.org/drawingml/2006/chart" xmlns:r="http://schemas.openxmlformats.org/officeDocument/2006/relationships" r:id="rId1"/>
          </a:graphicData>
        </a:graphic>
      </p:graphicFrame>
      <p:sp>
        <p:nvSpPr>
          <p:cNvPr id="129" name="Text 1"/>
          <p:cNvSpPr/>
          <p:nvPr/>
        </p:nvSpPr>
        <p:spPr>
          <a:xfrm>
            <a:off x="8229600" y="1463040"/>
            <a:ext cx="3382920" cy="4663080"/>
          </a:xfrm>
          <a:prstGeom prst="rect">
            <a:avLst/>
          </a:prstGeom>
          <a:noFill/>
          <a:ln w="0">
            <a:noFill/>
          </a:ln>
        </p:spPr>
        <p:style>
          <a:lnRef idx="0"/>
          <a:fillRef idx="0"/>
          <a:effectRef idx="0"/>
          <a:fontRef idx="minor"/>
        </p:style>
        <p:txBody>
          <a:bodyPr lIns="0" tIns="0" rIns="0" bIns="0" anchor="t">
            <a:noAutofit/>
          </a:bodyPr>
          <a:p>
            <a:pPr marL="343080" indent="-343080" defTabSz="914400">
              <a:lnSpc>
                <a:spcPct val="100000"/>
              </a:lnSpc>
              <a:spcAft>
                <a:spcPts val="1001"/>
              </a:spcAft>
              <a:buClr>
                <a:srgbClr val="13293D"/>
              </a:buClr>
              <a:buFont typeface="Symbol" charset="2"/>
              <a:buChar char=""/>
            </a:pPr>
            <a:r>
              <a:rPr lang="en-US" sz="1500" b="0" u="none" strike="noStrike">
                <a:solidFill>
                  <a:schemeClr val="dk1"/>
                </a:solidFill>
                <a:effectLst/>
                <a:uFillTx/>
                <a:latin typeface="Calibri"/>
              </a:rPr>
              <a:t>Equal weights shift importance to the coliforms (52%) and turbidity (18%)</a:t>
            </a:r>
            <a:endParaRPr lang="en-US" sz="1500" b="0" u="none" strike="noStrike">
              <a:solidFill>
                <a:srgbClr val="000000"/>
              </a:solidFill>
              <a:effectLst/>
              <a:uFillTx/>
              <a:latin typeface="Arial"/>
            </a:endParaRPr>
          </a:p>
          <a:p>
            <a:pPr marL="343080" indent="-343080" defTabSz="914400">
              <a:lnSpc>
                <a:spcPct val="100000"/>
              </a:lnSpc>
              <a:spcAft>
                <a:spcPts val="1001"/>
              </a:spcAft>
              <a:buClr>
                <a:srgbClr val="13293D"/>
              </a:buClr>
              <a:buFont typeface="Symbol" charset="2"/>
              <a:buChar char=""/>
            </a:pPr>
            <a:r>
              <a:rPr lang="en-US" sz="1500" b="0" u="none" strike="noStrike">
                <a:solidFill>
                  <a:schemeClr val="dk1"/>
                </a:solidFill>
                <a:effectLst/>
                <a:uFillTx/>
                <a:latin typeface="Calibri"/>
              </a:rPr>
              <a:t>Uncapped index: S3 R² 0.37, but pH + BOD + turbidity reaches 0.98</a:t>
            </a:r>
            <a:endParaRPr lang="en-US" sz="1500" b="0" u="none" strike="noStrike">
              <a:solidFill>
                <a:srgbClr val="000000"/>
              </a:solidFill>
              <a:effectLst/>
              <a:uFillTx/>
              <a:latin typeface="Arial"/>
            </a:endParaRPr>
          </a:p>
          <a:p>
            <a:pPr marL="343080" indent="-343080" defTabSz="914400">
              <a:lnSpc>
                <a:spcPct val="100000"/>
              </a:lnSpc>
              <a:spcAft>
                <a:spcPts val="1001"/>
              </a:spcAft>
              <a:buClr>
                <a:srgbClr val="13293D"/>
              </a:buClr>
              <a:buFont typeface="Symbol" charset="2"/>
              <a:buChar char=""/>
            </a:pPr>
            <a:r>
              <a:rPr lang="en-US" sz="1500" b="0" u="none" strike="noStrike">
                <a:solidFill>
                  <a:schemeClr val="dk1"/>
                </a:solidFill>
                <a:effectLst/>
                <a:uFillTx/>
                <a:latin typeface="Calibri"/>
              </a:rPr>
              <a:t>EC standard 250–4,000 µS/cm changes ≤ 0.35% of categories</a:t>
            </a:r>
            <a:endParaRPr lang="en-US" sz="1500" b="0" u="none" strike="noStrike">
              <a:solidFill>
                <a:srgbClr val="000000"/>
              </a:solidFill>
              <a:effectLst/>
              <a:uFillTx/>
              <a:latin typeface="Arial"/>
            </a:endParaRPr>
          </a:p>
          <a:p>
            <a:pPr marL="343080" indent="-343080" defTabSz="914400">
              <a:lnSpc>
                <a:spcPct val="100000"/>
              </a:lnSpc>
              <a:spcAft>
                <a:spcPts val="1001"/>
              </a:spcAft>
              <a:buClr>
                <a:srgbClr val="13293D"/>
              </a:buClr>
              <a:buFont typeface="Symbol" charset="2"/>
              <a:buChar char=""/>
            </a:pPr>
            <a:r>
              <a:rPr lang="en-US" sz="1500" b="0" u="none" strike="noStrike">
                <a:solidFill>
                  <a:schemeClr val="dk1"/>
                </a:solidFill>
                <a:effectLst/>
                <a:uFillTx/>
                <a:latin typeface="Calibri"/>
              </a:rPr>
              <a:t>S7 is the only panel robust to every definition</a:t>
            </a:r>
            <a:endParaRPr lang="en-US" sz="1500" b="0" u="none" strike="noStrike">
              <a:solidFill>
                <a:srgbClr val="000000"/>
              </a:solidFill>
              <a:effectLst/>
              <a:uFillTx/>
              <a:latin typeface="Arial"/>
            </a:endParaRPr>
          </a:p>
        </p:txBody>
      </p:sp>
      <p:sp>
        <p:nvSpPr>
          <p:cNvPr id="130" name="PlaceHolder 2"/>
          <p:cNvSpPr>
            <a:spLocks noGrp="1"/>
          </p:cNvSpPr>
          <p:nvPr>
            <p:ph type="sldNum" idx="15"/>
          </p:nvPr>
        </p:nvSpPr>
        <p:spPr>
          <a:xfrm>
            <a:off x="11155680" y="644652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5"/>
                </a:solidFill>
                <a:effectLst/>
                <a:uFillTx/>
                <a:latin typeface="Calibri"/>
              </a:defRPr>
            </a:lvl1pPr>
          </a:lstStyle>
          <a:p>
            <a:pPr indent="0" algn="r" defTabSz="914400">
              <a:lnSpc>
                <a:spcPct val="100000"/>
              </a:lnSpc>
              <a:buNone/>
            </a:pPr>
            <a:fld id="{D825F48D-FAE2-4063-AA47-1086EDE5E051}" type="slidenum">
              <a:rPr lang="en-US" sz="1000" b="0" u="none" strike="noStrike">
                <a:solidFill>
                  <a:schemeClr val="accent5"/>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 name="PlaceHolder 1"/>
          <p:cNvSpPr>
            <a:spLocks noGrp="1"/>
          </p:cNvSpPr>
          <p:nvPr>
            <p:ph type="title" hasCustomPrompt="1"/>
          </p:nvPr>
        </p:nvSpPr>
        <p:spPr>
          <a:xfrm>
            <a:off x="548640" y="274320"/>
            <a:ext cx="11063880" cy="86832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1" u="none" strike="noStrike">
                <a:solidFill>
                  <a:schemeClr val="dk2"/>
                </a:solidFill>
                <a:effectLst/>
                <a:uFillTx/>
                <a:latin typeface="Cambria"/>
              </a:rPr>
              <a:t>Deployment: first full-panel WQI for 255 stations</a:t>
            </a:r>
            <a:endParaRPr lang="en-US" sz="3000" b="0" u="none" strike="noStrike">
              <a:solidFill>
                <a:schemeClr val="dk1"/>
              </a:solidFill>
              <a:effectLst/>
              <a:uFillTx/>
              <a:latin typeface="Calibri"/>
            </a:endParaRPr>
          </a:p>
        </p:txBody>
      </p:sp>
      <p:sp>
        <p:nvSpPr>
          <p:cNvPr id="132" name="Deployment stat 1 value"/>
          <p:cNvSpPr/>
          <p:nvPr/>
        </p:nvSpPr>
        <p:spPr>
          <a:xfrm>
            <a:off x="548640" y="1325880"/>
            <a:ext cx="365724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chemeClr val="dk2"/>
                </a:solidFill>
                <a:effectLst/>
                <a:uFillTx/>
                <a:latin typeface="Cambria"/>
                <a:ea typeface="Cambria"/>
              </a:rPr>
              <a:t>20,132</a:t>
            </a:r>
            <a:endParaRPr lang="en-US" sz="4000" b="0" u="none" strike="noStrike">
              <a:solidFill>
                <a:srgbClr val="000000"/>
              </a:solidFill>
              <a:effectLst/>
              <a:uFillTx/>
              <a:latin typeface="Arial"/>
            </a:endParaRPr>
          </a:p>
        </p:txBody>
      </p:sp>
      <p:sp>
        <p:nvSpPr>
          <p:cNvPr id="133" name="Deployment stat 1 label"/>
          <p:cNvSpPr/>
          <p:nvPr/>
        </p:nvSpPr>
        <p:spPr>
          <a:xfrm>
            <a:off x="548640" y="2103120"/>
            <a:ext cx="36572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1"/>
                </a:solidFill>
                <a:effectLst/>
                <a:uFillTx/>
                <a:latin typeface="Calibri"/>
              </a:rPr>
              <a:t>visits reconstructed (2018–2021)</a:t>
            </a:r>
            <a:endParaRPr lang="en-US" sz="1400" b="0" u="none" strike="noStrike">
              <a:solidFill>
                <a:srgbClr val="000000"/>
              </a:solidFill>
              <a:effectLst/>
              <a:uFillTx/>
              <a:latin typeface="Arial"/>
            </a:endParaRPr>
          </a:p>
        </p:txBody>
      </p:sp>
      <p:sp>
        <p:nvSpPr>
          <p:cNvPr id="134" name="Deployment stat 2 value"/>
          <p:cNvSpPr/>
          <p:nvPr/>
        </p:nvSpPr>
        <p:spPr>
          <a:xfrm>
            <a:off x="548640" y="2743200"/>
            <a:ext cx="365724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chemeClr val="accent1"/>
                </a:solidFill>
                <a:effectLst/>
                <a:uFillTx/>
                <a:latin typeface="Cambria"/>
                <a:ea typeface="Cambria"/>
              </a:rPr>
              <a:t>255</a:t>
            </a:r>
            <a:endParaRPr lang="en-US" sz="4000" b="0" u="none" strike="noStrike">
              <a:solidFill>
                <a:srgbClr val="000000"/>
              </a:solidFill>
              <a:effectLst/>
              <a:uFillTx/>
              <a:latin typeface="Arial"/>
            </a:endParaRPr>
          </a:p>
        </p:txBody>
      </p:sp>
      <p:sp>
        <p:nvSpPr>
          <p:cNvPr id="135" name="Deployment stat 2 label"/>
          <p:cNvSpPr/>
          <p:nvPr/>
        </p:nvSpPr>
        <p:spPr>
          <a:xfrm>
            <a:off x="548640" y="3520440"/>
            <a:ext cx="36572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1"/>
                </a:solidFill>
                <a:effectLst/>
                <a:uFillTx/>
                <a:latin typeface="Calibri"/>
              </a:rPr>
              <a:t>stations that never had a WQI</a:t>
            </a:r>
            <a:endParaRPr lang="en-US" sz="1400" b="0" u="none" strike="noStrike">
              <a:solidFill>
                <a:srgbClr val="000000"/>
              </a:solidFill>
              <a:effectLst/>
              <a:uFillTx/>
              <a:latin typeface="Arial"/>
            </a:endParaRPr>
          </a:p>
        </p:txBody>
      </p:sp>
      <p:sp>
        <p:nvSpPr>
          <p:cNvPr id="136" name="Deployment stat 3 value"/>
          <p:cNvSpPr/>
          <p:nvPr/>
        </p:nvSpPr>
        <p:spPr>
          <a:xfrm>
            <a:off x="548640" y="4160520"/>
            <a:ext cx="365724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chemeClr val="dk2"/>
                </a:solidFill>
                <a:effectLst/>
                <a:uFillTx/>
                <a:latin typeface="Cambria"/>
                <a:ea typeface="Cambria"/>
              </a:rPr>
              <a:t>3.0</a:t>
            </a:r>
            <a:endParaRPr lang="en-US" sz="4000" b="0" u="none" strike="noStrike">
              <a:solidFill>
                <a:srgbClr val="000000"/>
              </a:solidFill>
              <a:effectLst/>
              <a:uFillTx/>
              <a:latin typeface="Arial"/>
            </a:endParaRPr>
          </a:p>
        </p:txBody>
      </p:sp>
      <p:sp>
        <p:nvSpPr>
          <p:cNvPr id="137" name="Deployment stat 3 label"/>
          <p:cNvSpPr/>
          <p:nvPr/>
        </p:nvSpPr>
        <p:spPr>
          <a:xfrm>
            <a:off x="548640" y="4937760"/>
            <a:ext cx="36572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1"/>
                </a:solidFill>
                <a:effectLst/>
                <a:uFillTx/>
                <a:latin typeface="Calibri"/>
              </a:rPr>
              <a:t>shift-corrected RMSE (vs 2.9 in CV)</a:t>
            </a:r>
            <a:endParaRPr lang="en-US" sz="1400" b="0" u="none" strike="noStrike">
              <a:solidFill>
                <a:srgbClr val="000000"/>
              </a:solidFill>
              <a:effectLst/>
              <a:uFillTx/>
              <a:latin typeface="Arial"/>
            </a:endParaRPr>
          </a:p>
        </p:txBody>
      </p:sp>
      <p:sp>
        <p:nvSpPr>
          <p:cNvPr id="138" name="Text 7"/>
          <p:cNvSpPr/>
          <p:nvPr/>
        </p:nvSpPr>
        <p:spPr>
          <a:xfrm>
            <a:off x="548640" y="5486400"/>
            <a:ext cx="5120280" cy="822600"/>
          </a:xfrm>
          <a:prstGeom prst="rect">
            <a:avLst/>
          </a:prstGeom>
          <a:noFill/>
          <a:ln w="0">
            <a:noFill/>
          </a:ln>
        </p:spPr>
        <p:style>
          <a:lnRef idx="0"/>
          <a:fillRef idx="0"/>
          <a:effectRef idx="0"/>
          <a:fontRef idx="minor"/>
        </p:style>
        <p:txBody>
          <a:bodyPr lIns="0" tIns="0" rIns="0" bIns="0" anchor="t">
            <a:noAutofit/>
          </a:bodyPr>
          <a:p>
            <a:pPr defTabSz="914400">
              <a:lnSpc>
                <a:spcPct val="100000"/>
              </a:lnSpc>
              <a:spcAft>
                <a:spcPts val="601"/>
              </a:spcAft>
              <a:tabLst>
                <a:tab pos="0" algn="l"/>
              </a:tabLst>
            </a:pPr>
            <a:r>
              <a:rPr lang="en-US" sz="1400" b="1" u="none" strike="noStrike">
                <a:solidFill>
                  <a:schemeClr val="accent3"/>
                </a:solidFill>
                <a:effectLst/>
                <a:uFillTx/>
                <a:latin typeface="Calibri"/>
              </a:rPr>
              <a:t>Caveat: </a:t>
            </a:r>
            <a:r>
              <a:rPr lang="en-US" sz="1400" b="0" u="none" strike="noStrike">
                <a:solidFill>
                  <a:schemeClr val="dk1"/>
                </a:solidFill>
                <a:effectLst/>
                <a:uFillTx/>
                <a:latin typeface="Calibri"/>
              </a:rPr>
              <a:t>outside 2020, BOD ≤ 1 mg/L is never reported (left blank). Year-to-year trends must account for this reporting floor.</a:t>
            </a:r>
            <a:endParaRPr lang="en-US" sz="1400" b="0" u="none" strike="noStrike">
              <a:solidFill>
                <a:srgbClr val="000000"/>
              </a:solidFill>
              <a:effectLst/>
              <a:uFillTx/>
              <a:latin typeface="Arial"/>
            </a:endParaRPr>
          </a:p>
        </p:txBody>
      </p:sp>
      <p:pic>
        <p:nvPicPr>
          <p:cNvPr id="139" name="River by year heatmap" descr="/home/mayank-tiwari/Projects/envi-project/figures/fig_dep_river_year.png"/>
          <p:cNvPicPr/>
          <p:nvPr/>
        </p:nvPicPr>
        <p:blipFill>
          <a:blip r:embed="rId1"/>
          <a:stretch/>
        </p:blipFill>
        <p:spPr>
          <a:xfrm>
            <a:off x="5943600" y="1234440"/>
            <a:ext cx="5668920" cy="4605840"/>
          </a:xfrm>
          <a:prstGeom prst="rect">
            <a:avLst/>
          </a:prstGeom>
          <a:noFill/>
          <a:ln w="0">
            <a:noFill/>
          </a:ln>
        </p:spPr>
      </p:pic>
      <p:sp>
        <p:nvSpPr>
          <p:cNvPr id="140" name="PlaceHolder 2"/>
          <p:cNvSpPr>
            <a:spLocks noGrp="1"/>
          </p:cNvSpPr>
          <p:nvPr>
            <p:ph type="sldNum" idx="16"/>
          </p:nvPr>
        </p:nvSpPr>
        <p:spPr>
          <a:xfrm>
            <a:off x="11155680" y="644652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5"/>
                </a:solidFill>
                <a:effectLst/>
                <a:uFillTx/>
                <a:latin typeface="Calibri"/>
              </a:defRPr>
            </a:lvl1pPr>
          </a:lstStyle>
          <a:p>
            <a:pPr indent="0" algn="r" defTabSz="914400">
              <a:lnSpc>
                <a:spcPct val="100000"/>
              </a:lnSpc>
              <a:buNone/>
            </a:pPr>
            <a:fld id="{8856CC6D-7D4E-4601-9535-0EB30412962F}" type="slidenum">
              <a:rPr lang="en-US" sz="1000" b="0" u="none" strike="noStrike">
                <a:solidFill>
                  <a:schemeClr val="accent5"/>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 name="PlaceHolder 1"/>
          <p:cNvSpPr>
            <a:spLocks noGrp="1"/>
          </p:cNvSpPr>
          <p:nvPr>
            <p:ph type="title" hasCustomPrompt="1"/>
          </p:nvPr>
        </p:nvSpPr>
        <p:spPr>
          <a:xfrm>
            <a:off x="548640" y="274320"/>
            <a:ext cx="11063880" cy="86832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1" u="none" strike="noStrike">
                <a:solidFill>
                  <a:schemeClr val="dk2"/>
                </a:solidFill>
                <a:effectLst/>
                <a:uFillTx/>
                <a:latin typeface="Cambria"/>
              </a:rPr>
              <a:t>Recommended monitoring kit</a:t>
            </a:r>
            <a:endParaRPr lang="en-US" sz="3000" b="0" u="none" strike="noStrike">
              <a:solidFill>
                <a:schemeClr val="dk1"/>
              </a:solidFill>
              <a:effectLst/>
              <a:uFillTx/>
              <a:latin typeface="Calibri"/>
            </a:endParaRPr>
          </a:p>
        </p:txBody>
      </p:sp>
      <p:graphicFrame>
        <p:nvGraphicFramePr>
          <p:cNvPr id="142" name="Kit table"/>
          <p:cNvGraphicFramePr/>
          <p:nvPr/>
        </p:nvGraphicFramePr>
        <p:xfrm>
          <a:off x="548640" y="1325880"/>
          <a:ext cx="11063880" cy="2852640"/>
        </p:xfrm>
        <a:graphic>
          <a:graphicData uri="http://schemas.openxmlformats.org/drawingml/2006/table">
            <a:tbl>
              <a:tblPr/>
              <a:tblGrid>
                <a:gridCol w="2651760"/>
                <a:gridCol w="4206240"/>
                <a:gridCol w="1097280"/>
                <a:gridCol w="1645920"/>
                <a:gridCol w="1463040"/>
              </a:tblGrid>
              <a:tr h="475200">
                <a:tc>
                  <a:txBody>
                    <a:bodyPr tIns="36360" bIns="36360" anchor="ctr">
                      <a:noAutofit/>
                    </a:bodyPr>
                    <a:p>
                      <a:pPr defTabSz="914400">
                        <a:lnSpc>
                          <a:spcPct val="100000"/>
                        </a:lnSpc>
                        <a:tabLst>
                          <a:tab pos="0" algn="l"/>
                        </a:tabLst>
                      </a:pPr>
                      <a:r>
                        <a:rPr lang="en-US" sz="1400" b="1" u="none" strike="noStrike">
                          <a:solidFill>
                            <a:schemeClr val="lt1"/>
                          </a:solidFill>
                          <a:effectLst/>
                          <a:uFillTx/>
                          <a:latin typeface="Calibri"/>
                        </a:rPr>
                        <a:t>Tier</a:t>
                      </a:r>
                      <a:endParaRPr lang="en-US" sz="1400" b="0" u="none" strike="noStrike">
                        <a:solidFill>
                          <a:srgbClr val="FFFFFF"/>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dk2"/>
                    </a:solidFill>
                  </a:tcPr>
                </a:tc>
                <a:tc>
                  <a:txBody>
                    <a:bodyPr tIns="36360" bIns="36360" anchor="ctr">
                      <a:noAutofit/>
                    </a:bodyPr>
                    <a:p>
                      <a:pPr defTabSz="914400">
                        <a:lnSpc>
                          <a:spcPct val="100000"/>
                        </a:lnSpc>
                        <a:tabLst>
                          <a:tab pos="0" algn="l"/>
                        </a:tabLst>
                      </a:pPr>
                      <a:r>
                        <a:rPr lang="en-US" sz="1400" b="1" u="none" strike="noStrike">
                          <a:solidFill>
                            <a:schemeClr val="lt1"/>
                          </a:solidFill>
                          <a:effectLst/>
                          <a:uFillTx/>
                          <a:latin typeface="Calibri"/>
                        </a:rPr>
                        <a:t>Parameters</a:t>
                      </a:r>
                      <a:endParaRPr lang="en-US" sz="1400" b="0" u="none" strike="noStrike">
                        <a:solidFill>
                          <a:srgbClr val="FFFFFF"/>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dk2"/>
                    </a:solidFill>
                  </a:tcPr>
                </a:tc>
                <a:tc>
                  <a:txBody>
                    <a:bodyPr tIns="36360" bIns="36360" anchor="ctr">
                      <a:noAutofit/>
                    </a:bodyPr>
                    <a:p>
                      <a:pPr defTabSz="914400">
                        <a:lnSpc>
                          <a:spcPct val="100000"/>
                        </a:lnSpc>
                        <a:tabLst>
                          <a:tab pos="0" algn="l"/>
                        </a:tabLst>
                      </a:pPr>
                      <a:r>
                        <a:rPr lang="en-US" sz="1400" b="1" u="none" strike="noStrike">
                          <a:solidFill>
                            <a:schemeClr val="lt1"/>
                          </a:solidFill>
                          <a:effectLst/>
                          <a:uFillTx/>
                          <a:latin typeface="Calibri"/>
                        </a:rPr>
                        <a:t>R²</a:t>
                      </a:r>
                      <a:endParaRPr lang="en-US" sz="1400" b="0" u="none" strike="noStrike">
                        <a:solidFill>
                          <a:srgbClr val="FFFFFF"/>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dk2"/>
                    </a:solidFill>
                  </a:tcPr>
                </a:tc>
                <a:tc>
                  <a:txBody>
                    <a:bodyPr tIns="36360" bIns="36360" anchor="ctr">
                      <a:noAutofit/>
                    </a:bodyPr>
                    <a:p>
                      <a:pPr defTabSz="914400">
                        <a:lnSpc>
                          <a:spcPct val="100000"/>
                        </a:lnSpc>
                        <a:tabLst>
                          <a:tab pos="0" algn="l"/>
                        </a:tabLst>
                      </a:pPr>
                      <a:r>
                        <a:rPr lang="en-US" sz="1400" b="1" u="none" strike="noStrike">
                          <a:solidFill>
                            <a:schemeClr val="lt1"/>
                          </a:solidFill>
                          <a:effectLst/>
                          <a:uFillTx/>
                          <a:latin typeface="Calibri"/>
                        </a:rPr>
                        <a:t>Category acc.</a:t>
                      </a:r>
                      <a:endParaRPr lang="en-US" sz="1400" b="0" u="none" strike="noStrike">
                        <a:solidFill>
                          <a:srgbClr val="FFFFFF"/>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dk2"/>
                    </a:solidFill>
                  </a:tcPr>
                </a:tc>
                <a:tc>
                  <a:txBody>
                    <a:bodyPr tIns="36360" bIns="36360" anchor="ctr">
                      <a:noAutofit/>
                    </a:bodyPr>
                    <a:p>
                      <a:pPr defTabSz="914400">
                        <a:lnSpc>
                          <a:spcPct val="100000"/>
                        </a:lnSpc>
                        <a:tabLst>
                          <a:tab pos="0" algn="l"/>
                        </a:tabLst>
                      </a:pPr>
                      <a:r>
                        <a:rPr lang="en-US" sz="1400" b="1" u="none" strike="noStrike">
                          <a:solidFill>
                            <a:schemeClr val="lt1"/>
                          </a:solidFill>
                          <a:effectLst/>
                          <a:uFillTx/>
                          <a:latin typeface="Calibri"/>
                        </a:rPr>
                        <a:t>90% interval</a:t>
                      </a:r>
                      <a:endParaRPr lang="en-US" sz="1400" b="0" u="none" strike="noStrike">
                        <a:solidFill>
                          <a:srgbClr val="FFFFFF"/>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dk2"/>
                    </a:solidFill>
                  </a:tcPr>
                </a:tc>
              </a:tr>
              <a:tr h="475200">
                <a:tc>
                  <a:txBody>
                    <a:bodyPr tIns="36360" bIns="36360" anchor="ctr">
                      <a:noAutofit/>
                    </a:bodyPr>
                    <a:p>
                      <a:pPr defTabSz="914400">
                        <a:lnSpc>
                          <a:spcPct val="100000"/>
                        </a:lnSpc>
                        <a:tabLst>
                          <a:tab pos="0" algn="l"/>
                        </a:tabLst>
                      </a:pPr>
                      <a:r>
                        <a:rPr lang="en-US" sz="1400" b="1" u="none" strike="noStrike">
                          <a:solidFill>
                            <a:schemeClr val="dk1"/>
                          </a:solidFill>
                          <a:effectLst/>
                          <a:uFillTx/>
                          <a:latin typeface="Calibri"/>
                        </a:rPr>
                        <a:t>0  Routine (no new cost)</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1"/>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pH, DO, BOD, fecal coliform + location, month</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1"/>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0.977</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1"/>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93.9%</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1"/>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 3.6</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1"/>
                    </a:solidFill>
                  </a:tcPr>
                </a:tc>
              </a:tr>
              <a:tr h="475200">
                <a:tc>
                  <a:txBody>
                    <a:bodyPr tIns="36360" bIns="36360" anchor="ctr">
                      <a:noAutofit/>
                    </a:bodyPr>
                    <a:p>
                      <a:pPr defTabSz="914400">
                        <a:lnSpc>
                          <a:spcPct val="100000"/>
                        </a:lnSpc>
                        <a:tabLst>
                          <a:tab pos="0" algn="l"/>
                        </a:tabLst>
                      </a:pPr>
                      <a:r>
                        <a:rPr lang="en-US" sz="1400" b="1" u="none" strike="noStrike">
                          <a:solidFill>
                            <a:schemeClr val="dk1"/>
                          </a:solidFill>
                          <a:effectLst/>
                          <a:uFillTx/>
                          <a:latin typeface="Calibri"/>
                        </a:rPr>
                        <a:t>1  + turbidity probe</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2"/>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pH, DO, BOD, turbidity</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2"/>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0.994</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2"/>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96.8%</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2"/>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 1.6</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2"/>
                    </a:solidFill>
                  </a:tcPr>
                </a:tc>
              </a:tr>
              <a:tr h="475200">
                <a:tc>
                  <a:txBody>
                    <a:bodyPr tIns="36360" bIns="36360" anchor="ctr">
                      <a:noAutofit/>
                    </a:bodyPr>
                    <a:p>
                      <a:pPr defTabSz="914400">
                        <a:lnSpc>
                          <a:spcPct val="100000"/>
                        </a:lnSpc>
                        <a:tabLst>
                          <a:tab pos="0" algn="l"/>
                        </a:tabLst>
                      </a:pPr>
                      <a:r>
                        <a:rPr lang="en-US" sz="1400" b="1" u="none" strike="noStrike">
                          <a:solidFill>
                            <a:schemeClr val="dk1"/>
                          </a:solidFill>
                          <a:effectLst/>
                          <a:uFillTx/>
                          <a:latin typeface="Calibri"/>
                        </a:rPr>
                        <a:t>2  + nitrate field kit</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1"/>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pH, DO, BOD, turbidity, nitrate-N</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1"/>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0.998</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1"/>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97.7%</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1"/>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 1.1</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1"/>
                    </a:solidFill>
                  </a:tcPr>
                </a:tc>
              </a:tr>
              <a:tr h="475200">
                <a:tc>
                  <a:txBody>
                    <a:bodyPr tIns="36360" bIns="36360" anchor="ctr">
                      <a:noAutofit/>
                    </a:bodyPr>
                    <a:p>
                      <a:pPr defTabSz="914400">
                        <a:lnSpc>
                          <a:spcPct val="100000"/>
                        </a:lnSpc>
                        <a:tabLst>
                          <a:tab pos="0" algn="l"/>
                        </a:tabLst>
                      </a:pPr>
                      <a:r>
                        <a:rPr lang="en-US" sz="1400" b="1" u="none" strike="noStrike">
                          <a:solidFill>
                            <a:schemeClr val="dk1"/>
                          </a:solidFill>
                          <a:effectLst/>
                          <a:uFillTx/>
                          <a:latin typeface="Calibri"/>
                        </a:rPr>
                        <a:t>Public-health robust</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2"/>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S7: + both coliforms, EC</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2"/>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0.994</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2"/>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97.0%</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2"/>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 1.5</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2"/>
                    </a:solidFill>
                  </a:tcPr>
                </a:tc>
              </a:tr>
              <a:tr h="475200">
                <a:tc>
                  <a:txBody>
                    <a:bodyPr tIns="36360" bIns="36360" anchor="ctr">
                      <a:noAutofit/>
                    </a:bodyPr>
                    <a:p>
                      <a:pPr defTabSz="914400">
                        <a:lnSpc>
                          <a:spcPct val="100000"/>
                        </a:lnSpc>
                        <a:tabLst>
                          <a:tab pos="0" algn="l"/>
                        </a:tabLst>
                      </a:pPr>
                      <a:r>
                        <a:rPr lang="en-US" sz="1400" b="1" u="none" strike="noStrike">
                          <a:solidFill>
                            <a:schemeClr val="dk1"/>
                          </a:solidFill>
                          <a:effectLst/>
                          <a:uFillTx/>
                          <a:latin typeface="Calibri"/>
                        </a:rPr>
                        <a:t>Screening only</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1"/>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pH, DO, EC, turbidity (all probes)</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1"/>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0.828</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1"/>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82.4%</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1"/>
                    </a:solidFill>
                  </a:tcPr>
                </a:tc>
                <a:tc>
                  <a:txBody>
                    <a:bodyPr tIns="36360" bIns="36360" anchor="ctr">
                      <a:noAutofit/>
                    </a:bodyPr>
                    <a:p>
                      <a:pPr defTabSz="914400">
                        <a:lnSpc>
                          <a:spcPct val="100000"/>
                        </a:lnSpc>
                        <a:tabLst>
                          <a:tab pos="0" algn="l"/>
                        </a:tabLst>
                      </a:pPr>
                      <a:r>
                        <a:rPr lang="en-US" sz="1400" b="0" u="none" strike="noStrike">
                          <a:solidFill>
                            <a:schemeClr val="dk1"/>
                          </a:solidFill>
                          <a:effectLst/>
                          <a:uFillTx/>
                          <a:latin typeface="Calibri"/>
                        </a:rPr>
                        <a:t>± 9.8</a:t>
                      </a:r>
                      <a:endParaRPr lang="en-US" sz="1400" b="0" u="none" strike="noStrike">
                        <a:solidFill>
                          <a:srgbClr val="000000"/>
                        </a:solidFill>
                        <a:effectLst/>
                        <a:uFillTx/>
                        <a:latin typeface="Arial"/>
                      </a:endParaRPr>
                    </a:p>
                  </a:txBody>
                  <a:tcPr anchor="ctr" marL="91440" marR="91440" marT="36360" marB="36360">
                    <a:lnL w="6480">
                      <a:solidFill>
                        <a:srgbClr val="D9E2E6"/>
                      </a:solidFill>
                      <a:prstDash val="solid"/>
                    </a:lnL>
                    <a:lnR w="6480">
                      <a:solidFill>
                        <a:srgbClr val="D9E2E6"/>
                      </a:solidFill>
                      <a:prstDash val="solid"/>
                    </a:lnR>
                    <a:lnT w="6480">
                      <a:solidFill>
                        <a:srgbClr val="D9E2E6"/>
                      </a:solidFill>
                      <a:prstDash val="solid"/>
                    </a:lnT>
                    <a:lnB w="6480">
                      <a:solidFill>
                        <a:srgbClr val="D9E2E6"/>
                      </a:solidFill>
                      <a:prstDash val="solid"/>
                    </a:lnB>
                    <a:solidFill>
                      <a:schemeClr val="lt1"/>
                    </a:solidFill>
                  </a:tcPr>
                </a:tc>
              </a:tr>
            </a:tbl>
          </a:graphicData>
        </a:graphic>
      </p:graphicFrame>
      <p:sp>
        <p:nvSpPr>
          <p:cNvPr id="143" name="Rule 1 badge"/>
          <p:cNvSpPr/>
          <p:nvPr/>
        </p:nvSpPr>
        <p:spPr>
          <a:xfrm>
            <a:off x="548640" y="4572000"/>
            <a:ext cx="411120" cy="411120"/>
          </a:xfrm>
          <a:prstGeom prst="ellipse">
            <a:avLst/>
          </a:prstGeom>
          <a:solidFill>
            <a:schemeClr val="accent1"/>
          </a:solidFill>
          <a:ln w="12700">
            <a:solidFill>
              <a:srgbClr val="1A7F8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4" name="Rule 1 number"/>
          <p:cNvSpPr/>
          <p:nvPr/>
        </p:nvSpPr>
        <p:spPr>
          <a:xfrm>
            <a:off x="548640" y="4572000"/>
            <a:ext cx="41112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chemeClr val="lt1"/>
                </a:solidFill>
                <a:effectLst/>
                <a:uFillTx/>
                <a:latin typeface="Calibri"/>
              </a:rPr>
              <a:t>1</a:t>
            </a:r>
            <a:endParaRPr lang="en-US" sz="1400" b="0" u="none" strike="noStrike">
              <a:solidFill>
                <a:srgbClr val="000000"/>
              </a:solidFill>
              <a:effectLst/>
              <a:uFillTx/>
              <a:latin typeface="Arial"/>
            </a:endParaRPr>
          </a:p>
        </p:txBody>
      </p:sp>
      <p:sp>
        <p:nvSpPr>
          <p:cNvPr id="145" name="Rule 1 text"/>
          <p:cNvSpPr/>
          <p:nvPr/>
        </p:nvSpPr>
        <p:spPr>
          <a:xfrm>
            <a:off x="1097280" y="4480560"/>
            <a:ext cx="493740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chemeClr val="dk1"/>
                </a:solidFill>
                <a:effectLst/>
                <a:uFillTx/>
                <a:latin typeface="Calibri"/>
              </a:rPr>
              <a:t>Calibrate pH to ±0.05 and quality-control BOD</a:t>
            </a:r>
            <a:endParaRPr lang="en-US" sz="1500" b="0" u="none" strike="noStrike">
              <a:solidFill>
                <a:srgbClr val="000000"/>
              </a:solidFill>
              <a:effectLst/>
              <a:uFillTx/>
              <a:latin typeface="Arial"/>
            </a:endParaRPr>
          </a:p>
        </p:txBody>
      </p:sp>
      <p:sp>
        <p:nvSpPr>
          <p:cNvPr id="146" name="Rule 2 badge"/>
          <p:cNvSpPr/>
          <p:nvPr/>
        </p:nvSpPr>
        <p:spPr>
          <a:xfrm>
            <a:off x="6172200" y="4572000"/>
            <a:ext cx="411120" cy="411120"/>
          </a:xfrm>
          <a:prstGeom prst="ellipse">
            <a:avLst/>
          </a:prstGeom>
          <a:solidFill>
            <a:schemeClr val="accent1"/>
          </a:solidFill>
          <a:ln w="12700">
            <a:solidFill>
              <a:srgbClr val="1A7F8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7" name="Rule 2 number"/>
          <p:cNvSpPr/>
          <p:nvPr/>
        </p:nvSpPr>
        <p:spPr>
          <a:xfrm>
            <a:off x="6172200" y="4572000"/>
            <a:ext cx="41112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chemeClr val="lt1"/>
                </a:solidFill>
                <a:effectLst/>
                <a:uFillTx/>
                <a:latin typeface="Calibri"/>
              </a:rPr>
              <a:t>2</a:t>
            </a:r>
            <a:endParaRPr lang="en-US" sz="1400" b="0" u="none" strike="noStrike">
              <a:solidFill>
                <a:srgbClr val="000000"/>
              </a:solidFill>
              <a:effectLst/>
              <a:uFillTx/>
              <a:latin typeface="Arial"/>
            </a:endParaRPr>
          </a:p>
        </p:txBody>
      </p:sp>
      <p:sp>
        <p:nvSpPr>
          <p:cNvPr id="148" name="Rule 2 text"/>
          <p:cNvSpPr/>
          <p:nvPr/>
        </p:nvSpPr>
        <p:spPr>
          <a:xfrm>
            <a:off x="6720840" y="4480560"/>
            <a:ext cx="493740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chemeClr val="dk1"/>
                </a:solidFill>
                <a:effectLst/>
                <a:uFillTx/>
                <a:latin typeface="Calibri"/>
              </a:rPr>
              <a:t>Route to a dedicated model for whatever was measured</a:t>
            </a:r>
            <a:endParaRPr lang="en-US" sz="1500" b="0" u="none" strike="noStrike">
              <a:solidFill>
                <a:srgbClr val="000000"/>
              </a:solidFill>
              <a:effectLst/>
              <a:uFillTx/>
              <a:latin typeface="Arial"/>
            </a:endParaRPr>
          </a:p>
        </p:txBody>
      </p:sp>
      <p:sp>
        <p:nvSpPr>
          <p:cNvPr id="149" name="Rule 3 badge"/>
          <p:cNvSpPr/>
          <p:nvPr/>
        </p:nvSpPr>
        <p:spPr>
          <a:xfrm>
            <a:off x="548640" y="5440680"/>
            <a:ext cx="411120" cy="411120"/>
          </a:xfrm>
          <a:prstGeom prst="ellipse">
            <a:avLst/>
          </a:prstGeom>
          <a:solidFill>
            <a:schemeClr val="accent1"/>
          </a:solidFill>
          <a:ln w="12700">
            <a:solidFill>
              <a:srgbClr val="1A7F8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0" name="Rule 3 number"/>
          <p:cNvSpPr/>
          <p:nvPr/>
        </p:nvSpPr>
        <p:spPr>
          <a:xfrm>
            <a:off x="548640" y="5440680"/>
            <a:ext cx="41112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chemeClr val="lt1"/>
                </a:solidFill>
                <a:effectLst/>
                <a:uFillTx/>
                <a:latin typeface="Calibri"/>
              </a:rPr>
              <a:t>3</a:t>
            </a:r>
            <a:endParaRPr lang="en-US" sz="1400" b="0" u="none" strike="noStrike">
              <a:solidFill>
                <a:srgbClr val="000000"/>
              </a:solidFill>
              <a:effectLst/>
              <a:uFillTx/>
              <a:latin typeface="Arial"/>
            </a:endParaRPr>
          </a:p>
        </p:txBody>
      </p:sp>
      <p:sp>
        <p:nvSpPr>
          <p:cNvPr id="151" name="Rule 3 text"/>
          <p:cNvSpPr/>
          <p:nvPr/>
        </p:nvSpPr>
        <p:spPr>
          <a:xfrm>
            <a:off x="1097280" y="5349240"/>
            <a:ext cx="493740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chemeClr val="dk1"/>
                </a:solidFill>
                <a:effectLst/>
                <a:uFillTx/>
                <a:latin typeface="Calibri"/>
              </a:rPr>
              <a:t>Publish the conformal interval with every estimate</a:t>
            </a:r>
            <a:endParaRPr lang="en-US" sz="1500" b="0" u="none" strike="noStrike">
              <a:solidFill>
                <a:srgbClr val="000000"/>
              </a:solidFill>
              <a:effectLst/>
              <a:uFillTx/>
              <a:latin typeface="Arial"/>
            </a:endParaRPr>
          </a:p>
        </p:txBody>
      </p:sp>
      <p:sp>
        <p:nvSpPr>
          <p:cNvPr id="152" name="Rule 4 badge"/>
          <p:cNvSpPr/>
          <p:nvPr/>
        </p:nvSpPr>
        <p:spPr>
          <a:xfrm>
            <a:off x="6172200" y="5440680"/>
            <a:ext cx="411120" cy="411120"/>
          </a:xfrm>
          <a:prstGeom prst="ellipse">
            <a:avLst/>
          </a:prstGeom>
          <a:solidFill>
            <a:schemeClr val="accent1"/>
          </a:solidFill>
          <a:ln w="12700">
            <a:solidFill>
              <a:srgbClr val="1A7F8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3" name="Rule 4 number"/>
          <p:cNvSpPr/>
          <p:nvPr/>
        </p:nvSpPr>
        <p:spPr>
          <a:xfrm>
            <a:off x="6172200" y="5440680"/>
            <a:ext cx="41112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chemeClr val="lt1"/>
                </a:solidFill>
                <a:effectLst/>
                <a:uFillTx/>
                <a:latin typeface="Calibri"/>
              </a:rPr>
              <a:t>4</a:t>
            </a:r>
            <a:endParaRPr lang="en-US" sz="1400" b="0" u="none" strike="noStrike">
              <a:solidFill>
                <a:srgbClr val="000000"/>
              </a:solidFill>
              <a:effectLst/>
              <a:uFillTx/>
              <a:latin typeface="Arial"/>
            </a:endParaRPr>
          </a:p>
        </p:txBody>
      </p:sp>
      <p:sp>
        <p:nvSpPr>
          <p:cNvPr id="154" name="Rule 4 text"/>
          <p:cNvSpPr/>
          <p:nvPr/>
        </p:nvSpPr>
        <p:spPr>
          <a:xfrm>
            <a:off x="6720840" y="5349240"/>
            <a:ext cx="493740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chemeClr val="dk1"/>
                </a:solidFill>
                <a:effectLst/>
                <a:uFillTx/>
                <a:latin typeface="Calibri"/>
              </a:rPr>
              <a:t>Report fecal coliform exceedance alongside the WQI</a:t>
            </a:r>
            <a:endParaRPr lang="en-US" sz="1500" b="0" u="none" strike="noStrike">
              <a:solidFill>
                <a:srgbClr val="000000"/>
              </a:solidFill>
              <a:effectLst/>
              <a:uFillTx/>
              <a:latin typeface="Arial"/>
            </a:endParaRPr>
          </a:p>
        </p:txBody>
      </p:sp>
      <p:sp>
        <p:nvSpPr>
          <p:cNvPr id="155" name="PlaceHolder 2"/>
          <p:cNvSpPr>
            <a:spLocks noGrp="1"/>
          </p:cNvSpPr>
          <p:nvPr>
            <p:ph type="sldNum" idx="17"/>
          </p:nvPr>
        </p:nvSpPr>
        <p:spPr>
          <a:xfrm>
            <a:off x="11155680" y="644652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5"/>
                </a:solidFill>
                <a:effectLst/>
                <a:uFillTx/>
                <a:latin typeface="Calibri"/>
              </a:defRPr>
            </a:lvl1pPr>
          </a:lstStyle>
          <a:p>
            <a:pPr indent="0" algn="r" defTabSz="914400">
              <a:lnSpc>
                <a:spcPct val="100000"/>
              </a:lnSpc>
              <a:buNone/>
            </a:pPr>
            <a:fld id="{9F5B9B2A-4AAF-4D60-A530-88077FD46209}" type="slidenum">
              <a:rPr lang="en-US" sz="1000" b="0" u="none" strike="noStrike">
                <a:solidFill>
                  <a:schemeClr val="accent5"/>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 name="Conclusion title"/>
          <p:cNvSpPr/>
          <p:nvPr/>
        </p:nvSpPr>
        <p:spPr>
          <a:xfrm>
            <a:off x="640080" y="548640"/>
            <a:ext cx="1097244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chemeClr val="lt1"/>
                </a:solidFill>
                <a:effectLst/>
                <a:uFillTx/>
                <a:latin typeface="Cambria"/>
                <a:ea typeface="Cambria"/>
              </a:rPr>
              <a:t>Answer: yes, with the right three parameters</a:t>
            </a:r>
            <a:endParaRPr lang="en-US" sz="3400" b="0" u="none" strike="noStrike">
              <a:solidFill>
                <a:srgbClr val="FFFFFF"/>
              </a:solidFill>
              <a:effectLst/>
              <a:uFillTx/>
              <a:latin typeface="Arial"/>
            </a:endParaRPr>
          </a:p>
        </p:txBody>
      </p:sp>
      <p:sp>
        <p:nvSpPr>
          <p:cNvPr id="157" name="Takeaway badge 1"/>
          <p:cNvSpPr/>
          <p:nvPr/>
        </p:nvSpPr>
        <p:spPr>
          <a:xfrm>
            <a:off x="640080" y="1783080"/>
            <a:ext cx="502560" cy="502560"/>
          </a:xfrm>
          <a:prstGeom prst="ellipse">
            <a:avLst/>
          </a:prstGeom>
          <a:solidFill>
            <a:schemeClr val="accent2"/>
          </a:solidFill>
          <a:ln w="12700">
            <a:solidFill>
              <a:srgbClr val="F2A54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8" name="Takeaway number 1"/>
          <p:cNvSpPr/>
          <p:nvPr/>
        </p:nvSpPr>
        <p:spPr>
          <a:xfrm>
            <a:off x="640080" y="178308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chemeClr val="dk2"/>
                </a:solidFill>
                <a:effectLst/>
                <a:uFillTx/>
                <a:latin typeface="Calibri"/>
              </a:rPr>
              <a:t>1</a:t>
            </a:r>
            <a:endParaRPr lang="en-US" sz="1800" b="0" u="none" strike="noStrike">
              <a:solidFill>
                <a:srgbClr val="FFFFFF"/>
              </a:solidFill>
              <a:effectLst/>
              <a:uFillTx/>
              <a:latin typeface="Arial"/>
            </a:endParaRPr>
          </a:p>
        </p:txBody>
      </p:sp>
      <p:sp>
        <p:nvSpPr>
          <p:cNvPr id="159" name="Takeaway 1"/>
          <p:cNvSpPr/>
          <p:nvPr/>
        </p:nvSpPr>
        <p:spPr>
          <a:xfrm>
            <a:off x="1371600" y="1691640"/>
            <a:ext cx="10149480" cy="10054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1" u="none" strike="noStrike">
                <a:solidFill>
                  <a:schemeClr val="lt1"/>
                </a:solidFill>
                <a:effectLst/>
                <a:uFillTx/>
                <a:latin typeface="Calibri"/>
              </a:rPr>
              <a:t>pH, DO and BOD reproduce the CPCB WQI</a:t>
            </a:r>
            <a:endParaRPr lang="en-US" sz="2000" b="0" u="none" strike="noStrike">
              <a:solidFill>
                <a:srgbClr val="FFFFFF"/>
              </a:solidFill>
              <a:effectLst/>
              <a:uFillTx/>
              <a:latin typeface="Arial"/>
            </a:endParaRPr>
          </a:p>
          <a:p>
            <a:pPr defTabSz="914400">
              <a:lnSpc>
                <a:spcPct val="100000"/>
              </a:lnSpc>
              <a:tabLst>
                <a:tab pos="0" algn="l"/>
              </a:tabLst>
            </a:pPr>
            <a:r>
              <a:rPr lang="en-US" sz="1500" b="0" u="none" strike="noStrike">
                <a:solidFill>
                  <a:schemeClr val="lt2"/>
                </a:solidFill>
                <a:effectLst/>
                <a:uFillTx/>
                <a:latin typeface="Calibri"/>
              </a:rPr>
              <a:t>R² 0.957 and 91% category accuracy at unseen stations; 0.994 with a turbidity probe</a:t>
            </a:r>
            <a:endParaRPr lang="en-US" sz="1500" b="0" u="none" strike="noStrike">
              <a:solidFill>
                <a:srgbClr val="FFFFFF"/>
              </a:solidFill>
              <a:effectLst/>
              <a:uFillTx/>
              <a:latin typeface="Arial"/>
            </a:endParaRPr>
          </a:p>
        </p:txBody>
      </p:sp>
      <p:sp>
        <p:nvSpPr>
          <p:cNvPr id="160" name="Takeaway badge 2"/>
          <p:cNvSpPr/>
          <p:nvPr/>
        </p:nvSpPr>
        <p:spPr>
          <a:xfrm>
            <a:off x="640080" y="2971800"/>
            <a:ext cx="502560" cy="502560"/>
          </a:xfrm>
          <a:prstGeom prst="ellipse">
            <a:avLst/>
          </a:prstGeom>
          <a:solidFill>
            <a:schemeClr val="accent2"/>
          </a:solidFill>
          <a:ln w="12700">
            <a:solidFill>
              <a:srgbClr val="F2A54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1" name="Takeaway number 2"/>
          <p:cNvSpPr/>
          <p:nvPr/>
        </p:nvSpPr>
        <p:spPr>
          <a:xfrm>
            <a:off x="640080" y="297180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chemeClr val="dk2"/>
                </a:solidFill>
                <a:effectLst/>
                <a:uFillTx/>
                <a:latin typeface="Calibri"/>
              </a:rPr>
              <a:t>2</a:t>
            </a:r>
            <a:endParaRPr lang="en-US" sz="1800" b="0" u="none" strike="noStrike">
              <a:solidFill>
                <a:srgbClr val="FFFFFF"/>
              </a:solidFill>
              <a:effectLst/>
              <a:uFillTx/>
              <a:latin typeface="Arial"/>
            </a:endParaRPr>
          </a:p>
        </p:txBody>
      </p:sp>
      <p:sp>
        <p:nvSpPr>
          <p:cNvPr id="162" name="Takeaway 2"/>
          <p:cNvSpPr/>
          <p:nvPr/>
        </p:nvSpPr>
        <p:spPr>
          <a:xfrm>
            <a:off x="1371600" y="2880360"/>
            <a:ext cx="10149480" cy="10054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1" u="none" strike="noStrike">
                <a:solidFill>
                  <a:schemeClr val="lt1"/>
                </a:solidFill>
                <a:effectLst/>
                <a:uFillTx/>
                <a:latin typeface="Calibri"/>
              </a:rPr>
              <a:t>Learning beats re-weighting</a:t>
            </a:r>
            <a:endParaRPr lang="en-US" sz="2000" b="0" u="none" strike="noStrike">
              <a:solidFill>
                <a:srgbClr val="FFFFFF"/>
              </a:solidFill>
              <a:effectLst/>
              <a:uFillTx/>
              <a:latin typeface="Arial"/>
            </a:endParaRPr>
          </a:p>
          <a:p>
            <a:pPr defTabSz="914400">
              <a:lnSpc>
                <a:spcPct val="100000"/>
              </a:lnSpc>
              <a:tabLst>
                <a:tab pos="0" algn="l"/>
              </a:tabLst>
            </a:pPr>
            <a:r>
              <a:rPr lang="en-US" sz="1500" b="0" u="none" strike="noStrike">
                <a:solidFill>
                  <a:schemeClr val="lt2"/>
                </a:solidFill>
                <a:effectLst/>
                <a:uFillTx/>
                <a:latin typeface="Calibri"/>
              </a:rPr>
              <a:t>once data from about 25 stations are available, with calibrated ±4.7-point intervals</a:t>
            </a:r>
            <a:endParaRPr lang="en-US" sz="1500" b="0" u="none" strike="noStrike">
              <a:solidFill>
                <a:srgbClr val="FFFFFF"/>
              </a:solidFill>
              <a:effectLst/>
              <a:uFillTx/>
              <a:latin typeface="Arial"/>
            </a:endParaRPr>
          </a:p>
        </p:txBody>
      </p:sp>
      <p:sp>
        <p:nvSpPr>
          <p:cNvPr id="163" name="Takeaway badge 3"/>
          <p:cNvSpPr/>
          <p:nvPr/>
        </p:nvSpPr>
        <p:spPr>
          <a:xfrm>
            <a:off x="640080" y="4160520"/>
            <a:ext cx="502560" cy="502560"/>
          </a:xfrm>
          <a:prstGeom prst="ellipse">
            <a:avLst/>
          </a:prstGeom>
          <a:solidFill>
            <a:schemeClr val="accent2"/>
          </a:solidFill>
          <a:ln w="12700">
            <a:solidFill>
              <a:srgbClr val="F2A54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4" name="Takeaway number 3"/>
          <p:cNvSpPr/>
          <p:nvPr/>
        </p:nvSpPr>
        <p:spPr>
          <a:xfrm>
            <a:off x="640080" y="416052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chemeClr val="dk2"/>
                </a:solidFill>
                <a:effectLst/>
                <a:uFillTx/>
                <a:latin typeface="Calibri"/>
              </a:rPr>
              <a:t>3</a:t>
            </a:r>
            <a:endParaRPr lang="en-US" sz="1800" b="0" u="none" strike="noStrike">
              <a:solidFill>
                <a:srgbClr val="FFFFFF"/>
              </a:solidFill>
              <a:effectLst/>
              <a:uFillTx/>
              <a:latin typeface="Arial"/>
            </a:endParaRPr>
          </a:p>
        </p:txBody>
      </p:sp>
      <p:sp>
        <p:nvSpPr>
          <p:cNvPr id="165" name="Takeaway 3"/>
          <p:cNvSpPr/>
          <p:nvPr/>
        </p:nvSpPr>
        <p:spPr>
          <a:xfrm>
            <a:off x="1371600" y="4069080"/>
            <a:ext cx="10149480" cy="10054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1" u="none" strike="noStrike">
                <a:solidFill>
                  <a:schemeClr val="lt1"/>
                </a:solidFill>
                <a:effectLst/>
                <a:uFillTx/>
                <a:latin typeface="Calibri"/>
              </a:rPr>
              <a:t>Mind the index and the instruments</a:t>
            </a:r>
            <a:endParaRPr lang="en-US" sz="2000" b="0" u="none" strike="noStrike">
              <a:solidFill>
                <a:srgbClr val="FFFFFF"/>
              </a:solidFill>
              <a:effectLst/>
              <a:uFillTx/>
              <a:latin typeface="Arial"/>
            </a:endParaRPr>
          </a:p>
          <a:p>
            <a:pPr defTabSz="914400">
              <a:lnSpc>
                <a:spcPct val="100000"/>
              </a:lnSpc>
              <a:tabLst>
                <a:tab pos="0" algn="l"/>
              </a:tabLst>
            </a:pPr>
            <a:r>
              <a:rPr lang="en-US" sz="1500" b="0" u="none" strike="noStrike">
                <a:solidFill>
                  <a:schemeClr val="lt2"/>
                </a:solidFill>
                <a:effectLst/>
                <a:uFillTx/>
                <a:latin typeface="Calibri"/>
              </a:rPr>
              <a:t>the CPCB weights ignore coliforms, and pH precision matters more than parameter count</a:t>
            </a:r>
            <a:endParaRPr lang="en-US" sz="1500" b="0" u="none" strike="noStrike">
              <a:solidFill>
                <a:srgbClr val="FFFFFF"/>
              </a:solidFill>
              <a:effectLst/>
              <a:uFillTx/>
              <a:latin typeface="Arial"/>
            </a:endParaRPr>
          </a:p>
        </p:txBody>
      </p:sp>
      <p:sp>
        <p:nvSpPr>
          <p:cNvPr id="166" name="Next steps"/>
          <p:cNvSpPr/>
          <p:nvPr/>
        </p:nvSpPr>
        <p:spPr>
          <a:xfrm>
            <a:off x="640080" y="5440680"/>
            <a:ext cx="109724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chemeClr val="accent2"/>
                </a:solidFill>
                <a:effectLst/>
                <a:uFillTx/>
                <a:latin typeface="Calibri"/>
              </a:rPr>
              <a:t>Next: </a:t>
            </a:r>
            <a:r>
              <a:rPr lang="en-US" sz="1500" b="0" u="none" strike="noStrike">
                <a:solidFill>
                  <a:schemeClr val="lt1"/>
                </a:solidFill>
                <a:effectLst/>
                <a:uFillTx/>
                <a:latin typeface="Calibri"/>
              </a:rPr>
              <a:t>more full-panel years, censored-BOD handling, NSF/CCME indices, satellite turbidity, a field tool.</a:t>
            </a:r>
            <a:endParaRPr lang="en-US" sz="1500" b="0" u="none" strike="noStrike">
              <a:solidFill>
                <a:srgbClr val="FFFFFF"/>
              </a:solidFill>
              <a:effectLst/>
              <a:uFillTx/>
              <a:latin typeface="Arial"/>
            </a:endParaRPr>
          </a:p>
        </p:txBody>
      </p:sp>
      <p:sp>
        <p:nvSpPr>
          <p:cNvPr id="167" name="Thanks"/>
          <p:cNvSpPr/>
          <p:nvPr/>
        </p:nvSpPr>
        <p:spPr>
          <a:xfrm>
            <a:off x="640080" y="6035040"/>
            <a:ext cx="109724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0" i="1" u="none" strike="noStrike">
                <a:solidFill>
                  <a:schemeClr val="accent2"/>
                </a:solidFill>
                <a:effectLst/>
                <a:uFillTx/>
                <a:latin typeface="Calibri"/>
              </a:rPr>
              <a:t>Thank you. Questions?</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River">
  <a:themeElements>
    <a:clrScheme name="River">
      <a:dk1>
        <a:srgbClr val="13293D"/>
      </a:dk1>
      <a:lt1>
        <a:srgbClr val="FFFFFF"/>
      </a:lt1>
      <a:dk2>
        <a:srgbClr val="0B4F6C"/>
      </a:dk2>
      <a:lt2>
        <a:srgbClr val="E8F3F4"/>
      </a:lt2>
      <a:accent1>
        <a:srgbClr val="1A7F8E"/>
      </a:accent1>
      <a:accent2>
        <a:srgbClr val="F2A541"/>
      </a:accent2>
      <a:accent3>
        <a:srgbClr val="D1495B"/>
      </a:accent3>
      <a:accent4>
        <a:srgbClr val="66A182"/>
      </a:accent4>
      <a:accent5>
        <a:srgbClr val="8A9BA8"/>
      </a:accent5>
      <a:accent6>
        <a:srgbClr val="0B4F6C"/>
      </a:accent6>
      <a:hlink>
        <a:srgbClr val="1A7F8E"/>
      </a:hlink>
      <a:folHlink>
        <a:srgbClr val="5B3758"/>
      </a:folHlink>
    </a:clrScheme>
    <a:fontScheme name="River">
      <a:majorFont>
        <a:latin typeface="Cambria"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LibreOffice/26.2.6.3$Linux_X86_64 LibreOffice_project/620$Build-3</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2026-10-18T14:20:45Z</dcterms:created>
  <dc:creator>Mayank Tiwari, Krupa Marol, Srushti Dongre, Sreenidhi Golamaru, Bharath Chowdary</dc:creator>
  <dc:description/>
  <dc:language>en-US</dc:language>
  <cp:lastModifiedBy/>
  <dcterms:modified xsi:type="dcterms:W3CDTF">2026-10-18T20:07:57Z</dcterms:modified>
  <cp:revision>2</cp:revision>
  <dc:subject>CV301 Environmental Engineering, NITK Surathkal</dc:subject>
  <dc:title>Reduced-Parameter WQI Prediction for Data-Scarce River Systems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15</vt:i4>
  </property>
  <property fmtid="{D5CDD505-2E9C-101B-9397-08002B2CF9AE}" pid="3" name="PresentationFormat">
    <vt:lpwstr>On-screen Show (16:9)</vt:lpwstr>
  </property>
  <property fmtid="{D5CDD505-2E9C-101B-9397-08002B2CF9AE}" pid="4" name="Slides">
    <vt:i4>15</vt:i4>
  </property>
</Properties>
</file>