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6.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7.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79bb06b-2c98-02e2-af59-9ac13464a813}">
          <p14:sldIdLst>
            <p14:sldId id="256"/>
          </p14:sldIdLst>
        </p14:section>
        <p14:section name="Problem &amp; data" id="{227d018b-a9a8-b9b8-6194-b9918d79813c}">
          <p14:sldIdLst>
            <p14:sldId id="257"/>
            <p14:sldId id="258"/>
            <p14:sldId id="259"/>
          </p14:sldIdLst>
        </p14:section>
        <p14:section name="Method" id="{456673a4-4b41-b39e-127d-f6f5fd327b77}">
          <p14:sldIdLst>
            <p14:sldId id="260"/>
          </p14:sldIdLst>
        </p14:section>
        <p14:section name="Results" id="{27e827fa-9f84-303d-a936-58fa518676a7}">
          <p14:sldIdLst>
            <p14:sldId id="261"/>
            <p14:sldId id="262"/>
            <p14:sldId id="263"/>
            <p14:sldId id="264"/>
            <p14:sldId id="265"/>
            <p14:sldId id="266"/>
            <p14:sldId id="267"/>
            <p14:sldId id="268"/>
          </p14:sldIdLst>
        </p14:section>
        <p14:section name="Recommendation" id="{07db177c-128d-9a13-b52c-6c2f977d9513}">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River visits reporting each nested parameter set</a:t>
            </a:r>
          </a:p>
        </c:rich>
      </c:tx>
      <c:layout/>
      <c:overlay val="0"/>
    </c:title>
    <c:autoTitleDeleted val="0"/>
    <c:plotArea>
      <c:layout/>
      <c:barChart>
        <c:barDir val="bar"/>
        <c:grouping val="clustered"/>
        <c:varyColors val="0"/>
        <c:ser>
          <c:idx val="0"/>
          <c:order val="0"/>
          <c:tx>
            <c:strRef>
              <c:f>Sheet1!$B$1</c:f>
              <c:strCache>
                <c:ptCount val="1"/>
                <c:pt idx="0">
                  <c:v>Visits</c:v>
                </c:pt>
              </c:strCache>
            </c:strRef>
          </c:tx>
          <c:spPr>
            <a:solidFill>
              <a:srgbClr val="1A7F8E"/>
            </a:solidFill>
            <a:effectLst/>
          </c:spPr>
          <c:invertIfNegative val="0"/>
          <c:dLbls>
            <c:numFmt formatCode="#,##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Sheet1!$A$2:$A$7</c:f>
              <c:multiLvlStrCache>
                <c:ptCount val="6"/>
                <c:lvl>
                  <c:pt idx="0">
                    <c:v>All river visits</c:v>
                  </c:pt>
                  <c:pt idx="1">
                    <c:v>pH, DO, BOD</c:v>
                  </c:pt>
                  <c:pt idx="2">
                    <c:v>+ Fecal coliform</c:v>
                  </c:pt>
                  <c:pt idx="3">
                    <c:v>+ EC</c:v>
                  </c:pt>
                  <c:pt idx="4">
                    <c:v>+ Total coli., turbidity</c:v>
                  </c:pt>
                  <c:pt idx="5">
                    <c:v>All 8 (WQI computable)</c:v>
                  </c:pt>
                </c:lvl>
              </c:multiLvlStrCache>
            </c:multiLvlStrRef>
          </c:cat>
          <c:val>
            <c:numRef>
              <c:f>Sheet1!$B$2:$B$7</c:f>
              <c:numCache>
                <c:formatCode>General</c:formatCode>
                <c:ptCount val="6"/>
                <c:pt idx="0">
                  <c:v>32968</c:v>
                </c:pt>
                <c:pt idx="1">
                  <c:v>24993</c:v>
                </c:pt>
                <c:pt idx="2">
                  <c:v>21547</c:v>
                </c:pt>
                <c:pt idx="3">
                  <c:v>5961</c:v>
                </c:pt>
                <c:pt idx="4">
                  <c:v>5256</c:v>
                </c:pt>
                <c:pt idx="5">
                  <c:v>4861</c:v>
                </c:pt>
              </c:numCache>
            </c:numRef>
          </c:val>
        </c:ser>
        <c:dLbls>
          <c:numFmt formatCode="#,##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9E2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Exact share of index variance per parameter (%)</a:t>
            </a:r>
          </a:p>
        </c:rich>
      </c:tx>
      <c:layout/>
      <c:overlay val="0"/>
    </c:title>
    <c:autoTitleDeleted val="0"/>
    <c:plotArea>
      <c:layout/>
      <c:barChart>
        <c:barDir val="bar"/>
        <c:grouping val="clustered"/>
        <c:varyColors val="0"/>
        <c:ser>
          <c:idx val="0"/>
          <c:order val="0"/>
          <c:tx>
            <c:strRef>
              <c:f>Sheet1!$B$1</c:f>
              <c:strCache>
                <c:ptCount val="1"/>
                <c:pt idx="0">
                  <c:v>Share of WQI variance (%)</c:v>
                </c:pt>
              </c:strCache>
            </c:strRef>
          </c:tx>
          <c:spPr>
            <a:solidFill>
              <a:srgbClr val="1A7F8E"/>
            </a:solidFill>
            <a:effectLst/>
          </c:spPr>
          <c:invertIfNegative val="0"/>
          <c:dLbls>
            <c:numFmt formatCode="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Sheet1!$A$2:$A$9</c:f>
              <c:multiLvlStrCache>
                <c:ptCount val="8"/>
                <c:lvl>
                  <c:pt idx="0">
                    <c:v>pH</c:v>
                  </c:pt>
                  <c:pt idx="1">
                    <c:v>BOD</c:v>
                  </c:pt>
                  <c:pt idx="2">
                    <c:v>Turbidity</c:v>
                  </c:pt>
                  <c:pt idx="3">
                    <c:v>DO</c:v>
                  </c:pt>
                  <c:pt idx="4">
                    <c:v>Nitrate-N</c:v>
                  </c:pt>
                  <c:pt idx="5">
                    <c:v>Fecal coliform</c:v>
                  </c:pt>
                  <c:pt idx="6">
                    <c:v>EC</c:v>
                  </c:pt>
                  <c:pt idx="7">
                    <c:v>Total coliform</c:v>
                  </c:pt>
                </c:lvl>
              </c:multiLvlStrCache>
            </c:multiLvlStrRef>
          </c:cat>
          <c:val>
            <c:numRef>
              <c:f>Sheet1!$B$2:$B$9</c:f>
              <c:numCache>
                <c:formatCode>General</c:formatCode>
                <c:ptCount val="8"/>
                <c:pt idx="0">
                  <c:v>51.1</c:v>
                </c:pt>
                <c:pt idx="1">
                  <c:v>36.4</c:v>
                </c:pt>
                <c:pt idx="2">
                  <c:v>7.3</c:v>
                </c:pt>
                <c:pt idx="3">
                  <c:v>3.6</c:v>
                </c:pt>
                <c:pt idx="4">
                  <c:v>1.3</c:v>
                </c:pt>
                <c:pt idx="5">
                  <c:v>0.19</c:v>
                </c:pt>
                <c:pt idx="6">
                  <c:v>0.04</c:v>
                </c:pt>
                <c:pt idx="7">
                  <c:v>0.02</c:v>
                </c:pt>
              </c:numCache>
            </c:numRef>
          </c:val>
        </c:ser>
        <c:dLbls>
          <c:numFmt formatCode="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9E2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Greedy forward selection (XGBoost, unseen stations)</a:t>
            </a:r>
          </a:p>
        </c:rich>
      </c:tx>
      <c:layout/>
      <c:overlay val="0"/>
    </c:title>
    <c:autoTitleDeleted val="0"/>
    <c:plotArea>
      <c:layout/>
      <c:lineChart>
        <c:varyColors val="0"/>
        <c:ser>
          <c:idx val="0"/>
          <c:order val="0"/>
          <c:tx>
            <c:strRef>
              <c:f>Sheet1!$B$1</c:f>
              <c:strCache>
                <c:ptCount val="1"/>
                <c:pt idx="0">
                  <c:v>R² on unseen stations</c:v>
                </c:pt>
              </c:strCache>
            </c:strRef>
          </c:tx>
          <c:spPr>
            <a:solidFill>
              <a:srgbClr val="1A7F8E"/>
            </a:solidFill>
            <a:ln w="38100" cap="flat">
              <a:solidFill>
                <a:srgbClr val="1A7F8E"/>
              </a:solidFill>
              <a:prstDash val="solid"/>
              <a:round/>
            </a:ln>
            <a:effectLst/>
          </c:spPr>
          <c:invertIfNegative val="0"/>
          <c:dLbls>
            <c:numFmt formatCode="0.000" sourceLinked="0"/>
            <c:txPr>
              <a:bodyPr/>
              <a:lstStyle/>
              <a:p>
                <a:pPr>
                  <a:defRPr b="0" i="0" strike="noStrike" sz="1100" u="none">
                    <a:solidFill>
                      <a:srgbClr val="13293D"/>
                    </a:solidFill>
                    <a:latin typeface="+mn-lt"/>
                  </a:defRPr>
                </a:pPr>
              </a:p>
            </c:txPr>
            <c:dLblPos val="t"/>
            <c:showLegendKey val="0"/>
            <c:showVal val="1"/>
            <c:showCatName val="0"/>
            <c:showSerName val="0"/>
            <c:showPercent val="0"/>
            <c:showBubbleSize val="0"/>
            <c:showLeaderLines val="0"/>
          </c:dLbls>
          <c:marker>
            <c:symbol val="circle"/>
            <c:size val="9"/>
            <c:spPr>
              <a:solidFill>
                <a:srgbClr val="1A7F8E"/>
              </a:solidFill>
              <a:ln w="9525" cap="flat">
                <a:solidFill>
                  <a:srgbClr val="1A7F8E"/>
                </a:solidFill>
                <a:prstDash val="solid"/>
                <a:round/>
              </a:ln>
              <a:effectLst/>
            </c:spPr>
          </c:marker>
          <c:cat>
            <c:multiLvlStrRef>
              <c:f>Sheet1!$A$2:$A$9</c:f>
              <c:multiLvlStrCache>
                <c:ptCount val="8"/>
                <c:lvl>
                  <c:pt idx="0">
                    <c:v>pH</c:v>
                  </c:pt>
                  <c:pt idx="1">
                    <c:v>+BOD</c:v>
                  </c:pt>
                  <c:pt idx="2">
                    <c:v>+Turbidity</c:v>
                  </c:pt>
                  <c:pt idx="3">
                    <c:v>+DO</c:v>
                  </c:pt>
                  <c:pt idx="4">
                    <c:v>+Nitrate</c:v>
                  </c:pt>
                  <c:pt idx="5">
                    <c:v>+EC</c:v>
                  </c:pt>
                  <c:pt idx="6">
                    <c:v>+Fecal coli.</c:v>
                  </c:pt>
                  <c:pt idx="7">
                    <c:v>+Total coli.</c:v>
                  </c:pt>
                </c:lvl>
              </c:multiLvlStrCache>
            </c:multiLvlStrRef>
          </c:cat>
          <c:val>
            <c:numRef>
              <c:f>Sheet1!$B$2:$B$9</c:f>
              <c:numCache>
                <c:formatCode>General</c:formatCode>
                <c:ptCount val="8"/>
                <c:pt idx="0">
                  <c:v>0.508</c:v>
                </c:pt>
                <c:pt idx="1">
                  <c:v>0.939</c:v>
                </c:pt>
                <c:pt idx="2">
                  <c:v>0.977</c:v>
                </c:pt>
                <c:pt idx="3">
                  <c:v>0.993</c:v>
                </c:pt>
                <c:pt idx="4">
                  <c:v>0.998</c:v>
                </c:pt>
                <c:pt idx="5">
                  <c:v>0.997</c:v>
                </c:pt>
                <c:pt idx="6">
                  <c:v>0.997</c:v>
                </c:pt>
                <c:pt idx="7">
                  <c:v>0.997</c:v>
                </c:pt>
              </c:numCache>
            </c:numRef>
          </c:val>
          <c:smooth val="0"/>
        </c:ser>
        <c:dLbls>
          <c:numFmt formatCode="0.000" sourceLinked="0"/>
          <c:txPr>
            <a:bodyPr/>
            <a:lstStyle/>
            <a:p>
              <a:pPr>
                <a:defRPr b="0" i="0" strike="noStrike" sz="1100" u="none">
                  <a:solidFill>
                    <a:srgbClr val="13293D"/>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max val="1.1"/>
          <c:min val="0.4"/>
        </c:scaling>
        <c:delete val="0"/>
        <c:axPos val="l"/>
        <c:majorGridlines>
          <c:spPr>
            <a:ln w="9525" cap="flat">
              <a:solidFill>
                <a:srgbClr val="D9E2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R² on unseen stations</a:t>
            </a:r>
          </a:p>
        </c:rich>
      </c:tx>
      <c:layout/>
      <c:overlay val="0"/>
    </c:title>
    <c:autoTitleDeleted val="0"/>
    <c:plotArea>
      <c:layout/>
      <c:barChart>
        <c:barDir val="col"/>
        <c:grouping val="clustered"/>
        <c:varyColors val="0"/>
        <c:ser>
          <c:idx val="0"/>
          <c:order val="0"/>
          <c:tx>
            <c:strRef>
              <c:f>Sheet1!$B$1</c:f>
              <c:strCache>
                <c:ptCount val="1"/>
                <c:pt idx="0">
                  <c:v>XGBoost</c:v>
                </c:pt>
              </c:strCache>
            </c:strRef>
          </c:tx>
          <c:spPr>
            <a:solidFill>
              <a:srgbClr val="1A7F8E"/>
            </a:solidFill>
            <a:effectLst/>
          </c:spPr>
          <c:invertIfNegative val="0"/>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Sheet1!$A$2:$A$7</c:f>
              <c:multiLvlStrCache>
                <c:ptCount val="6"/>
                <c:lvl>
                  <c:pt idx="0">
                    <c:v>S3</c:v>
                  </c:pt>
                  <c:pt idx="1">
                    <c:v>S4-routine</c:v>
                  </c:pt>
                  <c:pt idx="2">
                    <c:v>S5</c:v>
                  </c:pt>
                  <c:pt idx="3">
                    <c:v>I3</c:v>
                  </c:pt>
                  <c:pt idx="4">
                    <c:v>S7</c:v>
                  </c:pt>
                  <c:pt idx="5">
                    <c:v>Sensor-4</c:v>
                  </c:pt>
                </c:lvl>
              </c:multiLvlStrCache>
            </c:multiLvlStrRef>
          </c:cat>
          <c:val>
            <c:numRef>
              <c:f>Sheet1!$B$2:$B$7</c:f>
              <c:numCache>
                <c:formatCode>General</c:formatCode>
                <c:ptCount val="6"/>
                <c:pt idx="0">
                  <c:v>0.957</c:v>
                </c:pt>
                <c:pt idx="1">
                  <c:v>0.965</c:v>
                </c:pt>
                <c:pt idx="2">
                  <c:v>0.967</c:v>
                </c:pt>
                <c:pt idx="3">
                  <c:v>0.977</c:v>
                </c:pt>
                <c:pt idx="4">
                  <c:v>0.994</c:v>
                </c:pt>
                <c:pt idx="5">
                  <c:v>0.828</c:v>
                </c:pt>
              </c:numCache>
            </c:numRef>
          </c:val>
        </c:ser>
        <c:ser>
          <c:idx val="1"/>
          <c:order val="1"/>
          <c:tx>
            <c:strRef>
              <c:f>Sheet1!$C$1</c:f>
              <c:strCache>
                <c:ptCount val="1"/>
                <c:pt idx="0">
                  <c:v>Formula over available parameters</c:v>
                </c:pt>
              </c:strCache>
            </c:strRef>
          </c:tx>
          <c:spPr>
            <a:solidFill>
              <a:srgbClr val="8A9BA8"/>
            </a:solidFill>
            <a:effectLst/>
          </c:spPr>
          <c:invertIfNegative val="0"/>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Sheet1!$A$2:$A$7</c:f>
              <c:multiLvlStrCache>
                <c:ptCount val="6"/>
                <c:lvl>
                  <c:pt idx="0">
                    <c:v>S3</c:v>
                  </c:pt>
                  <c:pt idx="1">
                    <c:v>S4-routine</c:v>
                  </c:pt>
                  <c:pt idx="2">
                    <c:v>S5</c:v>
                  </c:pt>
                  <c:pt idx="3">
                    <c:v>I3</c:v>
                  </c:pt>
                  <c:pt idx="4">
                    <c:v>S7</c:v>
                  </c:pt>
                  <c:pt idx="5">
                    <c:v>Sensor-4</c:v>
                  </c:pt>
                </c:lvl>
              </c:multiLvlStrCache>
            </c:multiLvlStrRef>
          </c:cat>
          <c:val>
            <c:numRef>
              <c:f>Sheet1!$C$2:$C$7</c:f>
              <c:numCache>
                <c:formatCode>General</c:formatCode>
                <c:ptCount val="6"/>
                <c:pt idx="0">
                  <c:v>0.863</c:v>
                </c:pt>
                <c:pt idx="1">
                  <c:v>0.865</c:v>
                </c:pt>
                <c:pt idx="2">
                  <c:v>0.866</c:v>
                </c:pt>
                <c:pt idx="3">
                  <c:v>0.874</c:v>
                </c:pt>
                <c:pt idx="4">
                  <c:v>0.903</c:v>
                </c:pt>
                <c:pt idx="5">
                  <c:v>0.389</c:v>
                </c:pt>
              </c:numCache>
            </c:numRef>
          </c:val>
        </c:ser>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9E2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Error as training data shrinks</a:t>
            </a:r>
          </a:p>
        </c:rich>
      </c:tx>
      <c:layout/>
      <c:overlay val="0"/>
    </c:title>
    <c:autoTitleDeleted val="0"/>
    <c:plotArea>
      <c:layout/>
      <c:lineChart>
        <c:varyColors val="0"/>
        <c:ser>
          <c:idx val="0"/>
          <c:order val="0"/>
          <c:tx>
            <c:strRef>
              <c:f>Sheet1!$B$1</c:f>
              <c:strCache>
                <c:ptCount val="1"/>
                <c:pt idx="0">
                  <c:v>Formula (no training)</c:v>
                </c:pt>
              </c:strCache>
            </c:strRef>
          </c:tx>
          <c:spPr>
            <a:solidFill>
              <a:srgbClr val="8A9BA8"/>
            </a:solidFill>
            <a:ln w="38100" cap="flat">
              <a:solidFill>
                <a:srgbClr val="8A9BA8"/>
              </a:solidFill>
              <a:prstDash val="solid"/>
              <a:round/>
            </a:ln>
            <a:effectLst/>
          </c:spPr>
          <c:invertIfNegative val="0"/>
          <c:dLbls>
            <c:numFmt formatCode="#,##0" sourceLinked="0"/>
            <c:txPr>
              <a:bodyPr/>
              <a:lstStyle/>
              <a:p>
                <a:pPr>
                  <a:defRPr b="0" i="0" strike="noStrike" sz="1100" u="none">
                    <a:solidFill>
                      <a:srgbClr val="13293D"/>
                    </a:solidFill>
                    <a:latin typeface="+mn-lt"/>
                  </a:defRPr>
                </a:pPr>
              </a:p>
            </c:txPr>
            <c:showLegendKey val="0"/>
            <c:showVal val="0"/>
            <c:showCatName val="0"/>
            <c:showSerName val="0"/>
            <c:showPercent val="0"/>
            <c:showBubbleSize val="0"/>
            <c:showLeaderLines val="0"/>
          </c:dLbls>
          <c:marker>
            <c:symbol val="circle"/>
            <c:size val="8"/>
            <c:spPr>
              <a:solidFill>
                <a:srgbClr val="8A9BA8"/>
              </a:solidFill>
              <a:ln w="9525" cap="flat">
                <a:solidFill>
                  <a:srgbClr val="8A9BA8"/>
                </a:solidFill>
                <a:prstDash val="solid"/>
                <a:round/>
              </a:ln>
              <a:effectLst/>
            </c:spPr>
          </c:marker>
          <c:cat>
            <c:multiLvlStrRef>
              <c:f>Sheet1!$A$2:$A$7</c:f>
              <c:multiLvlStrCache>
                <c:ptCount val="6"/>
                <c:lvl>
                  <c:pt idx="0">
                    <c:v>9</c:v>
                  </c:pt>
                  <c:pt idx="1">
                    <c:v>24</c:v>
                  </c:pt>
                  <c:pt idx="2">
                    <c:v>47</c:v>
                  </c:pt>
                  <c:pt idx="3">
                    <c:v>118</c:v>
                  </c:pt>
                  <c:pt idx="4">
                    <c:v>237</c:v>
                  </c:pt>
                  <c:pt idx="5">
                    <c:v>474</c:v>
                  </c:pt>
                </c:lvl>
              </c:multiLvlStrCache>
            </c:multiLvlStrRef>
          </c:cat>
          <c:val>
            <c:numRef>
              <c:f>Sheet1!$B$2:$B$7</c:f>
              <c:numCache>
                <c:formatCode>General</c:formatCode>
                <c:ptCount val="6"/>
                <c:pt idx="0">
                  <c:v>5.2</c:v>
                </c:pt>
                <c:pt idx="1">
                  <c:v>5.2</c:v>
                </c:pt>
                <c:pt idx="2">
                  <c:v>5.2</c:v>
                </c:pt>
                <c:pt idx="3">
                  <c:v>5.2</c:v>
                </c:pt>
                <c:pt idx="4">
                  <c:v>5.2</c:v>
                </c:pt>
                <c:pt idx="5">
                  <c:v>5.2</c:v>
                </c:pt>
              </c:numCache>
            </c:numRef>
          </c:val>
          <c:smooth val="0"/>
        </c:ser>
        <c:ser>
          <c:idx val="1"/>
          <c:order val="1"/>
          <c:tx>
            <c:strRef>
              <c:f>Sheet1!$C$1</c:f>
              <c:strCache>
                <c:ptCount val="1"/>
                <c:pt idx="0">
                  <c:v>Gaussian process</c:v>
                </c:pt>
              </c:strCache>
            </c:strRef>
          </c:tx>
          <c:spPr>
            <a:solidFill>
              <a:srgbClr val="F2A541"/>
            </a:solidFill>
            <a:ln w="38100" cap="flat">
              <a:solidFill>
                <a:srgbClr val="F2A541"/>
              </a:solidFill>
              <a:prstDash val="solid"/>
              <a:round/>
            </a:ln>
            <a:effectLst/>
          </c:spPr>
          <c:invertIfNegative val="0"/>
          <c:dLbls>
            <c:numFmt formatCode="#,##0" sourceLinked="0"/>
            <c:txPr>
              <a:bodyPr/>
              <a:lstStyle/>
              <a:p>
                <a:pPr>
                  <a:defRPr b="0" i="0" strike="noStrike" sz="1100" u="none">
                    <a:solidFill>
                      <a:srgbClr val="13293D"/>
                    </a:solidFill>
                    <a:latin typeface="+mn-lt"/>
                  </a:defRPr>
                </a:pPr>
              </a:p>
            </c:txPr>
            <c:showLegendKey val="0"/>
            <c:showVal val="0"/>
            <c:showCatName val="0"/>
            <c:showSerName val="0"/>
            <c:showPercent val="0"/>
            <c:showBubbleSize val="0"/>
            <c:showLeaderLines val="0"/>
          </c:dLbls>
          <c:marker>
            <c:symbol val="circle"/>
            <c:size val="8"/>
            <c:spPr>
              <a:solidFill>
                <a:srgbClr val="F2A541"/>
              </a:solidFill>
              <a:ln w="9525" cap="flat">
                <a:solidFill>
                  <a:srgbClr val="F2A541"/>
                </a:solidFill>
                <a:prstDash val="solid"/>
                <a:round/>
              </a:ln>
              <a:effectLst/>
            </c:spPr>
          </c:marker>
          <c:cat>
            <c:multiLvlStrRef>
              <c:f>Sheet1!$A$2:$A$7</c:f>
              <c:multiLvlStrCache>
                <c:ptCount val="6"/>
                <c:lvl>
                  <c:pt idx="0">
                    <c:v>9</c:v>
                  </c:pt>
                  <c:pt idx="1">
                    <c:v>24</c:v>
                  </c:pt>
                  <c:pt idx="2">
                    <c:v>47</c:v>
                  </c:pt>
                  <c:pt idx="3">
                    <c:v>118</c:v>
                  </c:pt>
                  <c:pt idx="4">
                    <c:v>237</c:v>
                  </c:pt>
                  <c:pt idx="5">
                    <c:v>474</c:v>
                  </c:pt>
                </c:lvl>
              </c:multiLvlStrCache>
            </c:multiLvlStrRef>
          </c:cat>
          <c:val>
            <c:numRef>
              <c:f>Sheet1!$C$2:$C$7</c:f>
              <c:numCache>
                <c:formatCode>General</c:formatCode>
                <c:ptCount val="6"/>
                <c:pt idx="0">
                  <c:v>5.92</c:v>
                </c:pt>
                <c:pt idx="1">
                  <c:v>4.31</c:v>
                </c:pt>
                <c:pt idx="2">
                  <c:v>3.9</c:v>
                </c:pt>
                <c:pt idx="3">
                  <c:v>3.3</c:v>
                </c:pt>
                <c:pt idx="4">
                  <c:v>3.21</c:v>
                </c:pt>
                <c:pt idx="5">
                  <c:v>3.14</c:v>
                </c:pt>
              </c:numCache>
            </c:numRef>
          </c:val>
          <c:smooth val="0"/>
        </c:ser>
        <c:ser>
          <c:idx val="2"/>
          <c:order val="2"/>
          <c:tx>
            <c:strRef>
              <c:f>Sheet1!$D$1</c:f>
              <c:strCache>
                <c:ptCount val="1"/>
                <c:pt idx="0">
                  <c:v>XGBoost</c:v>
                </c:pt>
              </c:strCache>
            </c:strRef>
          </c:tx>
          <c:spPr>
            <a:solidFill>
              <a:srgbClr val="1A7F8E"/>
            </a:solidFill>
            <a:ln w="38100" cap="flat">
              <a:solidFill>
                <a:srgbClr val="1A7F8E"/>
              </a:solidFill>
              <a:prstDash val="solid"/>
              <a:round/>
            </a:ln>
            <a:effectLst/>
          </c:spPr>
          <c:invertIfNegative val="0"/>
          <c:dLbls>
            <c:numFmt formatCode="#,##0" sourceLinked="0"/>
            <c:txPr>
              <a:bodyPr/>
              <a:lstStyle/>
              <a:p>
                <a:pPr>
                  <a:defRPr b="0" i="0" strike="noStrike" sz="1100" u="none">
                    <a:solidFill>
                      <a:srgbClr val="13293D"/>
                    </a:solidFill>
                    <a:latin typeface="+mn-lt"/>
                  </a:defRPr>
                </a:pPr>
              </a:p>
            </c:txPr>
            <c:showLegendKey val="0"/>
            <c:showVal val="0"/>
            <c:showCatName val="0"/>
            <c:showSerName val="0"/>
            <c:showPercent val="0"/>
            <c:showBubbleSize val="0"/>
            <c:showLeaderLines val="0"/>
          </c:dLbls>
          <c:marker>
            <c:symbol val="circle"/>
            <c:size val="8"/>
            <c:spPr>
              <a:solidFill>
                <a:srgbClr val="1A7F8E"/>
              </a:solidFill>
              <a:ln w="9525" cap="flat">
                <a:solidFill>
                  <a:srgbClr val="1A7F8E"/>
                </a:solidFill>
                <a:prstDash val="solid"/>
                <a:round/>
              </a:ln>
              <a:effectLst/>
            </c:spPr>
          </c:marker>
          <c:cat>
            <c:multiLvlStrRef>
              <c:f>Sheet1!$A$2:$A$7</c:f>
              <c:multiLvlStrCache>
                <c:ptCount val="6"/>
                <c:lvl>
                  <c:pt idx="0">
                    <c:v>9</c:v>
                  </c:pt>
                  <c:pt idx="1">
                    <c:v>24</c:v>
                  </c:pt>
                  <c:pt idx="2">
                    <c:v>47</c:v>
                  </c:pt>
                  <c:pt idx="3">
                    <c:v>118</c:v>
                  </c:pt>
                  <c:pt idx="4">
                    <c:v>237</c:v>
                  </c:pt>
                  <c:pt idx="5">
                    <c:v>474</c:v>
                  </c:pt>
                </c:lvl>
              </c:multiLvlStrCache>
            </c:multiLvlStrRef>
          </c:cat>
          <c:val>
            <c:numRef>
              <c:f>Sheet1!$D$2:$D$7</c:f>
              <c:numCache>
                <c:formatCode>General</c:formatCode>
                <c:ptCount val="6"/>
                <c:pt idx="0">
                  <c:v>6.56</c:v>
                </c:pt>
                <c:pt idx="1">
                  <c:v>4.54</c:v>
                </c:pt>
                <c:pt idx="2">
                  <c:v>3.95</c:v>
                </c:pt>
                <c:pt idx="3">
                  <c:v>3.36</c:v>
                </c:pt>
                <c:pt idx="4">
                  <c:v>3.11</c:v>
                </c:pt>
                <c:pt idx="5">
                  <c:v>2.93</c:v>
                </c:pt>
              </c:numCache>
            </c:numRef>
          </c:val>
          <c:smooth val="0"/>
        </c:ser>
        <c:dLbls>
          <c:numFmt formatCode="#,##0" sourceLinked="0"/>
          <c:txPr>
            <a:bodyPr/>
            <a:lstStyle/>
            <a:p>
              <a:pPr>
                <a:defRPr b="0" i="0" strike="noStrike" sz="1100" u="none">
                  <a:solidFill>
                    <a:srgbClr val="13293D"/>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13293D"/>
                    </a:solidFill>
                    <a:latin typeface="+mn-lt"/>
                  </a:defRPr>
                </a:pPr>
                <a:r>
                  <a:rPr sz="1200" b="0" i="0" u="none" strike="noStrike">
                    <a:solidFill>
                      <a:srgbClr val="13293D"/>
                    </a:solidFill>
                    <a:latin typeface="+mn-lt"/>
                  </a:rPr>
                  <a:t>Training stations (S3, unseen test stations)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max val="7"/>
          <c:min val="2"/>
        </c:scaling>
        <c:delete val="0"/>
        <c:axPos val="l"/>
        <c:majorGridlines>
          <c:spPr>
            <a:ln w="9525" cap="flat">
              <a:solidFill>
                <a:srgbClr val="D9E2E6"/>
              </a:solidFill>
              <a:prstDash val="solid"/>
              <a:round/>
            </a:ln>
          </c:spPr>
        </c:majorGridlines>
        <c:title>
          <c:tx>
            <c:rich>
              <a:bodyPr/>
              <a:lstStyle/>
              <a:p>
                <a:pPr>
                  <a:defRPr sz="1200" b="0" i="0" u="none" strike="noStrike">
                    <a:solidFill>
                      <a:srgbClr val="13293D"/>
                    </a:solidFill>
                    <a:latin typeface="+mn-lt"/>
                  </a:defRPr>
                </a:pPr>
                <a:r>
                  <a:rPr sz="1200" b="0" i="0" u="none" strike="noStrike">
                    <a:solidFill>
                      <a:srgbClr val="13293D"/>
                    </a:solidFill>
                    <a:latin typeface="+mn-lt"/>
                  </a:rPr>
                  <a:t>RMSE (WQI points)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Full-panel model error with field noise on one parameter</a:t>
            </a:r>
          </a:p>
        </c:rich>
      </c:tx>
      <c:layout/>
      <c:overlay val="0"/>
    </c:title>
    <c:autoTitleDeleted val="0"/>
    <c:plotArea>
      <c:layout/>
      <c:barChart>
        <c:barDir val="bar"/>
        <c:grouping val="clustered"/>
        <c:varyColors val="0"/>
        <c:ser>
          <c:idx val="0"/>
          <c:order val="0"/>
          <c:tx>
            <c:strRef>
              <c:f>Sheet1!$B$1</c:f>
              <c:strCache>
                <c:ptCount val="1"/>
                <c:pt idx="0">
                  <c:v>Full-8 RMSE</c:v>
                </c:pt>
              </c:strCache>
            </c:strRef>
          </c:tx>
          <c:spPr>
            <a:solidFill>
              <a:srgbClr val="D1495B"/>
            </a:solidFill>
            <a:effectLst/>
          </c:spPr>
          <c:invertIfNegative val="0"/>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Sheet1!$A$2:$A$7</c:f>
              <c:multiLvlStrCache>
                <c:ptCount val="6"/>
                <c:lvl>
                  <c:pt idx="0">
                    <c:v>No noise</c:v>
                  </c:pt>
                  <c:pt idx="1">
                    <c:v>pH ±0.1</c:v>
                  </c:pt>
                  <c:pt idx="2">
                    <c:v>BOD ±15%</c:v>
                  </c:pt>
                  <c:pt idx="3">
                    <c:v>DO ±0.3 mg/L</c:v>
                  </c:pt>
                  <c:pt idx="4">
                    <c:v>Turbidity ±10%</c:v>
                  </c:pt>
                  <c:pt idx="5">
                    <c:v>Coliforms ±50%</c:v>
                  </c:pt>
                </c:lvl>
              </c:multiLvlStrCache>
            </c:multiLvlStrRef>
          </c:cat>
          <c:val>
            <c:numRef>
              <c:f>Sheet1!$B$2:$B$7</c:f>
              <c:numCache>
                <c:formatCode>General</c:formatCode>
                <c:ptCount val="6"/>
                <c:pt idx="0">
                  <c:v>0.76</c:v>
                </c:pt>
                <c:pt idx="1">
                  <c:v>3.13</c:v>
                </c:pt>
                <c:pt idx="2">
                  <c:v>2.11</c:v>
                </c:pt>
                <c:pt idx="3">
                  <c:v>0.9</c:v>
                </c:pt>
                <c:pt idx="4">
                  <c:v>0.8</c:v>
                </c:pt>
                <c:pt idx="5">
                  <c:v>0.76</c:v>
                </c:pt>
              </c:numCache>
            </c:numRef>
          </c:val>
        </c:ser>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D9E2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93D"/>
                </a:solidFill>
                <a:latin typeface="+mn-lt"/>
              </a:defRPr>
            </a:pPr>
            <a:r>
              <a:rPr sz="1400" b="0" i="0" u="none" strike="noStrike">
                <a:solidFill>
                  <a:srgbClr val="13293D"/>
                </a:solidFill>
                <a:latin typeface="+mn-lt"/>
              </a:rPr>
              <a:t>R² on unseen stations under two index definitions</a:t>
            </a:r>
          </a:p>
        </c:rich>
      </c:tx>
      <c:layout/>
      <c:overlay val="0"/>
    </c:title>
    <c:autoTitleDeleted val="0"/>
    <c:plotArea>
      <c:layout/>
      <c:barChart>
        <c:barDir val="col"/>
        <c:grouping val="clustered"/>
        <c:varyColors val="0"/>
        <c:ser>
          <c:idx val="0"/>
          <c:order val="0"/>
          <c:tx>
            <c:strRef>
              <c:f>Sheet1!$B$1</c:f>
              <c:strCache>
                <c:ptCount val="1"/>
                <c:pt idx="0">
                  <c:v>CPCB weights (1/Sᵢ)</c:v>
                </c:pt>
              </c:strCache>
            </c:strRef>
          </c:tx>
          <c:spPr>
            <a:solidFill>
              <a:srgbClr val="1A7F8E"/>
            </a:solidFill>
            <a:effectLst/>
          </c:spPr>
          <c:invertIfNegative val="0"/>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Sheet1!$A$2:$A$7</c:f>
              <c:multiLvlStrCache>
                <c:ptCount val="6"/>
                <c:lvl>
                  <c:pt idx="0">
                    <c:v>S3</c:v>
                  </c:pt>
                  <c:pt idx="1">
                    <c:v>S4-routine</c:v>
                  </c:pt>
                  <c:pt idx="2">
                    <c:v>S5</c:v>
                  </c:pt>
                  <c:pt idx="3">
                    <c:v>I3</c:v>
                  </c:pt>
                  <c:pt idx="4">
                    <c:v>S7</c:v>
                  </c:pt>
                  <c:pt idx="5">
                    <c:v>Full-8</c:v>
                  </c:pt>
                </c:lvl>
              </c:multiLvlStrCache>
            </c:multiLvlStrRef>
          </c:cat>
          <c:val>
            <c:numRef>
              <c:f>Sheet1!$B$2:$B$7</c:f>
              <c:numCache>
                <c:formatCode>General</c:formatCode>
                <c:ptCount val="6"/>
                <c:pt idx="0">
                  <c:v>0.957</c:v>
                </c:pt>
                <c:pt idx="1">
                  <c:v>0.964</c:v>
                </c:pt>
                <c:pt idx="2">
                  <c:v>0.967</c:v>
                </c:pt>
                <c:pt idx="3">
                  <c:v>0.977</c:v>
                </c:pt>
                <c:pt idx="4">
                  <c:v>0.994</c:v>
                </c:pt>
                <c:pt idx="5">
                  <c:v>0.997</c:v>
                </c:pt>
              </c:numCache>
            </c:numRef>
          </c:val>
        </c:ser>
        <c:ser>
          <c:idx val="1"/>
          <c:order val="1"/>
          <c:tx>
            <c:strRef>
              <c:f>Sheet1!$C$1</c:f>
              <c:strCache>
                <c:ptCount val="1"/>
                <c:pt idx="0">
                  <c:v>Equal weights</c:v>
                </c:pt>
              </c:strCache>
            </c:strRef>
          </c:tx>
          <c:spPr>
            <a:solidFill>
              <a:srgbClr val="F2A541"/>
            </a:solidFill>
            <a:effectLst/>
          </c:spPr>
          <c:invertIfNegative val="0"/>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cat>
            <c:multiLvlStrRef>
              <c:f>Sheet1!$A$2:$A$7</c:f>
              <c:multiLvlStrCache>
                <c:ptCount val="6"/>
                <c:lvl>
                  <c:pt idx="0">
                    <c:v>S3</c:v>
                  </c:pt>
                  <c:pt idx="1">
                    <c:v>S4-routine</c:v>
                  </c:pt>
                  <c:pt idx="2">
                    <c:v>S5</c:v>
                  </c:pt>
                  <c:pt idx="3">
                    <c:v>I3</c:v>
                  </c:pt>
                  <c:pt idx="4">
                    <c:v>S7</c:v>
                  </c:pt>
                  <c:pt idx="5">
                    <c:v>Full-8</c:v>
                  </c:pt>
                </c:lvl>
              </c:multiLvlStrCache>
            </c:multiLvlStrRef>
          </c:cat>
          <c:val>
            <c:numRef>
              <c:f>Sheet1!$C$2:$C$7</c:f>
              <c:numCache>
                <c:formatCode>General</c:formatCode>
                <c:ptCount val="6"/>
                <c:pt idx="0">
                  <c:v>0.617</c:v>
                </c:pt>
                <c:pt idx="1">
                  <c:v>0.902</c:v>
                </c:pt>
                <c:pt idx="2">
                  <c:v>0.937</c:v>
                </c:pt>
                <c:pt idx="3">
                  <c:v>0.802</c:v>
                </c:pt>
                <c:pt idx="4">
                  <c:v>0.99</c:v>
                </c:pt>
                <c:pt idx="5">
                  <c:v>0.996</c:v>
                </c:pt>
              </c:numCache>
            </c:numRef>
          </c:val>
        </c:ser>
        <c:dLbls>
          <c:numFmt formatCode="0.00" sourceLinked="0"/>
          <c:txPr>
            <a:bodyPr/>
            <a:lstStyle/>
            <a:p>
              <a:pPr>
                <a:defRPr b="0" i="0" strike="noStrike" sz="1100" u="none">
                  <a:solidFill>
                    <a:srgbClr val="1329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93D"/>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D9E2E6"/>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3293D"/>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question: can a few cheap, routinely measured parameters stand in for the full eight-parameter panel that a Water Quality Index needs? Everything shown uses real CPCB data from the National Water Data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CPCB visits rarely report the full panel. Three quarters report pH, DO and BOD, but only 14.7 percent report all eight parameters, so most visits never get a WQI. If a model can recover the full-panel index from the reduced panel, the index becomes available for about five times as many visits.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downloaded 211 CSV files, joined physical, chemical and biological tables on station and date, filtered to rivers, and audited the pipeline. The most important finding: four of the eight parameters were recorded almost exclusively in 2020, so the ground truth exists for one year only, while 2018, 2019 and 2021 are naturally data-scarce.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index is linear in the capped sub-indices, its variance decomposes exactly. pH and BOD explain 87.5 percent; the coliforms and EC together explain under 0.3 percent. This is arithmetic, not hydrology: the weights are inversely proportional to the numeric value of each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Surrogate modelling: the ground truth is computed once from all eight parameters. Each model sees only a subset and is trained to reproduce that same target. Headline numbers use unseen stations, which mimics deploying at a new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importance methods (correlation, mutual information, RF, XGBoost gain, permutation, SHAP, drop-column, analytic variance share) agree on the order. Forward selection reaches the ceiling at five parameters; the last three add nothing. Picking by correlation alone would have chosen the coliforms.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255 subsets were scored on unseen stations. At three parameters, R-squared ranges from 0.26 to 0.98 depending on which three. The best three beat the median six. The planned S3 is second of 56; the planned S5 only 13th of 56 because it adds the near-weightless coliform and 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no-ML alternative is to evaluate the formula over the parameters you have, with renormalised weights. The model beats it everywhere, most dramatically for probe-only panels. The model estimates the missing turbidity and nitrate contribution from correlations, season and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only pH, DO and BOD, the model reaches R-squared 0.957 at stations it has never seen, and every category error is to an adjacent class. Holding out whole rivers gives 0.942, whole states 0.943 and a whole season 0.949. Adding turbidity (S7 or I4) brings it to about 0.994.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kept 2 to 100 percent of the training stations while testing on the same unseen stations. Below about 25 stations no learned model beats the renormalised formula; GPR degrades most gracefully; XGBoost wins with more data. A sparsely monitored region gains more from more stations than from more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Conformal intervals hold their nominal coverage at every level from 50 to 95 percent; raw quantile regression under-covers and GPR is miscalibrated away from 90 percent. Measurement noise matters more than parameter count: a pH error of only 0.1 units raises the full model's error from 0.76 to 3.13, worse than dropping five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reduced panel inherits the priorities of the index it imitates. Under equal weights S3 explains only 62 percent of the variance; for the uncapped index, which tracks extreme silt and sewage events, turbidity is essential. The EC standard, our least well-sourced value, turns out not to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the pH-DO-BOD model to every visit lacking a full panel. An adversarial check shows the inputs differ mainly in BOD; reweighting the CV errors for that shift gives RMSE 3.0, so accuracy barely changes. The data also revealed that low BOD values are left blank outside 2020, which would otherwise look like a trend.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0 needs nothing new: the routine panel plus location and month already gives R-squared 0.977. A single turbidity probe brings it to 0.994. The operating rules matter as much as the parameters: pH calibration, routing to the right model instead of imputing, publishing intervals, and reporting coliforms separately because the CPCB weighting ignores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reduced-parameter monitoring works for the CPCB index if the right parameters are measured precisely and the model has enough stations to learn from. Close with the caveats and next steps,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CV301 Environmental Engineering · NITK Surathkal · Reduced-parameter WQI</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640080" y="1234440"/>
            <a:ext cx="3291840" cy="3566160"/>
          </a:xfrm>
          <a:prstGeom prst="roundRect">
            <a:avLst>
              <a:gd name="adj" fmla="val 3333"/>
            </a:avLst>
          </a:prstGeom>
          <a:solidFill>
            <a:schemeClr val="bg1"/>
          </a:solidFill>
          <a:ln w="12700">
            <a:solidFill>
              <a:schemeClr val="bg1"/>
            </a:solidFill>
            <a:prstDash val="solid"/>
          </a:ln>
        </p:spPr>
      </p:sp>
      <p:pic>
        <p:nvPicPr>
          <p:cNvPr id="3" name="NITK logo" descr="/home/mayank-tiwari/Projects/envi-project/image.png">    </p:cNvPr>
          <p:cNvPicPr>
            <a:picLocks noChangeAspect="1"/>
          </p:cNvPicPr>
          <p:nvPr/>
        </p:nvPicPr>
        <p:blipFill>
          <a:blip r:embed="rId1"/>
          <a:stretch>
            <a:fillRect/>
          </a:stretch>
        </p:blipFill>
        <p:spPr>
          <a:xfrm>
            <a:off x="960120" y="1600200"/>
            <a:ext cx="2651760" cy="2505456"/>
          </a:xfrm>
          <a:prstGeom prst="rect">
            <a:avLst/>
          </a:prstGeom>
        </p:spPr>
      </p:pic>
      <p:sp>
        <p:nvSpPr>
          <p:cNvPr id="4" name="Institute"/>
          <p:cNvSpPr txBox="1"/>
          <p:nvPr/>
        </p:nvSpPr>
        <p:spPr>
          <a:xfrm>
            <a:off x="640080" y="411480"/>
            <a:ext cx="10972800" cy="411480"/>
          </a:xfrm>
          <a:prstGeom prst="rect">
            <a:avLst/>
          </a:prstGeom>
          <a:noFill/>
          <a:ln/>
        </p:spPr>
        <p:txBody>
          <a:bodyPr wrap="square" lIns="0" tIns="0" rIns="0" bIns="0" rtlCol="0" anchor="ctr"/>
          <a:lstStyle/>
          <a:p>
            <a:pPr indent="0" marL="0">
              <a:buNone/>
            </a:pPr>
            <a:r>
              <a:rPr lang="en-US" sz="1600" b="1" spc="100" kern="0" dirty="0">
                <a:solidFill>
                  <a:schemeClr val="accent2"/>
                </a:solidFill>
              </a:rPr>
              <a:t>NATIONAL INSTITUTE OF TECHNOLOGY KARNATAKA, SURATHKAL</a:t>
            </a:r>
            <a:endParaRPr lang="en-US" sz="1600" dirty="0"/>
          </a:p>
        </p:txBody>
      </p:sp>
      <p:sp>
        <p:nvSpPr>
          <p:cNvPr id="5" name="Deck title"/>
          <p:cNvSpPr txBox="1"/>
          <p:nvPr/>
        </p:nvSpPr>
        <p:spPr>
          <a:xfrm>
            <a:off x="4389120" y="1188720"/>
            <a:ext cx="7223760" cy="1737360"/>
          </a:xfrm>
          <a:prstGeom prst="rect">
            <a:avLst/>
          </a:prstGeom>
          <a:noFill/>
          <a:ln/>
        </p:spPr>
        <p:txBody>
          <a:bodyPr wrap="square" lIns="0" tIns="0" rIns="0" bIns="0" rtlCol="0" anchor="t"/>
          <a:lstStyle/>
          <a:p>
            <a:pPr indent="0" marL="0">
              <a:buNone/>
            </a:pPr>
            <a:r>
              <a:rPr lang="en-US" sz="3400" b="1" dirty="0">
                <a:solidFill>
                  <a:schemeClr val="bg1"/>
                </a:solidFill>
                <a:latin typeface="Cambria" pitchFamily="34" charset="0"/>
                <a:ea typeface="Cambria" pitchFamily="34" charset="-122"/>
                <a:cs typeface="Cambria" pitchFamily="34" charset="-120"/>
              </a:rPr>
              <a:t>Reduced-Parameter Water Quality Index Prediction for Data-Scarce River Systems</a:t>
            </a:r>
            <a:endParaRPr lang="en-US" sz="3400" dirty="0"/>
          </a:p>
        </p:txBody>
      </p:sp>
      <p:sp>
        <p:nvSpPr>
          <p:cNvPr id="6" name="Subtitle"/>
          <p:cNvSpPr txBox="1"/>
          <p:nvPr/>
        </p:nvSpPr>
        <p:spPr>
          <a:xfrm>
            <a:off x="4389120" y="2971800"/>
            <a:ext cx="7223760" cy="411480"/>
          </a:xfrm>
          <a:prstGeom prst="rect">
            <a:avLst/>
          </a:prstGeom>
          <a:noFill/>
          <a:ln/>
        </p:spPr>
        <p:txBody>
          <a:bodyPr wrap="square" lIns="0" tIns="0" rIns="0" bIns="0" rtlCol="0" anchor="ctr"/>
          <a:lstStyle/>
          <a:p>
            <a:pPr indent="0" marL="0">
              <a:buNone/>
            </a:pPr>
            <a:r>
              <a:rPr lang="en-US" sz="1800" i="1" dirty="0">
                <a:solidFill>
                  <a:schemeClr val="bg2"/>
                </a:solidFill>
              </a:rPr>
              <a:t>Evidence from 32,968 CPCB river monitoring visits, 2018–2021</a:t>
            </a:r>
            <a:endParaRPr lang="en-US" sz="1800" dirty="0"/>
          </a:p>
        </p:txBody>
      </p:sp>
      <p:sp>
        <p:nvSpPr>
          <p:cNvPr id="7" name="Course and faculty"/>
          <p:cNvSpPr txBox="1"/>
          <p:nvPr/>
        </p:nvSpPr>
        <p:spPr>
          <a:xfrm>
            <a:off x="4389120" y="3657600"/>
            <a:ext cx="7223760" cy="685800"/>
          </a:xfrm>
          <a:prstGeom prst="rect">
            <a:avLst/>
          </a:prstGeom>
          <a:noFill/>
          <a:ln/>
        </p:spPr>
        <p:txBody>
          <a:bodyPr wrap="square" lIns="0" tIns="0" rIns="0" bIns="0" rtlCol="0" anchor="ctr"/>
          <a:lstStyle/>
          <a:p>
            <a:pPr indent="0" marL="0">
              <a:buNone/>
            </a:pPr>
            <a:r>
              <a:rPr lang="en-US" sz="1600" b="1" dirty="0">
                <a:solidFill>
                  <a:schemeClr val="accent2"/>
                </a:solidFill>
              </a:rPr>
              <a:t>Course: </a:t>
            </a:r>
            <a:pPr indent="0" marL="0">
              <a:buNone/>
            </a:pPr>
            <a:r>
              <a:rPr lang="en-US" sz="1600" dirty="0">
                <a:solidFill>
                  <a:schemeClr val="bg1"/>
                </a:solidFill>
              </a:rPr>
              <a:t>CV301 Environmental Engineering</a:t>
            </a:r>
            <a:endParaRPr lang="en-US" sz="1600" dirty="0"/>
          </a:p>
          <a:p>
            <a:pPr indent="0" marL="0">
              <a:buNone/>
            </a:pPr>
            <a:r>
              <a:rPr lang="en-US" sz="1600" b="1" dirty="0">
                <a:solidFill>
                  <a:schemeClr val="accent2"/>
                </a:solidFill>
              </a:rPr>
              <a:t>Faculty: </a:t>
            </a:r>
            <a:pPr indent="0" marL="0">
              <a:buNone/>
            </a:pPr>
            <a:r>
              <a:rPr lang="en-US" sz="1600" dirty="0">
                <a:solidFill>
                  <a:schemeClr val="bg1"/>
                </a:solidFill>
              </a:rPr>
              <a:t>Saranya P</a:t>
            </a:r>
            <a:endParaRPr lang="en-US" sz="1600" dirty="0"/>
          </a:p>
        </p:txBody>
      </p:sp>
      <p:sp>
        <p:nvSpPr>
          <p:cNvPr id="8" name="Team heading"/>
          <p:cNvSpPr txBox="1"/>
          <p:nvPr/>
        </p:nvSpPr>
        <p:spPr>
          <a:xfrm>
            <a:off x="4389120" y="4572000"/>
            <a:ext cx="2743200" cy="320040"/>
          </a:xfrm>
          <a:prstGeom prst="rect">
            <a:avLst/>
          </a:prstGeom>
          <a:noFill/>
          <a:ln/>
        </p:spPr>
        <p:txBody>
          <a:bodyPr wrap="square" lIns="0" tIns="0" rIns="0" bIns="0" rtlCol="0" anchor="ctr"/>
          <a:lstStyle/>
          <a:p>
            <a:pPr indent="0" marL="0">
              <a:buNone/>
            </a:pPr>
            <a:r>
              <a:rPr lang="en-US" sz="1400" b="1" dirty="0">
                <a:solidFill>
                  <a:schemeClr val="accent2"/>
                </a:solidFill>
              </a:rPr>
              <a:t>Team</a:t>
            </a:r>
            <a:endParaRPr lang="en-US" sz="1400" dirty="0"/>
          </a:p>
        </p:txBody>
      </p:sp>
      <p:sp>
        <p:nvSpPr>
          <p:cNvPr id="9" name="Team member 1"/>
          <p:cNvSpPr txBox="1"/>
          <p:nvPr/>
        </p:nvSpPr>
        <p:spPr>
          <a:xfrm>
            <a:off x="4389120" y="4937760"/>
            <a:ext cx="3474720" cy="329184"/>
          </a:xfrm>
          <a:prstGeom prst="rect">
            <a:avLst/>
          </a:prstGeom>
          <a:noFill/>
          <a:ln/>
        </p:spPr>
        <p:txBody>
          <a:bodyPr wrap="square" lIns="0" tIns="0" rIns="0" bIns="0" rtlCol="0" anchor="ctr"/>
          <a:lstStyle/>
          <a:p>
            <a:pPr indent="0" marL="0">
              <a:buNone/>
            </a:pPr>
            <a:r>
              <a:rPr lang="en-US" sz="1400" b="1" dirty="0">
                <a:solidFill>
                  <a:schemeClr val="bg1"/>
                </a:solidFill>
              </a:rPr>
              <a:t>Mayank Tiwari  </a:t>
            </a:r>
            <a:pPr indent="0" marL="0">
              <a:buNone/>
            </a:pPr>
            <a:r>
              <a:rPr lang="en-US" sz="1400" dirty="0">
                <a:solidFill>
                  <a:schemeClr val="bg2"/>
                </a:solidFill>
              </a:rPr>
              <a:t>241CV235</a:t>
            </a:r>
            <a:endParaRPr lang="en-US" sz="1400" dirty="0"/>
          </a:p>
        </p:txBody>
      </p:sp>
      <p:sp>
        <p:nvSpPr>
          <p:cNvPr id="10" name="Team member 2"/>
          <p:cNvSpPr txBox="1"/>
          <p:nvPr/>
        </p:nvSpPr>
        <p:spPr>
          <a:xfrm>
            <a:off x="4389120" y="5285232"/>
            <a:ext cx="3474720" cy="329184"/>
          </a:xfrm>
          <a:prstGeom prst="rect">
            <a:avLst/>
          </a:prstGeom>
          <a:noFill/>
          <a:ln/>
        </p:spPr>
        <p:txBody>
          <a:bodyPr wrap="square" lIns="0" tIns="0" rIns="0" bIns="0" rtlCol="0" anchor="ctr"/>
          <a:lstStyle/>
          <a:p>
            <a:pPr indent="0" marL="0">
              <a:buNone/>
            </a:pPr>
            <a:r>
              <a:rPr lang="en-US" sz="1400" b="1" dirty="0">
                <a:solidFill>
                  <a:schemeClr val="bg1"/>
                </a:solidFill>
              </a:rPr>
              <a:t>Krupa Marol  </a:t>
            </a:r>
            <a:pPr indent="0" marL="0">
              <a:buNone/>
            </a:pPr>
            <a:r>
              <a:rPr lang="en-US" sz="1400" dirty="0">
                <a:solidFill>
                  <a:schemeClr val="bg2"/>
                </a:solidFill>
              </a:rPr>
              <a:t>241CV231</a:t>
            </a:r>
            <a:endParaRPr lang="en-US" sz="1400" dirty="0"/>
          </a:p>
        </p:txBody>
      </p:sp>
      <p:sp>
        <p:nvSpPr>
          <p:cNvPr id="11" name="Team member 3"/>
          <p:cNvSpPr txBox="1"/>
          <p:nvPr/>
        </p:nvSpPr>
        <p:spPr>
          <a:xfrm>
            <a:off x="4389120" y="5632704"/>
            <a:ext cx="3474720" cy="329184"/>
          </a:xfrm>
          <a:prstGeom prst="rect">
            <a:avLst/>
          </a:prstGeom>
          <a:noFill/>
          <a:ln/>
        </p:spPr>
        <p:txBody>
          <a:bodyPr wrap="square" lIns="0" tIns="0" rIns="0" bIns="0" rtlCol="0" anchor="ctr"/>
          <a:lstStyle/>
          <a:p>
            <a:pPr indent="0" marL="0">
              <a:buNone/>
            </a:pPr>
            <a:r>
              <a:rPr lang="en-US" sz="1400" b="1" dirty="0">
                <a:solidFill>
                  <a:schemeClr val="bg1"/>
                </a:solidFill>
              </a:rPr>
              <a:t>Srushti Dongre  </a:t>
            </a:r>
            <a:pPr indent="0" marL="0">
              <a:buNone/>
            </a:pPr>
            <a:r>
              <a:rPr lang="en-US" sz="1400" dirty="0">
                <a:solidFill>
                  <a:schemeClr val="bg2"/>
                </a:solidFill>
              </a:rPr>
              <a:t>241CV248</a:t>
            </a:r>
            <a:endParaRPr lang="en-US" sz="1400" dirty="0"/>
          </a:p>
        </p:txBody>
      </p:sp>
      <p:sp>
        <p:nvSpPr>
          <p:cNvPr id="12" name="Team member 4"/>
          <p:cNvSpPr txBox="1"/>
          <p:nvPr/>
        </p:nvSpPr>
        <p:spPr>
          <a:xfrm>
            <a:off x="7955280" y="4937760"/>
            <a:ext cx="3474720" cy="329184"/>
          </a:xfrm>
          <a:prstGeom prst="rect">
            <a:avLst/>
          </a:prstGeom>
          <a:noFill/>
          <a:ln/>
        </p:spPr>
        <p:txBody>
          <a:bodyPr wrap="square" lIns="0" tIns="0" rIns="0" bIns="0" rtlCol="0" anchor="ctr"/>
          <a:lstStyle/>
          <a:p>
            <a:pPr indent="0" marL="0">
              <a:buNone/>
            </a:pPr>
            <a:r>
              <a:rPr lang="en-US" sz="1400" b="1" dirty="0">
                <a:solidFill>
                  <a:schemeClr val="bg1"/>
                </a:solidFill>
              </a:rPr>
              <a:t>Sreenidhi Golamaru  </a:t>
            </a:r>
            <a:pPr indent="0" marL="0">
              <a:buNone/>
            </a:pPr>
            <a:r>
              <a:rPr lang="en-US" sz="1400" dirty="0">
                <a:solidFill>
                  <a:schemeClr val="bg2"/>
                </a:solidFill>
              </a:rPr>
              <a:t>241CV247</a:t>
            </a:r>
            <a:endParaRPr lang="en-US" sz="1400" dirty="0"/>
          </a:p>
        </p:txBody>
      </p:sp>
      <p:sp>
        <p:nvSpPr>
          <p:cNvPr id="13" name="Team member 5"/>
          <p:cNvSpPr txBox="1"/>
          <p:nvPr/>
        </p:nvSpPr>
        <p:spPr>
          <a:xfrm>
            <a:off x="7955280" y="5285232"/>
            <a:ext cx="3474720" cy="329184"/>
          </a:xfrm>
          <a:prstGeom prst="rect">
            <a:avLst/>
          </a:prstGeom>
          <a:noFill/>
          <a:ln/>
        </p:spPr>
        <p:txBody>
          <a:bodyPr wrap="square" lIns="0" tIns="0" rIns="0" bIns="0" rtlCol="0" anchor="ctr"/>
          <a:lstStyle/>
          <a:p>
            <a:pPr indent="0" marL="0">
              <a:buNone/>
            </a:pPr>
            <a:r>
              <a:rPr lang="en-US" sz="1400" b="1" dirty="0">
                <a:solidFill>
                  <a:schemeClr val="bg1"/>
                </a:solidFill>
              </a:rPr>
              <a:t>Bharath Chowdary  </a:t>
            </a:r>
            <a:pPr indent="0" marL="0">
              <a:buNone/>
            </a:pPr>
            <a:r>
              <a:rPr lang="en-US" sz="1400" dirty="0">
                <a:solidFill>
                  <a:schemeClr val="bg2"/>
                </a:solidFill>
              </a:rPr>
              <a:t>241CV213</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Only 15% of river visits can compute a full WQI</a:t>
            </a:r>
            <a:endParaRPr lang="en-US" sz="3000" dirty="0"/>
          </a:p>
        </p:txBody>
      </p:sp>
      <p:sp>
        <p:nvSpPr>
          <p:cNvPr id="3" name="Full panel share value"/>
          <p:cNvSpPr txBox="1"/>
          <p:nvPr/>
        </p:nvSpPr>
        <p:spPr>
          <a:xfrm>
            <a:off x="548640" y="1417320"/>
            <a:ext cx="329184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14.7%</a:t>
            </a:r>
            <a:endParaRPr lang="en-US" sz="4000" dirty="0"/>
          </a:p>
        </p:txBody>
      </p:sp>
      <p:sp>
        <p:nvSpPr>
          <p:cNvPr id="4" name="Full panel share label"/>
          <p:cNvSpPr txBox="1"/>
          <p:nvPr/>
        </p:nvSpPr>
        <p:spPr>
          <a:xfrm>
            <a:off x="548640" y="2194560"/>
            <a:ext cx="3291840" cy="548640"/>
          </a:xfrm>
          <a:prstGeom prst="rect">
            <a:avLst/>
          </a:prstGeom>
          <a:noFill/>
          <a:ln/>
        </p:spPr>
        <p:txBody>
          <a:bodyPr wrap="square" lIns="0" tIns="0" rIns="0" bIns="0" rtlCol="0" anchor="t"/>
          <a:lstStyle/>
          <a:p>
            <a:pPr indent="0" marL="0">
              <a:buNone/>
            </a:pPr>
            <a:r>
              <a:rPr lang="en-US" sz="1400" dirty="0">
                <a:solidFill>
                  <a:schemeClr val="tx1"/>
                </a:solidFill>
              </a:rPr>
              <a:t>of 32,968 river visits report all 8 WQI parameters</a:t>
            </a:r>
            <a:endParaRPr lang="en-US" sz="1400" dirty="0"/>
          </a:p>
        </p:txBody>
      </p:sp>
      <p:sp>
        <p:nvSpPr>
          <p:cNvPr id="5" name="S3 share value"/>
          <p:cNvSpPr txBox="1"/>
          <p:nvPr/>
        </p:nvSpPr>
        <p:spPr>
          <a:xfrm>
            <a:off x="548640" y="2880360"/>
            <a:ext cx="32918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75.8%</a:t>
            </a:r>
            <a:endParaRPr lang="en-US" sz="4000" dirty="0"/>
          </a:p>
        </p:txBody>
      </p:sp>
      <p:sp>
        <p:nvSpPr>
          <p:cNvPr id="6" name="S3 share label"/>
          <p:cNvSpPr txBox="1"/>
          <p:nvPr/>
        </p:nvSpPr>
        <p:spPr>
          <a:xfrm>
            <a:off x="548640" y="3657600"/>
            <a:ext cx="3291840" cy="548640"/>
          </a:xfrm>
          <a:prstGeom prst="rect">
            <a:avLst/>
          </a:prstGeom>
          <a:noFill/>
          <a:ln/>
        </p:spPr>
        <p:txBody>
          <a:bodyPr wrap="square" lIns="0" tIns="0" rIns="0" bIns="0" rtlCol="0" anchor="t"/>
          <a:lstStyle/>
          <a:p>
            <a:pPr indent="0" marL="0">
              <a:buNone/>
            </a:pPr>
            <a:r>
              <a:rPr lang="en-US" sz="1400" dirty="0">
                <a:solidFill>
                  <a:schemeClr val="tx1"/>
                </a:solidFill>
              </a:rPr>
              <a:t>report pH, DO and BOD, the three best-covered parameters</a:t>
            </a:r>
            <a:endParaRPr lang="en-US" sz="1400" dirty="0"/>
          </a:p>
        </p:txBody>
      </p:sp>
      <p:sp>
        <p:nvSpPr>
          <p:cNvPr id="7" name="Research question card"/>
          <p:cNvSpPr/>
          <p:nvPr/>
        </p:nvSpPr>
        <p:spPr>
          <a:xfrm>
            <a:off x="548640" y="4434840"/>
            <a:ext cx="3566160" cy="1371600"/>
          </a:xfrm>
          <a:prstGeom prst="roundRect">
            <a:avLst>
              <a:gd name="adj" fmla="val 8000"/>
            </a:avLst>
          </a:prstGeom>
          <a:solidFill>
            <a:schemeClr val="bg2"/>
          </a:solidFill>
          <a:ln w="12700">
            <a:solidFill>
              <a:schemeClr val="bg2"/>
            </a:solidFill>
            <a:prstDash val="solid"/>
          </a:ln>
        </p:spPr>
      </p:sp>
      <p:sp>
        <p:nvSpPr>
          <p:cNvPr id="8" name="Research question"/>
          <p:cNvSpPr txBox="1"/>
          <p:nvPr/>
        </p:nvSpPr>
        <p:spPr>
          <a:xfrm>
            <a:off x="731520" y="4553712"/>
            <a:ext cx="3200400" cy="1463040"/>
          </a:xfrm>
          <a:prstGeom prst="rect">
            <a:avLst/>
          </a:prstGeom>
          <a:noFill/>
          <a:ln/>
        </p:spPr>
        <p:txBody>
          <a:bodyPr wrap="square" lIns="0" tIns="0" rIns="0" bIns="0" rtlCol="0" anchor="t"/>
          <a:lstStyle/>
          <a:p>
            <a:pPr indent="0" marL="0">
              <a:buNone/>
            </a:pPr>
            <a:r>
              <a:rPr lang="en-US" sz="1500" b="1" dirty="0">
                <a:solidFill>
                  <a:schemeClr val="tx2"/>
                </a:solidFill>
              </a:rPr>
              <a:t>Research question</a:t>
            </a:r>
            <a:endParaRPr lang="en-US" sz="1500" dirty="0"/>
          </a:p>
          <a:p>
            <a:pPr indent="0" marL="0">
              <a:buNone/>
            </a:pPr>
            <a:r>
              <a:rPr lang="en-US" sz="1500" i="1" dirty="0">
                <a:solidFill>
                  <a:schemeClr val="tx1"/>
                </a:solidFill>
              </a:rPr>
              <a:t>Can reduced-parameter monitoring provide reliable WQI prediction for data-scarce river systems?</a:t>
            </a:r>
            <a:endParaRPr lang="en-US" sz="1500" dirty="0"/>
          </a:p>
        </p:txBody>
      </p:sp>
      <p:graphicFrame>
        <p:nvGraphicFramePr>
          <p:cNvPr id="9" name="Funnel chart" descr=""/>
          <p:cNvGraphicFramePr/>
          <p:nvPr/>
        </p:nvGraphicFramePr>
        <p:xfrm>
          <a:off x="4480560" y="1325880"/>
          <a:ext cx="713232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The full panel was recorded in one year only</a:t>
            </a:r>
            <a:endParaRPr lang="en-US" sz="3000" dirty="0"/>
          </a:p>
        </p:txBody>
      </p:sp>
      <p:pic>
        <p:nvPicPr>
          <p:cNvPr id="3" name="Fill rate heatmap" descr="/home/mayank-tiwari/Projects/envi-project/figures/fig_eda_fill_by_year.png">    </p:cNvPr>
          <p:cNvPicPr>
            <a:picLocks noChangeAspect="1"/>
          </p:cNvPicPr>
          <p:nvPr/>
        </p:nvPicPr>
        <p:blipFill>
          <a:blip r:embed="rId1"/>
          <a:stretch>
            <a:fillRect/>
          </a:stretch>
        </p:blipFill>
        <p:spPr>
          <a:xfrm>
            <a:off x="548640" y="1371600"/>
            <a:ext cx="6675120" cy="3444868"/>
          </a:xfrm>
          <a:prstGeom prst="rect">
            <a:avLst/>
          </a:prstGeom>
        </p:spPr>
      </p:pic>
      <p:sp>
        <p:nvSpPr>
          <p:cNvPr id="4" name="Heatmap caption"/>
          <p:cNvSpPr txBox="1"/>
          <p:nvPr/>
        </p:nvSpPr>
        <p:spPr>
          <a:xfrm>
            <a:off x="548640" y="4956048"/>
            <a:ext cx="6675120" cy="274320"/>
          </a:xfrm>
          <a:prstGeom prst="rect">
            <a:avLst/>
          </a:prstGeom>
          <a:noFill/>
          <a:ln/>
        </p:spPr>
        <p:txBody>
          <a:bodyPr wrap="square" lIns="0" tIns="0" rIns="0" bIns="0" rtlCol="0" anchor="ctr"/>
          <a:lstStyle/>
          <a:p>
            <a:pPr indent="0" marL="0">
              <a:buNone/>
            </a:pPr>
            <a:r>
              <a:rPr lang="en-US" sz="1100" dirty="0">
                <a:solidFill>
                  <a:schemeClr val="accent5"/>
                </a:solidFill>
              </a:rPr>
              <a:t>Fill rate (% of river visits) by parameter and year</a:t>
            </a:r>
            <a:endParaRPr lang="en-US" sz="1100" dirty="0"/>
          </a:p>
        </p:txBody>
      </p:sp>
      <p:sp>
        <p:nvSpPr>
          <p:cNvPr id="5" name="Pipeline step 1"/>
          <p:cNvSpPr/>
          <p:nvPr/>
        </p:nvSpPr>
        <p:spPr>
          <a:xfrm>
            <a:off x="7589520" y="1371600"/>
            <a:ext cx="4023360" cy="960120"/>
          </a:xfrm>
          <a:prstGeom prst="roundRect">
            <a:avLst>
              <a:gd name="adj" fmla="val 11429"/>
            </a:avLst>
          </a:prstGeom>
          <a:solidFill>
            <a:schemeClr val="bg2"/>
          </a:solidFill>
          <a:ln w="12700">
            <a:solidFill>
              <a:schemeClr val="bg2"/>
            </a:solidFill>
            <a:prstDash val="solid"/>
          </a:ln>
        </p:spPr>
      </p:sp>
      <p:sp>
        <p:nvSpPr>
          <p:cNvPr id="6" name="Pipeline step 1 badge"/>
          <p:cNvSpPr/>
          <p:nvPr/>
        </p:nvSpPr>
        <p:spPr>
          <a:xfrm>
            <a:off x="7726680" y="1645920"/>
            <a:ext cx="411480" cy="411480"/>
          </a:xfrm>
          <a:prstGeom prst="ellipse">
            <a:avLst/>
          </a:prstGeom>
          <a:solidFill>
            <a:schemeClr val="accent1"/>
          </a:solidFill>
          <a:ln w="12700">
            <a:solidFill>
              <a:schemeClr val="accent1"/>
            </a:solidFill>
            <a:prstDash val="solid"/>
          </a:ln>
        </p:spPr>
      </p:sp>
      <p:sp>
        <p:nvSpPr>
          <p:cNvPr id="7" name="Pipeline step 1 number"/>
          <p:cNvSpPr txBox="1"/>
          <p:nvPr/>
        </p:nvSpPr>
        <p:spPr>
          <a:xfrm>
            <a:off x="7726680" y="1645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Pipeline step 1 text"/>
          <p:cNvSpPr txBox="1"/>
          <p:nvPr/>
        </p:nvSpPr>
        <p:spPr>
          <a:xfrm>
            <a:off x="8275320" y="1481328"/>
            <a:ext cx="3246120" cy="777240"/>
          </a:xfrm>
          <a:prstGeom prst="rect">
            <a:avLst/>
          </a:prstGeom>
          <a:noFill/>
          <a:ln/>
        </p:spPr>
        <p:txBody>
          <a:bodyPr wrap="square" lIns="0" tIns="0" rIns="0" bIns="0" rtlCol="0" anchor="ctr"/>
          <a:lstStyle/>
          <a:p>
            <a:pPr indent="0" marL="0">
              <a:buNone/>
            </a:pPr>
            <a:r>
              <a:rPr lang="en-US" sz="1600" b="1" dirty="0">
                <a:solidFill>
                  <a:schemeClr val="tx2"/>
                </a:solidFill>
              </a:rPr>
              <a:t>211 raw CSVs</a:t>
            </a:r>
            <a:endParaRPr lang="en-US" sz="1600" dirty="0"/>
          </a:p>
          <a:p>
            <a:pPr indent="0" marL="0">
              <a:buNone/>
            </a:pPr>
            <a:r>
              <a:rPr lang="en-US" sz="1300" dirty="0">
                <a:solidFill>
                  <a:schemeClr val="tx1"/>
                </a:solidFill>
              </a:rPr>
              <a:t>physical, chemical and biological tables (57 MB)</a:t>
            </a:r>
            <a:endParaRPr lang="en-US" sz="1600" dirty="0"/>
          </a:p>
        </p:txBody>
      </p:sp>
      <p:sp>
        <p:nvSpPr>
          <p:cNvPr id="9" name="Pipeline step 2"/>
          <p:cNvSpPr/>
          <p:nvPr/>
        </p:nvSpPr>
        <p:spPr>
          <a:xfrm>
            <a:off x="7589520" y="2514600"/>
            <a:ext cx="4023360" cy="960120"/>
          </a:xfrm>
          <a:prstGeom prst="roundRect">
            <a:avLst>
              <a:gd name="adj" fmla="val 11429"/>
            </a:avLst>
          </a:prstGeom>
          <a:solidFill>
            <a:schemeClr val="bg2"/>
          </a:solidFill>
          <a:ln w="12700">
            <a:solidFill>
              <a:schemeClr val="bg2"/>
            </a:solidFill>
            <a:prstDash val="solid"/>
          </a:ln>
        </p:spPr>
      </p:sp>
      <p:sp>
        <p:nvSpPr>
          <p:cNvPr id="10" name="Pipeline step 2 badge"/>
          <p:cNvSpPr/>
          <p:nvPr/>
        </p:nvSpPr>
        <p:spPr>
          <a:xfrm>
            <a:off x="7726680" y="2788920"/>
            <a:ext cx="411480" cy="411480"/>
          </a:xfrm>
          <a:prstGeom prst="ellipse">
            <a:avLst/>
          </a:prstGeom>
          <a:solidFill>
            <a:schemeClr val="accent1"/>
          </a:solidFill>
          <a:ln w="12700">
            <a:solidFill>
              <a:schemeClr val="accent1"/>
            </a:solidFill>
            <a:prstDash val="solid"/>
          </a:ln>
        </p:spPr>
      </p:sp>
      <p:sp>
        <p:nvSpPr>
          <p:cNvPr id="11" name="Pipeline step 2 number"/>
          <p:cNvSpPr txBox="1"/>
          <p:nvPr/>
        </p:nvSpPr>
        <p:spPr>
          <a:xfrm>
            <a:off x="7726680" y="2788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Pipeline step 2 text"/>
          <p:cNvSpPr txBox="1"/>
          <p:nvPr/>
        </p:nvSpPr>
        <p:spPr>
          <a:xfrm>
            <a:off x="8275320" y="2624328"/>
            <a:ext cx="3246120" cy="777240"/>
          </a:xfrm>
          <a:prstGeom prst="rect">
            <a:avLst/>
          </a:prstGeom>
          <a:noFill/>
          <a:ln/>
        </p:spPr>
        <p:txBody>
          <a:bodyPr wrap="square" lIns="0" tIns="0" rIns="0" bIns="0" rtlCol="0" anchor="ctr"/>
          <a:lstStyle/>
          <a:p>
            <a:pPr indent="0" marL="0">
              <a:buNone/>
            </a:pPr>
            <a:r>
              <a:rPr lang="en-US" sz="1600" b="1" dirty="0">
                <a:solidFill>
                  <a:schemeClr val="tx2"/>
                </a:solidFill>
              </a:rPr>
              <a:t>32,968 river visits</a:t>
            </a:r>
            <a:endParaRPr lang="en-US" sz="1600" dirty="0"/>
          </a:p>
          <a:p>
            <a:pPr indent="0" marL="0">
              <a:buNone/>
            </a:pPr>
            <a:r>
              <a:rPr lang="en-US" sz="1300" dirty="0">
                <a:solidFill>
                  <a:schemeClr val="tx1"/>
                </a:solidFill>
              </a:rPr>
              <a:t>888 stations, 87 rivers, joined and audited</a:t>
            </a:r>
            <a:endParaRPr lang="en-US" sz="1600" dirty="0"/>
          </a:p>
        </p:txBody>
      </p:sp>
      <p:sp>
        <p:nvSpPr>
          <p:cNvPr id="13" name="Pipeline step 3"/>
          <p:cNvSpPr/>
          <p:nvPr/>
        </p:nvSpPr>
        <p:spPr>
          <a:xfrm>
            <a:off x="7589520" y="3657600"/>
            <a:ext cx="4023360" cy="960120"/>
          </a:xfrm>
          <a:prstGeom prst="roundRect">
            <a:avLst>
              <a:gd name="adj" fmla="val 11429"/>
            </a:avLst>
          </a:prstGeom>
          <a:solidFill>
            <a:schemeClr val="bg2"/>
          </a:solidFill>
          <a:ln w="12700">
            <a:solidFill>
              <a:schemeClr val="bg2"/>
            </a:solidFill>
            <a:prstDash val="solid"/>
          </a:ln>
        </p:spPr>
      </p:sp>
      <p:sp>
        <p:nvSpPr>
          <p:cNvPr id="14" name="Pipeline step 3 badge"/>
          <p:cNvSpPr/>
          <p:nvPr/>
        </p:nvSpPr>
        <p:spPr>
          <a:xfrm>
            <a:off x="7726680" y="3931920"/>
            <a:ext cx="411480" cy="411480"/>
          </a:xfrm>
          <a:prstGeom prst="ellipse">
            <a:avLst/>
          </a:prstGeom>
          <a:solidFill>
            <a:schemeClr val="accent1"/>
          </a:solidFill>
          <a:ln w="12700">
            <a:solidFill>
              <a:schemeClr val="accent1"/>
            </a:solidFill>
            <a:prstDash val="solid"/>
          </a:ln>
        </p:spPr>
      </p:sp>
      <p:sp>
        <p:nvSpPr>
          <p:cNvPr id="15" name="Pipeline step 3 number"/>
          <p:cNvSpPr txBox="1"/>
          <p:nvPr/>
        </p:nvSpPr>
        <p:spPr>
          <a:xfrm>
            <a:off x="7726680" y="39319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Pipeline step 3 text"/>
          <p:cNvSpPr txBox="1"/>
          <p:nvPr/>
        </p:nvSpPr>
        <p:spPr>
          <a:xfrm>
            <a:off x="8275320" y="3767328"/>
            <a:ext cx="3246120" cy="777240"/>
          </a:xfrm>
          <a:prstGeom prst="rect">
            <a:avLst/>
          </a:prstGeom>
          <a:noFill/>
          <a:ln/>
        </p:spPr>
        <p:txBody>
          <a:bodyPr wrap="square" lIns="0" tIns="0" rIns="0" bIns="0" rtlCol="0" anchor="ctr"/>
          <a:lstStyle/>
          <a:p>
            <a:pPr indent="0" marL="0">
              <a:buNone/>
            </a:pPr>
            <a:r>
              <a:rPr lang="en-US" sz="1600" b="1" dirty="0">
                <a:solidFill>
                  <a:schemeClr val="tx2"/>
                </a:solidFill>
              </a:rPr>
              <a:t>4,861 labelled visits</a:t>
            </a:r>
            <a:endParaRPr lang="en-US" sz="1600" dirty="0"/>
          </a:p>
          <a:p>
            <a:pPr indent="0" marL="0">
              <a:buNone/>
            </a:pPr>
            <a:r>
              <a:rPr lang="en-US" sz="1300" dirty="0">
                <a:solidFill>
                  <a:schemeClr val="tx1"/>
                </a:solidFill>
              </a:rPr>
              <a:t>593 stations with all 8 parameters, all in 2020</a:t>
            </a:r>
            <a:endParaRPr lang="en-US" sz="1600" dirty="0"/>
          </a:p>
        </p:txBody>
      </p:sp>
      <p:sp>
        <p:nvSpPr>
          <p:cNvPr id="17" name="Text 14"/>
          <p:cNvSpPr txBox="1"/>
          <p:nvPr/>
        </p:nvSpPr>
        <p:spPr>
          <a:xfrm>
            <a:off x="7589520" y="4937760"/>
            <a:ext cx="4023360" cy="11887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EC, coliforms, turbidity and nitrate were logged almost only in 2020. Other years carry a routine pH–DO–BOD–coliform panel: a real, not simulated, data-scarce setting.</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pH and BOD drive 87.5% of the CPCB index</a:t>
            </a:r>
            <a:endParaRPr lang="en-US" sz="3000" dirty="0"/>
          </a:p>
        </p:txBody>
      </p:sp>
      <p:graphicFrame>
        <p:nvGraphicFramePr>
          <p:cNvPr id="3" name="Variance share chart"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Formula card"/>
          <p:cNvSpPr/>
          <p:nvPr/>
        </p:nvSpPr>
        <p:spPr>
          <a:xfrm>
            <a:off x="7680960" y="1371600"/>
            <a:ext cx="3931920" cy="1600200"/>
          </a:xfrm>
          <a:prstGeom prst="roundRect">
            <a:avLst>
              <a:gd name="adj" fmla="val 6857"/>
            </a:avLst>
          </a:prstGeom>
          <a:solidFill>
            <a:schemeClr val="bg2"/>
          </a:solidFill>
          <a:ln w="12700">
            <a:solidFill>
              <a:schemeClr val="bg2"/>
            </a:solidFill>
            <a:prstDash val="solid"/>
          </a:ln>
        </p:spPr>
      </p:sp>
      <p:sp>
        <p:nvSpPr>
          <p:cNvPr id="5" name="Formula text"/>
          <p:cNvSpPr txBox="1"/>
          <p:nvPr/>
        </p:nvSpPr>
        <p:spPr>
          <a:xfrm>
            <a:off x="7863840" y="1508760"/>
            <a:ext cx="3566160" cy="1828800"/>
          </a:xfrm>
          <a:prstGeom prst="rect">
            <a:avLst/>
          </a:prstGeom>
          <a:noFill/>
          <a:ln/>
        </p:spPr>
        <p:txBody>
          <a:bodyPr wrap="square" lIns="0" tIns="0" rIns="0" bIns="0" rtlCol="0" anchor="t"/>
          <a:lstStyle/>
          <a:p>
            <a:pPr indent="0" marL="0">
              <a:spcAft>
                <a:spcPts val="800"/>
              </a:spcAft>
              <a:buNone/>
            </a:pPr>
            <a:r>
              <a:rPr lang="en-US" sz="1500" b="1" dirty="0">
                <a:solidFill>
                  <a:schemeClr val="tx2"/>
                </a:solidFill>
              </a:rPr>
              <a:t>CPCB weighted-arithmetic WQI</a:t>
            </a:r>
            <a:endParaRPr lang="en-US" sz="1500" dirty="0"/>
          </a:p>
          <a:p>
            <a:pPr indent="0" marL="0">
              <a:spcAft>
                <a:spcPts val="800"/>
              </a:spcAft>
              <a:buNone/>
            </a:pPr>
            <a:r>
              <a:rPr lang="en-US" sz="1500" dirty="0">
                <a:solidFill>
                  <a:schemeClr val="tx1"/>
                </a:solidFill>
              </a:rPr>
              <a:t>WQI = Σ Wᵢ·qᵢ / Σ Wᵢ,  with qᵢ capped at 100</a:t>
            </a:r>
            <a:endParaRPr lang="en-US" sz="1500" dirty="0"/>
          </a:p>
          <a:p>
            <a:pPr indent="0" marL="0">
              <a:spcAft>
                <a:spcPts val="800"/>
              </a:spcAft>
              <a:buNone/>
            </a:pPr>
            <a:r>
              <a:rPr lang="en-US" sz="1500" dirty="0">
                <a:solidFill>
                  <a:schemeClr val="tx1"/>
                </a:solidFill>
              </a:rPr>
              <a:t>Unit weight Wᵢ ∝ 1 / Sᵢ (Sᵢ = standard)</a:t>
            </a:r>
            <a:endParaRPr lang="en-US" sz="1500" dirty="0"/>
          </a:p>
        </p:txBody>
      </p:sp>
      <p:sp>
        <p:nvSpPr>
          <p:cNvPr id="6" name="Coliform callout"/>
          <p:cNvSpPr txBox="1"/>
          <p:nvPr/>
        </p:nvSpPr>
        <p:spPr>
          <a:xfrm>
            <a:off x="7680960" y="3794760"/>
            <a:ext cx="3931920" cy="1097280"/>
          </a:xfrm>
          <a:prstGeom prst="rect">
            <a:avLst/>
          </a:prstGeom>
          <a:noFill/>
          <a:ln/>
        </p:spPr>
        <p:txBody>
          <a:bodyPr wrap="square" lIns="0" tIns="0" rIns="0" bIns="0" rtlCol="0" anchor="ctr"/>
          <a:lstStyle/>
          <a:p>
            <a:pPr indent="0" marL="0">
              <a:buNone/>
            </a:pPr>
            <a:r>
              <a:rPr lang="en-US" sz="1800" b="1" i="1" dirty="0">
                <a:solidFill>
                  <a:schemeClr val="accent3"/>
                </a:solidFill>
              </a:rPr>
              <a:t>Fecal coliform exceeds its bathing standard on 34% of visits, yet explains 0.2% of the index.</a:t>
            </a:r>
            <a:endParaRPr lang="en-US" sz="1800" dirty="0"/>
          </a:p>
        </p:txBody>
      </p:sp>
      <p:sp>
        <p:nvSpPr>
          <p:cNvPr id="7" name="Text 4"/>
          <p:cNvSpPr txBox="1"/>
          <p:nvPr/>
        </p:nvSpPr>
        <p:spPr>
          <a:xfrm>
            <a:off x="7680960" y="5029200"/>
            <a:ext cx="3931920" cy="109728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Weights ∝ 1/Sᵢ reward parameters whose standard is a small number: 2 pH units or 3 mg/L, versus 500 MPN/100 mL.</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Approach: learn the full-panel WQI from a few inputs</a:t>
            </a:r>
            <a:endParaRPr lang="en-US" sz="3000" dirty="0"/>
          </a:p>
        </p:txBody>
      </p:sp>
      <p:pic>
        <p:nvPicPr>
          <p:cNvPr id="3" name="Surrogate diagram" descr="/home/mayank-tiwari/Projects/envi-project/report/latex/diagrams/surrogate.png">    </p:cNvPr>
          <p:cNvPicPr>
            <a:picLocks noChangeAspect="1"/>
          </p:cNvPicPr>
          <p:nvPr/>
        </p:nvPicPr>
        <p:blipFill>
          <a:blip r:embed="rId1"/>
          <a:stretch>
            <a:fillRect/>
          </a:stretch>
        </p:blipFill>
        <p:spPr>
          <a:xfrm>
            <a:off x="1097280" y="1234440"/>
            <a:ext cx="6949440" cy="3484480"/>
          </a:xfrm>
          <a:prstGeom prst="rect">
            <a:avLst/>
          </a:prstGeom>
        </p:spPr>
      </p:pic>
      <p:sp>
        <p:nvSpPr>
          <p:cNvPr id="4" name="Method card 1"/>
          <p:cNvSpPr/>
          <p:nvPr/>
        </p:nvSpPr>
        <p:spPr>
          <a:xfrm>
            <a:off x="548640" y="4892040"/>
            <a:ext cx="3566160" cy="1188720"/>
          </a:xfrm>
          <a:prstGeom prst="roundRect">
            <a:avLst>
              <a:gd name="adj" fmla="val 9231"/>
            </a:avLst>
          </a:prstGeom>
          <a:solidFill>
            <a:schemeClr val="bg2"/>
          </a:solidFill>
          <a:ln w="12700">
            <a:solidFill>
              <a:schemeClr val="bg2"/>
            </a:solidFill>
            <a:prstDash val="solid"/>
          </a:ln>
        </p:spPr>
      </p:sp>
      <p:sp>
        <p:nvSpPr>
          <p:cNvPr id="5" name="Method card 1 text"/>
          <p:cNvSpPr txBox="1"/>
          <p:nvPr/>
        </p:nvSpPr>
        <p:spPr>
          <a:xfrm>
            <a:off x="731520" y="4983480"/>
            <a:ext cx="3200400" cy="1143000"/>
          </a:xfrm>
          <a:prstGeom prst="rect">
            <a:avLst/>
          </a:prstGeom>
          <a:noFill/>
          <a:ln/>
        </p:spPr>
        <p:txBody>
          <a:bodyPr wrap="square" lIns="0" tIns="0" rIns="0" bIns="0" rtlCol="0" anchor="t"/>
          <a:lstStyle/>
          <a:p>
            <a:pPr indent="0" marL="0">
              <a:buNone/>
            </a:pPr>
            <a:r>
              <a:rPr lang="en-US" sz="1600" b="1" dirty="0">
                <a:solidFill>
                  <a:schemeClr val="tx2"/>
                </a:solidFill>
              </a:rPr>
              <a:t>8 model families</a:t>
            </a:r>
            <a:endParaRPr lang="en-US" sz="1600" dirty="0"/>
          </a:p>
          <a:p>
            <a:pPr indent="0" marL="0">
              <a:buNone/>
            </a:pPr>
            <a:r>
              <a:rPr lang="en-US" sz="1300" dirty="0">
                <a:solidFill>
                  <a:schemeClr val="tx1"/>
                </a:solidFill>
              </a:rPr>
              <a:t>Formula (no ML), Linear, kNN, SVR, MLP, Random Forest, XGBoost, Gaussian process</a:t>
            </a:r>
            <a:endParaRPr lang="en-US" sz="1600" dirty="0"/>
          </a:p>
        </p:txBody>
      </p:sp>
      <p:sp>
        <p:nvSpPr>
          <p:cNvPr id="6" name="Method card 2"/>
          <p:cNvSpPr/>
          <p:nvPr/>
        </p:nvSpPr>
        <p:spPr>
          <a:xfrm>
            <a:off x="4297680" y="4892040"/>
            <a:ext cx="3566160" cy="1188720"/>
          </a:xfrm>
          <a:prstGeom prst="roundRect">
            <a:avLst>
              <a:gd name="adj" fmla="val 9231"/>
            </a:avLst>
          </a:prstGeom>
          <a:solidFill>
            <a:schemeClr val="bg2"/>
          </a:solidFill>
          <a:ln w="12700">
            <a:solidFill>
              <a:schemeClr val="bg2"/>
            </a:solidFill>
            <a:prstDash val="solid"/>
          </a:ln>
        </p:spPr>
      </p:sp>
      <p:sp>
        <p:nvSpPr>
          <p:cNvPr id="7" name="Method card 2 text"/>
          <p:cNvSpPr txBox="1"/>
          <p:nvPr/>
        </p:nvSpPr>
        <p:spPr>
          <a:xfrm>
            <a:off x="4480560" y="4983480"/>
            <a:ext cx="3200400" cy="1143000"/>
          </a:xfrm>
          <a:prstGeom prst="rect">
            <a:avLst/>
          </a:prstGeom>
          <a:noFill/>
          <a:ln/>
        </p:spPr>
        <p:txBody>
          <a:bodyPr wrap="square" lIns="0" tIns="0" rIns="0" bIns="0" rtlCol="0" anchor="t"/>
          <a:lstStyle/>
          <a:p>
            <a:pPr indent="0" marL="0">
              <a:buNone/>
            </a:pPr>
            <a:r>
              <a:rPr lang="en-US" sz="1600" b="1" dirty="0">
                <a:solidFill>
                  <a:schemeClr val="tx2"/>
                </a:solidFill>
              </a:rPr>
              <a:t>12 named + all 255 subsets</a:t>
            </a:r>
            <a:endParaRPr lang="en-US" sz="1600" dirty="0"/>
          </a:p>
          <a:p>
            <a:pPr indent="0" marL="0">
              <a:buNone/>
            </a:pPr>
            <a:r>
              <a:rPr lang="en-US" sz="1300" dirty="0">
                <a:solidFill>
                  <a:schemeClr val="tx1"/>
                </a:solidFill>
              </a:rPr>
              <a:t>3, 4, 5, 7 and 8 parameters; availability-, importance- and sensor-based</a:t>
            </a:r>
            <a:endParaRPr lang="en-US" sz="1600" dirty="0"/>
          </a:p>
        </p:txBody>
      </p:sp>
      <p:sp>
        <p:nvSpPr>
          <p:cNvPr id="8" name="Method card 3"/>
          <p:cNvSpPr/>
          <p:nvPr/>
        </p:nvSpPr>
        <p:spPr>
          <a:xfrm>
            <a:off x="8046720" y="4892040"/>
            <a:ext cx="3566160" cy="1188720"/>
          </a:xfrm>
          <a:prstGeom prst="roundRect">
            <a:avLst>
              <a:gd name="adj" fmla="val 9231"/>
            </a:avLst>
          </a:prstGeom>
          <a:solidFill>
            <a:schemeClr val="bg2"/>
          </a:solidFill>
          <a:ln w="12700">
            <a:solidFill>
              <a:schemeClr val="bg2"/>
            </a:solidFill>
            <a:prstDash val="solid"/>
          </a:ln>
        </p:spPr>
      </p:sp>
      <p:sp>
        <p:nvSpPr>
          <p:cNvPr id="9" name="Method card 3 text"/>
          <p:cNvSpPr txBox="1"/>
          <p:nvPr/>
        </p:nvSpPr>
        <p:spPr>
          <a:xfrm>
            <a:off x="8229600" y="4983480"/>
            <a:ext cx="3200400" cy="1143000"/>
          </a:xfrm>
          <a:prstGeom prst="rect">
            <a:avLst/>
          </a:prstGeom>
          <a:noFill/>
          <a:ln/>
        </p:spPr>
        <p:txBody>
          <a:bodyPr wrap="square" lIns="0" tIns="0" rIns="0" bIns="0" rtlCol="0" anchor="t"/>
          <a:lstStyle/>
          <a:p>
            <a:pPr indent="0" marL="0">
              <a:buNone/>
            </a:pPr>
            <a:r>
              <a:rPr lang="en-US" sz="1600" b="1" dirty="0">
                <a:solidFill>
                  <a:schemeClr val="tx2"/>
                </a:solidFill>
              </a:rPr>
              <a:t>5 validation schemes</a:t>
            </a:r>
            <a:endParaRPr lang="en-US" sz="1600" dirty="0"/>
          </a:p>
          <a:p>
            <a:pPr indent="0" marL="0">
              <a:buNone/>
            </a:pPr>
            <a:r>
              <a:rPr lang="en-US" sz="1300" dirty="0">
                <a:solidFill>
                  <a:schemeClr val="tx1"/>
                </a:solidFill>
              </a:rPr>
              <a:t>random rows, unseen stations (primary), unseen rivers, states, season</a:t>
            </a:r>
            <a:endParaRPr lang="en-US" sz="1600" dirty="0"/>
          </a:p>
        </p:txBody>
      </p:sp>
      <p:sp>
        <p:nvSpPr>
          <p:cNvPr id="10" name="Text 7"/>
          <p:cNvSpPr txBox="1"/>
          <p:nvPr/>
        </p:nvSpPr>
        <p:spPr>
          <a:xfrm>
            <a:off x="8321040" y="1463040"/>
            <a:ext cx="3291840" cy="2926080"/>
          </a:xfrm>
          <a:prstGeom prst="rect">
            <a:avLst/>
          </a:prstGeom>
          <a:noFill/>
          <a:ln/>
        </p:spPr>
        <p:txBody>
          <a:bodyPr wrap="square" lIns="0" tIns="0" rIns="0" bIns="0" rtlCol="0" anchor="t"/>
          <a:lstStyle/>
          <a:p>
            <a:pPr indent="0" marL="0">
              <a:spcAft>
                <a:spcPts val="600"/>
              </a:spcAft>
              <a:buNone/>
            </a:pPr>
            <a:r>
              <a:rPr lang="en-US" sz="1600" dirty="0">
                <a:solidFill>
                  <a:schemeClr val="tx1"/>
                </a:solidFill>
              </a:rPr>
              <a:t>The target never changes: every model predicts the same full-panel WQI, so subset sizes are compared fairly.</a:t>
            </a:r>
            <a:endParaRPr lang="en-US" sz="16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Importance: pH › BOD › turbidity › DO › nitrate</a:t>
            </a:r>
            <a:endParaRPr lang="en-US" sz="3000" dirty="0"/>
          </a:p>
        </p:txBody>
      </p:sp>
      <p:graphicFrame>
        <p:nvGraphicFramePr>
          <p:cNvPr id="3" name="Forward selection chart"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Two param stat value"/>
          <p:cNvSpPr txBox="1"/>
          <p:nvPr/>
        </p:nvSpPr>
        <p:spPr>
          <a:xfrm>
            <a:off x="7863840" y="1417320"/>
            <a:ext cx="37490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0.94</a:t>
            </a:r>
            <a:endParaRPr lang="en-US" sz="4000" dirty="0"/>
          </a:p>
        </p:txBody>
      </p:sp>
      <p:sp>
        <p:nvSpPr>
          <p:cNvPr id="5" name="Two param stat label"/>
          <p:cNvSpPr txBox="1"/>
          <p:nvPr/>
        </p:nvSpPr>
        <p:spPr>
          <a:xfrm>
            <a:off x="7863840" y="2194560"/>
            <a:ext cx="3749040" cy="548640"/>
          </a:xfrm>
          <a:prstGeom prst="rect">
            <a:avLst/>
          </a:prstGeom>
          <a:noFill/>
          <a:ln/>
        </p:spPr>
        <p:txBody>
          <a:bodyPr wrap="square" lIns="0" tIns="0" rIns="0" bIns="0" rtlCol="0" anchor="t"/>
          <a:lstStyle/>
          <a:p>
            <a:pPr indent="0" marL="0">
              <a:buNone/>
            </a:pPr>
            <a:r>
              <a:rPr lang="en-US" sz="1400" dirty="0">
                <a:solidFill>
                  <a:schemeClr val="tx1"/>
                </a:solidFill>
              </a:rPr>
              <a:t>R² from pH and BOD alone</a:t>
            </a:r>
            <a:endParaRPr lang="en-US" sz="1400" dirty="0"/>
          </a:p>
        </p:txBody>
      </p:sp>
      <p:sp>
        <p:nvSpPr>
          <p:cNvPr id="6" name="Drop column stat value"/>
          <p:cNvSpPr txBox="1"/>
          <p:nvPr/>
        </p:nvSpPr>
        <p:spPr>
          <a:xfrm>
            <a:off x="7863840" y="2788920"/>
            <a:ext cx="374904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a:t>
            </a:r>
            <a:endParaRPr lang="en-US" sz="4000" dirty="0"/>
          </a:p>
        </p:txBody>
      </p:sp>
      <p:sp>
        <p:nvSpPr>
          <p:cNvPr id="7" name="Drop column stat label"/>
          <p:cNvSpPr txBox="1"/>
          <p:nvPr/>
        </p:nvSpPr>
        <p:spPr>
          <a:xfrm>
            <a:off x="7863840" y="3566160"/>
            <a:ext cx="3749040" cy="548640"/>
          </a:xfrm>
          <a:prstGeom prst="rect">
            <a:avLst/>
          </a:prstGeom>
          <a:noFill/>
          <a:ln/>
        </p:spPr>
        <p:txBody>
          <a:bodyPr wrap="square" lIns="0" tIns="0" rIns="0" bIns="0" rtlCol="0" anchor="t"/>
          <a:lstStyle/>
          <a:p>
            <a:pPr indent="0" marL="0">
              <a:buNone/>
            </a:pPr>
            <a:r>
              <a:rPr lang="en-US" sz="1400" dirty="0">
                <a:solidFill>
                  <a:schemeClr val="tx1"/>
                </a:solidFill>
              </a:rPr>
              <a:t>R² lost when coliforms or EC are removed from the full model</a:t>
            </a:r>
            <a:endParaRPr lang="en-US" sz="1400" dirty="0"/>
          </a:p>
        </p:txBody>
      </p:sp>
      <p:sp>
        <p:nvSpPr>
          <p:cNvPr id="8" name="Text 5"/>
          <p:cNvSpPr txBox="1"/>
          <p:nvPr/>
        </p:nvSpPr>
        <p:spPr>
          <a:xfrm>
            <a:off x="7863840" y="4343400"/>
            <a:ext cx="3749040" cy="173736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Correlation ≠ importance: </a:t>
            </a:r>
            <a:pPr indent="0" marL="0">
              <a:spcAft>
                <a:spcPts val="600"/>
              </a:spcAft>
              <a:buNone/>
            </a:pPr>
            <a:r>
              <a:rPr lang="en-US" sz="1500" dirty="0">
                <a:solidFill>
                  <a:schemeClr val="tx1"/>
                </a:solidFill>
              </a:rPr>
              <a:t>the coliforms correlate with WQI (ρ ≈ 0.38) only because sewage raises BOD too. Seven methods agree on the order.</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Choosing the right parameters beats adding more</a:t>
            </a:r>
            <a:endParaRPr lang="en-US" sz="3000" dirty="0"/>
          </a:p>
        </p:txBody>
      </p:sp>
      <p:pic>
        <p:nvPicPr>
          <p:cNvPr id="3" name="All subsets chart" descr="/home/mayank-tiwari/Projects/envi-project/figures/fig_comb_all_subsets.png">    </p:cNvPr>
          <p:cNvPicPr>
            <a:picLocks noChangeAspect="1"/>
          </p:cNvPicPr>
          <p:nvPr/>
        </p:nvPicPr>
        <p:blipFill>
          <a:blip r:embed="rId1"/>
          <a:stretch>
            <a:fillRect/>
          </a:stretch>
        </p:blipFill>
        <p:spPr>
          <a:xfrm>
            <a:off x="548640" y="1280160"/>
            <a:ext cx="7223760" cy="4552649"/>
          </a:xfrm>
          <a:prstGeom prst="rect">
            <a:avLst/>
          </a:prstGeom>
        </p:spPr>
      </p:pic>
      <p:sp>
        <p:nvSpPr>
          <p:cNvPr id="4" name="Subset stat 1 value"/>
          <p:cNvSpPr txBox="1"/>
          <p:nvPr/>
        </p:nvSpPr>
        <p:spPr>
          <a:xfrm>
            <a:off x="8138160" y="1371600"/>
            <a:ext cx="347472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0.977</a:t>
            </a:r>
            <a:endParaRPr lang="en-US" sz="4000" dirty="0"/>
          </a:p>
        </p:txBody>
      </p:sp>
      <p:sp>
        <p:nvSpPr>
          <p:cNvPr id="5" name="Subset stat 1 label"/>
          <p:cNvSpPr txBox="1"/>
          <p:nvPr/>
        </p:nvSpPr>
        <p:spPr>
          <a:xfrm>
            <a:off x="8138160" y="2148840"/>
            <a:ext cx="3474720" cy="548640"/>
          </a:xfrm>
          <a:prstGeom prst="rect">
            <a:avLst/>
          </a:prstGeom>
          <a:noFill/>
          <a:ln/>
        </p:spPr>
        <p:txBody>
          <a:bodyPr wrap="square" lIns="0" tIns="0" rIns="0" bIns="0" rtlCol="0" anchor="t"/>
          <a:lstStyle/>
          <a:p>
            <a:pPr indent="0" marL="0">
              <a:buNone/>
            </a:pPr>
            <a:r>
              <a:rPr lang="en-US" sz="1400" dirty="0">
                <a:solidFill>
                  <a:schemeClr val="tx1"/>
                </a:solidFill>
              </a:rPr>
              <a:t>best 3-parameter set: pH, BOD, turbidity</a:t>
            </a:r>
            <a:endParaRPr lang="en-US" sz="1400" dirty="0"/>
          </a:p>
        </p:txBody>
      </p:sp>
      <p:sp>
        <p:nvSpPr>
          <p:cNvPr id="6" name="Subset stat 2 value"/>
          <p:cNvSpPr txBox="1"/>
          <p:nvPr/>
        </p:nvSpPr>
        <p:spPr>
          <a:xfrm>
            <a:off x="8138160" y="2971800"/>
            <a:ext cx="3474720" cy="77724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0.53</a:t>
            </a:r>
            <a:endParaRPr lang="en-US" sz="4000" dirty="0"/>
          </a:p>
        </p:txBody>
      </p:sp>
      <p:sp>
        <p:nvSpPr>
          <p:cNvPr id="7" name="Subset stat 2 label"/>
          <p:cNvSpPr txBox="1"/>
          <p:nvPr/>
        </p:nvSpPr>
        <p:spPr>
          <a:xfrm>
            <a:off x="8138160" y="3749040"/>
            <a:ext cx="3474720" cy="548640"/>
          </a:xfrm>
          <a:prstGeom prst="rect">
            <a:avLst/>
          </a:prstGeom>
          <a:noFill/>
          <a:ln/>
        </p:spPr>
        <p:txBody>
          <a:bodyPr wrap="square" lIns="0" tIns="0" rIns="0" bIns="0" rtlCol="0" anchor="t"/>
          <a:lstStyle/>
          <a:p>
            <a:pPr indent="0" marL="0">
              <a:buNone/>
            </a:pPr>
            <a:r>
              <a:rPr lang="en-US" sz="1400" dirty="0">
                <a:solidFill>
                  <a:schemeClr val="tx1"/>
                </a:solidFill>
              </a:rPr>
              <a:t>median 3-parameter set</a:t>
            </a:r>
            <a:endParaRPr lang="en-US" sz="1400" dirty="0"/>
          </a:p>
        </p:txBody>
      </p:sp>
      <p:sp>
        <p:nvSpPr>
          <p:cNvPr id="8" name="Subset stat 3 value"/>
          <p:cNvSpPr txBox="1"/>
          <p:nvPr/>
        </p:nvSpPr>
        <p:spPr>
          <a:xfrm>
            <a:off x="8138160" y="4572000"/>
            <a:ext cx="347472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2nd / 56</a:t>
            </a:r>
            <a:endParaRPr lang="en-US" sz="4000" dirty="0"/>
          </a:p>
        </p:txBody>
      </p:sp>
      <p:sp>
        <p:nvSpPr>
          <p:cNvPr id="9" name="Subset stat 3 label"/>
          <p:cNvSpPr txBox="1"/>
          <p:nvPr/>
        </p:nvSpPr>
        <p:spPr>
          <a:xfrm>
            <a:off x="8138160" y="5349240"/>
            <a:ext cx="3474720" cy="548640"/>
          </a:xfrm>
          <a:prstGeom prst="rect">
            <a:avLst/>
          </a:prstGeom>
          <a:noFill/>
          <a:ln/>
        </p:spPr>
        <p:txBody>
          <a:bodyPr wrap="square" lIns="0" tIns="0" rIns="0" bIns="0" rtlCol="0" anchor="t"/>
          <a:lstStyle/>
          <a:p>
            <a:pPr indent="0" marL="0">
              <a:buNone/>
            </a:pPr>
            <a:r>
              <a:rPr lang="en-US" sz="1400" dirty="0">
                <a:solidFill>
                  <a:schemeClr val="tx1"/>
                </a:solidFill>
              </a:rPr>
              <a:t>rank of the planned S3 (pH, DO, BOD): R² 0.957</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Machine learning clearly beats re-weighting the formula</a:t>
            </a:r>
            <a:endParaRPr lang="en-US" sz="3000" dirty="0"/>
          </a:p>
        </p:txBody>
      </p:sp>
      <p:graphicFrame>
        <p:nvGraphicFramePr>
          <p:cNvPr id="3" name="ML versus formula chart" descr=""/>
          <p:cNvGraphicFramePr/>
          <p:nvPr/>
        </p:nvGraphicFramePr>
        <p:xfrm>
          <a:off x="54864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412480" y="1463040"/>
            <a:ext cx="3200400" cy="4663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XGBoost is best for every subset; RF, MLP and GPR are close behind</a:t>
            </a:r>
            <a:endParaRPr lang="en-US" sz="1500" dirty="0"/>
          </a:p>
          <a:p>
            <a:pPr marL="342900" indent="-342900">
              <a:spcAft>
                <a:spcPts val="1000"/>
              </a:spcAft>
              <a:buSzPct val="100000"/>
              <a:buChar char="•"/>
            </a:pPr>
            <a:r>
              <a:rPr lang="en-US" sz="1500" dirty="0">
                <a:solidFill>
                  <a:schemeClr val="tx1"/>
                </a:solidFill>
              </a:rPr>
              <a:t>The subset matters far more than the model: for S3, flexible models span R² 0.934–0.957</a:t>
            </a:r>
            <a:endParaRPr lang="en-US" sz="1500" dirty="0"/>
          </a:p>
          <a:p>
            <a:pPr marL="342900" indent="-342900">
              <a:spcAft>
                <a:spcPts val="1000"/>
              </a:spcAft>
              <a:buSzPct val="100000"/>
              <a:buChar char="•"/>
            </a:pPr>
            <a:r>
              <a:rPr lang="en-US" sz="1500" dirty="0">
                <a:solidFill>
                  <a:schemeClr val="tx1"/>
                </a:solidFill>
              </a:rPr>
              <a:t>Linear regression fails (R² ≈ 0.74): the capped sub-indices are piecewise-linear</a:t>
            </a:r>
            <a:endParaRPr lang="en-US" sz="1500" dirty="0"/>
          </a:p>
          <a:p>
            <a:pPr marL="342900" indent="-342900">
              <a:spcAft>
                <a:spcPts val="1000"/>
              </a:spcAft>
              <a:buSzPct val="100000"/>
              <a:buChar char="•"/>
            </a:pPr>
            <a:r>
              <a:rPr lang="en-US" sz="1500" dirty="0">
                <a:solidFill>
                  <a:schemeClr val="tx1"/>
                </a:solidFill>
              </a:rPr>
              <a:t>The model learns the expected contribution of the missing parameters; the formula cannot</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Three parameters predict the WQI at unseen stations</a:t>
            </a:r>
            <a:endParaRPr lang="en-US" sz="3000" dirty="0"/>
          </a:p>
        </p:txBody>
      </p:sp>
      <p:sp>
        <p:nvSpPr>
          <p:cNvPr id="3" name="Headline 1 value"/>
          <p:cNvSpPr txBox="1"/>
          <p:nvPr/>
        </p:nvSpPr>
        <p:spPr>
          <a:xfrm>
            <a:off x="548640" y="1325880"/>
            <a:ext cx="265176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0.957</a:t>
            </a:r>
            <a:endParaRPr lang="en-US" sz="4000" dirty="0"/>
          </a:p>
        </p:txBody>
      </p:sp>
      <p:sp>
        <p:nvSpPr>
          <p:cNvPr id="4" name="Headline 1 label"/>
          <p:cNvSpPr txBox="1"/>
          <p:nvPr/>
        </p:nvSpPr>
        <p:spPr>
          <a:xfrm>
            <a:off x="548640" y="2103120"/>
            <a:ext cx="2651760" cy="548640"/>
          </a:xfrm>
          <a:prstGeom prst="rect">
            <a:avLst/>
          </a:prstGeom>
          <a:noFill/>
          <a:ln/>
        </p:spPr>
        <p:txBody>
          <a:bodyPr wrap="square" lIns="0" tIns="0" rIns="0" bIns="0" rtlCol="0" anchor="t"/>
          <a:lstStyle/>
          <a:p>
            <a:pPr indent="0" marL="0">
              <a:buNone/>
            </a:pPr>
            <a:r>
              <a:rPr lang="en-US" sz="1400" dirty="0">
                <a:solidFill>
                  <a:schemeClr val="tx1"/>
                </a:solidFill>
              </a:rPr>
              <a:t>R² (NSE) for pH, DO, BOD</a:t>
            </a:r>
            <a:endParaRPr lang="en-US" sz="1400" dirty="0"/>
          </a:p>
        </p:txBody>
      </p:sp>
      <p:sp>
        <p:nvSpPr>
          <p:cNvPr id="5" name="Headline 2 value"/>
          <p:cNvSpPr txBox="1"/>
          <p:nvPr/>
        </p:nvSpPr>
        <p:spPr>
          <a:xfrm>
            <a:off x="3383280" y="1325880"/>
            <a:ext cx="265176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2.9</a:t>
            </a:r>
            <a:endParaRPr lang="en-US" sz="4000" dirty="0"/>
          </a:p>
        </p:txBody>
      </p:sp>
      <p:sp>
        <p:nvSpPr>
          <p:cNvPr id="6" name="Headline 2 label"/>
          <p:cNvSpPr txBox="1"/>
          <p:nvPr/>
        </p:nvSpPr>
        <p:spPr>
          <a:xfrm>
            <a:off x="3383280" y="2103120"/>
            <a:ext cx="2651760" cy="548640"/>
          </a:xfrm>
          <a:prstGeom prst="rect">
            <a:avLst/>
          </a:prstGeom>
          <a:noFill/>
          <a:ln/>
        </p:spPr>
        <p:txBody>
          <a:bodyPr wrap="square" lIns="0" tIns="0" rIns="0" bIns="0" rtlCol="0" anchor="t"/>
          <a:lstStyle/>
          <a:p>
            <a:pPr indent="0" marL="0">
              <a:buNone/>
            </a:pPr>
            <a:r>
              <a:rPr lang="en-US" sz="1400" dirty="0">
                <a:solidFill>
                  <a:schemeClr val="tx1"/>
                </a:solidFill>
              </a:rPr>
              <a:t>RMSE in WQI points (target s.d. 14.1)</a:t>
            </a:r>
            <a:endParaRPr lang="en-US" sz="1400" dirty="0"/>
          </a:p>
        </p:txBody>
      </p:sp>
      <p:sp>
        <p:nvSpPr>
          <p:cNvPr id="7" name="Headline 3 value"/>
          <p:cNvSpPr txBox="1"/>
          <p:nvPr/>
        </p:nvSpPr>
        <p:spPr>
          <a:xfrm>
            <a:off x="6217920" y="1325880"/>
            <a:ext cx="265176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90.6%</a:t>
            </a:r>
            <a:endParaRPr lang="en-US" sz="4000" dirty="0"/>
          </a:p>
        </p:txBody>
      </p:sp>
      <p:sp>
        <p:nvSpPr>
          <p:cNvPr id="8" name="Headline 3 label"/>
          <p:cNvSpPr txBox="1"/>
          <p:nvPr/>
        </p:nvSpPr>
        <p:spPr>
          <a:xfrm>
            <a:off x="6217920" y="2103120"/>
            <a:ext cx="2651760" cy="548640"/>
          </a:xfrm>
          <a:prstGeom prst="rect">
            <a:avLst/>
          </a:prstGeom>
          <a:noFill/>
          <a:ln/>
        </p:spPr>
        <p:txBody>
          <a:bodyPr wrap="square" lIns="0" tIns="0" rIns="0" bIns="0" rtlCol="0" anchor="t"/>
          <a:lstStyle/>
          <a:p>
            <a:pPr indent="0" marL="0">
              <a:buNone/>
            </a:pPr>
            <a:r>
              <a:rPr lang="en-US" sz="1400" dirty="0">
                <a:solidFill>
                  <a:schemeClr val="tx1"/>
                </a:solidFill>
              </a:rPr>
              <a:t>category accuracy (baseline 58%)</a:t>
            </a:r>
            <a:endParaRPr lang="en-US" sz="1400" dirty="0"/>
          </a:p>
        </p:txBody>
      </p:sp>
      <p:sp>
        <p:nvSpPr>
          <p:cNvPr id="9" name="Headline 4 value"/>
          <p:cNvSpPr txBox="1"/>
          <p:nvPr/>
        </p:nvSpPr>
        <p:spPr>
          <a:xfrm>
            <a:off x="9052560" y="1325880"/>
            <a:ext cx="2651760" cy="777240"/>
          </a:xfrm>
          <a:prstGeom prst="rect">
            <a:avLst/>
          </a:prstGeom>
          <a:noFill/>
          <a:ln/>
        </p:spPr>
        <p:txBody>
          <a:bodyPr wrap="square" lIns="0" tIns="0" rIns="0" bIns="0" rtlCol="0" anchor="ctr"/>
          <a:lstStyle/>
          <a:p>
            <a:pPr indent="0" marL="0">
              <a:buNone/>
            </a:pPr>
            <a:r>
              <a:rPr lang="en-US" sz="4000" b="1" dirty="0">
                <a:solidFill>
                  <a:schemeClr val="accent4"/>
                </a:solidFill>
                <a:latin typeface="Cambria" pitchFamily="34" charset="0"/>
                <a:ea typeface="Cambria" pitchFamily="34" charset="-122"/>
                <a:cs typeface="Cambria" pitchFamily="34" charset="-120"/>
              </a:rPr>
              <a:t>0</a:t>
            </a:r>
            <a:endParaRPr lang="en-US" sz="4000" dirty="0"/>
          </a:p>
        </p:txBody>
      </p:sp>
      <p:sp>
        <p:nvSpPr>
          <p:cNvPr id="10" name="Headline 4 label"/>
          <p:cNvSpPr txBox="1"/>
          <p:nvPr/>
        </p:nvSpPr>
        <p:spPr>
          <a:xfrm>
            <a:off x="9052560" y="2103120"/>
            <a:ext cx="2651760" cy="548640"/>
          </a:xfrm>
          <a:prstGeom prst="rect">
            <a:avLst/>
          </a:prstGeom>
          <a:noFill/>
          <a:ln/>
        </p:spPr>
        <p:txBody>
          <a:bodyPr wrap="square" lIns="0" tIns="0" rIns="0" bIns="0" rtlCol="0" anchor="t"/>
          <a:lstStyle/>
          <a:p>
            <a:pPr indent="0" marL="0">
              <a:buNone/>
            </a:pPr>
            <a:r>
              <a:rPr lang="en-US" sz="1400" dirty="0">
                <a:solidFill>
                  <a:schemeClr val="tx1"/>
                </a:solidFill>
              </a:rPr>
              <a:t>visits off by two or more categories</a:t>
            </a:r>
            <a:endParaRPr lang="en-US" sz="1400" dirty="0"/>
          </a:p>
        </p:txBody>
      </p:sp>
      <p:pic>
        <p:nvPicPr>
          <p:cNvPr id="11" name="Predicted versus true" descr="/home/mayank-tiwari/Projects/envi-project/figures/fig_models_pred_vs_true.png">    </p:cNvPr>
          <p:cNvPicPr>
            <a:picLocks noChangeAspect="1"/>
          </p:cNvPicPr>
          <p:nvPr/>
        </p:nvPicPr>
        <p:blipFill>
          <a:blip r:embed="rId1"/>
          <a:stretch>
            <a:fillRect/>
          </a:stretch>
        </p:blipFill>
        <p:spPr>
          <a:xfrm>
            <a:off x="822960" y="2880360"/>
            <a:ext cx="10515600" cy="3512518"/>
          </a:xfrm>
          <a:prstGeom prst="rect">
            <a:avLst/>
          </a:prstGeom>
        </p:spPr>
      </p:pic>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Models need ~25 training stations to beat the formula</a:t>
            </a:r>
            <a:endParaRPr lang="en-US" sz="3000" dirty="0"/>
          </a:p>
        </p:txBody>
      </p:sp>
      <p:graphicFrame>
        <p:nvGraphicFramePr>
          <p:cNvPr id="3" name="Scarcity chart" descr=""/>
          <p:cNvGraphicFramePr/>
          <p:nvPr/>
        </p:nvGraphicFramePr>
        <p:xfrm>
          <a:off x="548640" y="132588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4" name="Scarcity rule 1"/>
          <p:cNvSpPr/>
          <p:nvPr/>
        </p:nvSpPr>
        <p:spPr>
          <a:xfrm>
            <a:off x="8138160" y="1463040"/>
            <a:ext cx="3474720" cy="868680"/>
          </a:xfrm>
          <a:prstGeom prst="roundRect">
            <a:avLst>
              <a:gd name="adj" fmla="val 12632"/>
            </a:avLst>
          </a:prstGeom>
          <a:solidFill>
            <a:schemeClr val="bg2"/>
          </a:solidFill>
          <a:ln w="12700">
            <a:solidFill>
              <a:schemeClr val="bg2"/>
            </a:solidFill>
            <a:prstDash val="solid"/>
          </a:ln>
        </p:spPr>
      </p:sp>
      <p:sp>
        <p:nvSpPr>
          <p:cNvPr id="5" name="Scarcity rule 1 badge"/>
          <p:cNvSpPr/>
          <p:nvPr/>
        </p:nvSpPr>
        <p:spPr>
          <a:xfrm>
            <a:off x="8275320" y="1691640"/>
            <a:ext cx="411480" cy="411480"/>
          </a:xfrm>
          <a:prstGeom prst="ellipse">
            <a:avLst/>
          </a:prstGeom>
          <a:solidFill>
            <a:schemeClr val="accent1"/>
          </a:solidFill>
          <a:ln w="12700">
            <a:solidFill>
              <a:schemeClr val="accent1"/>
            </a:solidFill>
            <a:prstDash val="solid"/>
          </a:ln>
        </p:spPr>
      </p:sp>
      <p:sp>
        <p:nvSpPr>
          <p:cNvPr id="6" name="Scarcity rule 1 number"/>
          <p:cNvSpPr txBox="1"/>
          <p:nvPr/>
        </p:nvSpPr>
        <p:spPr>
          <a:xfrm>
            <a:off x="8275320" y="16916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Scarcity rule 1 text"/>
          <p:cNvSpPr txBox="1"/>
          <p:nvPr/>
        </p:nvSpPr>
        <p:spPr>
          <a:xfrm>
            <a:off x="8823960" y="1554480"/>
            <a:ext cx="2697480" cy="685800"/>
          </a:xfrm>
          <a:prstGeom prst="rect">
            <a:avLst/>
          </a:prstGeom>
          <a:noFill/>
          <a:ln/>
        </p:spPr>
        <p:txBody>
          <a:bodyPr wrap="square" lIns="0" tIns="0" rIns="0" bIns="0" rtlCol="0" anchor="ctr"/>
          <a:lstStyle/>
          <a:p>
            <a:pPr indent="0" marL="0">
              <a:buNone/>
            </a:pPr>
            <a:r>
              <a:rPr lang="en-US" sz="1500" b="1" dirty="0">
                <a:solidFill>
                  <a:schemeClr val="tx2"/>
                </a:solidFill>
              </a:rPr>
              <a:t>&lt; 25 stations</a:t>
            </a:r>
            <a:endParaRPr lang="en-US" sz="1500" dirty="0"/>
          </a:p>
          <a:p>
            <a:pPr indent="0" marL="0">
              <a:buNone/>
            </a:pPr>
            <a:r>
              <a:rPr lang="en-US" sz="1500" dirty="0">
                <a:solidFill>
                  <a:schemeClr val="tx1"/>
                </a:solidFill>
              </a:rPr>
              <a:t>use the formula</a:t>
            </a:r>
            <a:endParaRPr lang="en-US" sz="1500" dirty="0"/>
          </a:p>
        </p:txBody>
      </p:sp>
      <p:sp>
        <p:nvSpPr>
          <p:cNvPr id="8" name="Scarcity rule 2"/>
          <p:cNvSpPr/>
          <p:nvPr/>
        </p:nvSpPr>
        <p:spPr>
          <a:xfrm>
            <a:off x="8138160" y="2514600"/>
            <a:ext cx="3474720" cy="868680"/>
          </a:xfrm>
          <a:prstGeom prst="roundRect">
            <a:avLst>
              <a:gd name="adj" fmla="val 12632"/>
            </a:avLst>
          </a:prstGeom>
          <a:solidFill>
            <a:schemeClr val="bg2"/>
          </a:solidFill>
          <a:ln w="12700">
            <a:solidFill>
              <a:schemeClr val="bg2"/>
            </a:solidFill>
            <a:prstDash val="solid"/>
          </a:ln>
        </p:spPr>
      </p:sp>
      <p:sp>
        <p:nvSpPr>
          <p:cNvPr id="9" name="Scarcity rule 2 badge"/>
          <p:cNvSpPr/>
          <p:nvPr/>
        </p:nvSpPr>
        <p:spPr>
          <a:xfrm>
            <a:off x="8275320" y="2743200"/>
            <a:ext cx="411480" cy="411480"/>
          </a:xfrm>
          <a:prstGeom prst="ellipse">
            <a:avLst/>
          </a:prstGeom>
          <a:solidFill>
            <a:schemeClr val="accent1"/>
          </a:solidFill>
          <a:ln w="12700">
            <a:solidFill>
              <a:schemeClr val="accent1"/>
            </a:solidFill>
            <a:prstDash val="solid"/>
          </a:ln>
        </p:spPr>
      </p:sp>
      <p:sp>
        <p:nvSpPr>
          <p:cNvPr id="10" name="Scarcity rule 2 number"/>
          <p:cNvSpPr txBox="1"/>
          <p:nvPr/>
        </p:nvSpPr>
        <p:spPr>
          <a:xfrm>
            <a:off x="8275320" y="27432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carcity rule 2 text"/>
          <p:cNvSpPr txBox="1"/>
          <p:nvPr/>
        </p:nvSpPr>
        <p:spPr>
          <a:xfrm>
            <a:off x="8823960" y="2606040"/>
            <a:ext cx="2697480" cy="685800"/>
          </a:xfrm>
          <a:prstGeom prst="rect">
            <a:avLst/>
          </a:prstGeom>
          <a:noFill/>
          <a:ln/>
        </p:spPr>
        <p:txBody>
          <a:bodyPr wrap="square" lIns="0" tIns="0" rIns="0" bIns="0" rtlCol="0" anchor="ctr"/>
          <a:lstStyle/>
          <a:p>
            <a:pPr indent="0" marL="0">
              <a:buNone/>
            </a:pPr>
            <a:r>
              <a:rPr lang="en-US" sz="1500" b="1" dirty="0">
                <a:solidFill>
                  <a:schemeClr val="tx2"/>
                </a:solidFill>
              </a:rPr>
              <a:t>25–100 stations</a:t>
            </a:r>
            <a:endParaRPr lang="en-US" sz="1500" dirty="0"/>
          </a:p>
          <a:p>
            <a:pPr indent="0" marL="0">
              <a:buNone/>
            </a:pPr>
            <a:r>
              <a:rPr lang="en-US" sz="1500" dirty="0">
                <a:solidFill>
                  <a:schemeClr val="tx1"/>
                </a:solidFill>
              </a:rPr>
              <a:t>Gaussian process</a:t>
            </a:r>
            <a:endParaRPr lang="en-US" sz="1500" dirty="0"/>
          </a:p>
        </p:txBody>
      </p:sp>
      <p:sp>
        <p:nvSpPr>
          <p:cNvPr id="12" name="Scarcity rule 3"/>
          <p:cNvSpPr/>
          <p:nvPr/>
        </p:nvSpPr>
        <p:spPr>
          <a:xfrm>
            <a:off x="8138160" y="3566160"/>
            <a:ext cx="3474720" cy="868680"/>
          </a:xfrm>
          <a:prstGeom prst="roundRect">
            <a:avLst>
              <a:gd name="adj" fmla="val 12632"/>
            </a:avLst>
          </a:prstGeom>
          <a:solidFill>
            <a:schemeClr val="bg2"/>
          </a:solidFill>
          <a:ln w="12700">
            <a:solidFill>
              <a:schemeClr val="bg2"/>
            </a:solidFill>
            <a:prstDash val="solid"/>
          </a:ln>
        </p:spPr>
      </p:sp>
      <p:sp>
        <p:nvSpPr>
          <p:cNvPr id="13" name="Scarcity rule 3 badge"/>
          <p:cNvSpPr/>
          <p:nvPr/>
        </p:nvSpPr>
        <p:spPr>
          <a:xfrm>
            <a:off x="8275320" y="3794760"/>
            <a:ext cx="411480" cy="411480"/>
          </a:xfrm>
          <a:prstGeom prst="ellipse">
            <a:avLst/>
          </a:prstGeom>
          <a:solidFill>
            <a:schemeClr val="accent1"/>
          </a:solidFill>
          <a:ln w="12700">
            <a:solidFill>
              <a:schemeClr val="accent1"/>
            </a:solidFill>
            <a:prstDash val="solid"/>
          </a:ln>
        </p:spPr>
      </p:sp>
      <p:sp>
        <p:nvSpPr>
          <p:cNvPr id="14" name="Scarcity rule 3 number"/>
          <p:cNvSpPr txBox="1"/>
          <p:nvPr/>
        </p:nvSpPr>
        <p:spPr>
          <a:xfrm>
            <a:off x="8275320" y="3794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Scarcity rule 3 text"/>
          <p:cNvSpPr txBox="1"/>
          <p:nvPr/>
        </p:nvSpPr>
        <p:spPr>
          <a:xfrm>
            <a:off x="8823960" y="3657600"/>
            <a:ext cx="2697480" cy="685800"/>
          </a:xfrm>
          <a:prstGeom prst="rect">
            <a:avLst/>
          </a:prstGeom>
          <a:noFill/>
          <a:ln/>
        </p:spPr>
        <p:txBody>
          <a:bodyPr wrap="square" lIns="0" tIns="0" rIns="0" bIns="0" rtlCol="0" anchor="ctr"/>
          <a:lstStyle/>
          <a:p>
            <a:pPr indent="0" marL="0">
              <a:buNone/>
            </a:pPr>
            <a:r>
              <a:rPr lang="en-US" sz="1500" b="1" dirty="0">
                <a:solidFill>
                  <a:schemeClr val="tx2"/>
                </a:solidFill>
              </a:rPr>
              <a:t>&gt; 100 stations</a:t>
            </a:r>
            <a:endParaRPr lang="en-US" sz="1500" dirty="0"/>
          </a:p>
          <a:p>
            <a:pPr indent="0" marL="0">
              <a:buNone/>
            </a:pPr>
            <a:r>
              <a:rPr lang="en-US" sz="1500" dirty="0">
                <a:solidFill>
                  <a:schemeClr val="tx1"/>
                </a:solidFill>
              </a:rPr>
              <a:t>XGBoost</a:t>
            </a:r>
            <a:endParaRPr lang="en-US" sz="1500" dirty="0"/>
          </a:p>
        </p:txBody>
      </p:sp>
      <p:sp>
        <p:nvSpPr>
          <p:cNvPr id="16" name="Text 13"/>
          <p:cNvSpPr txBox="1"/>
          <p:nvPr/>
        </p:nvSpPr>
        <p:spPr>
          <a:xfrm>
            <a:off x="8138160" y="4754880"/>
            <a:ext cx="3474720" cy="137160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Neural networks fail when data are scarce (R² &lt; 0 with 9 stations). Extra parameters only pay off beyond about 50 stations.</a:t>
            </a:r>
            <a:endParaRPr lang="en-US" sz="14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Calibrated intervals; pH precision matters most</a:t>
            </a:r>
            <a:endParaRPr lang="en-US" sz="3000" dirty="0"/>
          </a:p>
        </p:txBody>
      </p:sp>
      <p:sp>
        <p:nvSpPr>
          <p:cNvPr id="3" name="Uncertainty card"/>
          <p:cNvSpPr/>
          <p:nvPr/>
        </p:nvSpPr>
        <p:spPr>
          <a:xfrm>
            <a:off x="548640" y="1325880"/>
            <a:ext cx="4206240" cy="4800600"/>
          </a:xfrm>
          <a:prstGeom prst="roundRect">
            <a:avLst>
              <a:gd name="adj" fmla="val 2609"/>
            </a:avLst>
          </a:prstGeom>
          <a:solidFill>
            <a:schemeClr val="bg2"/>
          </a:solidFill>
          <a:ln w="12700">
            <a:solidFill>
              <a:schemeClr val="bg2"/>
            </a:solidFill>
            <a:prstDash val="solid"/>
          </a:ln>
        </p:spPr>
      </p:sp>
      <p:sp>
        <p:nvSpPr>
          <p:cNvPr id="4" name="Uncertainty heading"/>
          <p:cNvSpPr txBox="1"/>
          <p:nvPr/>
        </p:nvSpPr>
        <p:spPr>
          <a:xfrm>
            <a:off x="777240" y="1463040"/>
            <a:ext cx="3749040" cy="365760"/>
          </a:xfrm>
          <a:prstGeom prst="rect">
            <a:avLst/>
          </a:prstGeom>
          <a:noFill/>
          <a:ln/>
        </p:spPr>
        <p:txBody>
          <a:bodyPr wrap="square" lIns="0" tIns="0" rIns="0" bIns="0" rtlCol="0" anchor="ctr"/>
          <a:lstStyle/>
          <a:p>
            <a:pPr indent="0" marL="0">
              <a:buNone/>
            </a:pPr>
            <a:r>
              <a:rPr lang="en-US" sz="1700" b="1" dirty="0">
                <a:solidFill>
                  <a:schemeClr val="tx2"/>
                </a:solidFill>
              </a:rPr>
              <a:t>Split-conformal 90% intervals</a:t>
            </a:r>
            <a:endParaRPr lang="en-US" sz="1700" dirty="0"/>
          </a:p>
        </p:txBody>
      </p:sp>
      <p:sp>
        <p:nvSpPr>
          <p:cNvPr id="5" name="Coverage value"/>
          <p:cNvSpPr txBox="1"/>
          <p:nvPr/>
        </p:nvSpPr>
        <p:spPr>
          <a:xfrm>
            <a:off x="777240" y="1965960"/>
            <a:ext cx="374904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90.3%</a:t>
            </a:r>
            <a:endParaRPr lang="en-US" sz="4000" dirty="0"/>
          </a:p>
        </p:txBody>
      </p:sp>
      <p:sp>
        <p:nvSpPr>
          <p:cNvPr id="6" name="Coverage label"/>
          <p:cNvSpPr txBox="1"/>
          <p:nvPr/>
        </p:nvSpPr>
        <p:spPr>
          <a:xfrm>
            <a:off x="777240" y="2743200"/>
            <a:ext cx="3749040" cy="548640"/>
          </a:xfrm>
          <a:prstGeom prst="rect">
            <a:avLst/>
          </a:prstGeom>
          <a:noFill/>
          <a:ln/>
        </p:spPr>
        <p:txBody>
          <a:bodyPr wrap="square" lIns="0" tIns="0" rIns="0" bIns="0" rtlCol="0" anchor="t"/>
          <a:lstStyle/>
          <a:p>
            <a:pPr indent="0" marL="0">
              <a:buNone/>
            </a:pPr>
            <a:r>
              <a:rPr lang="en-US" sz="1400" dirty="0">
                <a:solidFill>
                  <a:schemeClr val="tx1"/>
                </a:solidFill>
              </a:rPr>
              <a:t>empirical coverage on unseen stations (S3)</a:t>
            </a:r>
            <a:endParaRPr lang="en-US" sz="1400" dirty="0"/>
          </a:p>
        </p:txBody>
      </p:sp>
      <p:sp>
        <p:nvSpPr>
          <p:cNvPr id="7" name="Half width value"/>
          <p:cNvSpPr txBox="1"/>
          <p:nvPr/>
        </p:nvSpPr>
        <p:spPr>
          <a:xfrm>
            <a:off x="777240" y="3337560"/>
            <a:ext cx="374904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 4.7</a:t>
            </a:r>
            <a:endParaRPr lang="en-US" sz="4000" dirty="0"/>
          </a:p>
        </p:txBody>
      </p:sp>
      <p:sp>
        <p:nvSpPr>
          <p:cNvPr id="8" name="Half width label"/>
          <p:cNvSpPr txBox="1"/>
          <p:nvPr/>
        </p:nvSpPr>
        <p:spPr>
          <a:xfrm>
            <a:off x="777240" y="4114800"/>
            <a:ext cx="3749040" cy="548640"/>
          </a:xfrm>
          <a:prstGeom prst="rect">
            <a:avLst/>
          </a:prstGeom>
          <a:noFill/>
          <a:ln/>
        </p:spPr>
        <p:txBody>
          <a:bodyPr wrap="square" lIns="0" tIns="0" rIns="0" bIns="0" rtlCol="0" anchor="t"/>
          <a:lstStyle/>
          <a:p>
            <a:pPr indent="0" marL="0">
              <a:buNone/>
            </a:pPr>
            <a:r>
              <a:rPr lang="en-US" sz="1400" dirty="0">
                <a:solidFill>
                  <a:schemeClr val="tx1"/>
                </a:solidFill>
              </a:rPr>
              <a:t>WQI points for S3; ± 1.6 for S7</a:t>
            </a:r>
            <a:endParaRPr lang="en-US" sz="1400" dirty="0"/>
          </a:p>
        </p:txBody>
      </p:sp>
      <p:sp>
        <p:nvSpPr>
          <p:cNvPr id="9" name="Text 7"/>
          <p:cNvSpPr txBox="1"/>
          <p:nvPr/>
        </p:nvSpPr>
        <p:spPr>
          <a:xfrm>
            <a:off x="777240" y="4754880"/>
            <a:ext cx="3749040" cy="118872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62% of visits get an interval inside a single category; the rest are flagged “category uncertain”.</a:t>
            </a:r>
            <a:endParaRPr lang="en-US" sz="1400" dirty="0"/>
          </a:p>
        </p:txBody>
      </p:sp>
      <p:graphicFrame>
        <p:nvGraphicFramePr>
          <p:cNvPr id="10" name="Noise chart" descr=""/>
          <p:cNvGraphicFramePr/>
          <p:nvPr/>
        </p:nvGraphicFramePr>
        <p:xfrm>
          <a:off x="5120640" y="1325880"/>
          <a:ext cx="649224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Which panel works depends on the index definition</a:t>
            </a:r>
            <a:endParaRPr lang="en-US" sz="3000" dirty="0"/>
          </a:p>
        </p:txBody>
      </p:sp>
      <p:graphicFrame>
        <p:nvGraphicFramePr>
          <p:cNvPr id="3" name="Sensitivity chart" descr=""/>
          <p:cNvGraphicFramePr/>
          <p:nvPr/>
        </p:nvGraphicFramePr>
        <p:xfrm>
          <a:off x="548640" y="1325880"/>
          <a:ext cx="731520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229600" y="1463040"/>
            <a:ext cx="3383280" cy="4663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Equal weights shift importance to the coliforms (52%) and turbidity (18%)</a:t>
            </a:r>
            <a:endParaRPr lang="en-US" sz="1500" dirty="0"/>
          </a:p>
          <a:p>
            <a:pPr marL="342900" indent="-342900">
              <a:spcAft>
                <a:spcPts val="1000"/>
              </a:spcAft>
              <a:buSzPct val="100000"/>
              <a:buChar char="•"/>
            </a:pPr>
            <a:r>
              <a:rPr lang="en-US" sz="1500" dirty="0">
                <a:solidFill>
                  <a:schemeClr val="tx1"/>
                </a:solidFill>
              </a:rPr>
              <a:t>Uncapped index: S3 R² 0.37, but pH + BOD + turbidity reaches 0.98</a:t>
            </a:r>
            <a:endParaRPr lang="en-US" sz="1500" dirty="0"/>
          </a:p>
          <a:p>
            <a:pPr marL="342900" indent="-342900">
              <a:spcAft>
                <a:spcPts val="1000"/>
              </a:spcAft>
              <a:buSzPct val="100000"/>
              <a:buChar char="•"/>
            </a:pPr>
            <a:r>
              <a:rPr lang="en-US" sz="1500" dirty="0">
                <a:solidFill>
                  <a:schemeClr val="tx1"/>
                </a:solidFill>
              </a:rPr>
              <a:t>EC standard 250–4,000 µS/cm changes ≤ 0.35% of categories</a:t>
            </a:r>
            <a:endParaRPr lang="en-US" sz="1500" dirty="0"/>
          </a:p>
          <a:p>
            <a:pPr marL="342900" indent="-342900">
              <a:spcAft>
                <a:spcPts val="1000"/>
              </a:spcAft>
              <a:buSzPct val="100000"/>
              <a:buChar char="•"/>
            </a:pPr>
            <a:r>
              <a:rPr lang="en-US" sz="1500" dirty="0">
                <a:solidFill>
                  <a:schemeClr val="tx1"/>
                </a:solidFill>
              </a:rPr>
              <a:t>S7 is the only panel robust to every definition</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Deployment: first full-panel WQI for 255 stations</a:t>
            </a:r>
            <a:endParaRPr lang="en-US" sz="3000" dirty="0"/>
          </a:p>
        </p:txBody>
      </p:sp>
      <p:sp>
        <p:nvSpPr>
          <p:cNvPr id="3" name="Deployment stat 1 value"/>
          <p:cNvSpPr txBox="1"/>
          <p:nvPr/>
        </p:nvSpPr>
        <p:spPr>
          <a:xfrm>
            <a:off x="548640" y="1325880"/>
            <a:ext cx="365760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20,132</a:t>
            </a:r>
            <a:endParaRPr lang="en-US" sz="4000" dirty="0"/>
          </a:p>
        </p:txBody>
      </p:sp>
      <p:sp>
        <p:nvSpPr>
          <p:cNvPr id="4" name="Deployment stat 1 label"/>
          <p:cNvSpPr txBox="1"/>
          <p:nvPr/>
        </p:nvSpPr>
        <p:spPr>
          <a:xfrm>
            <a:off x="548640" y="2103120"/>
            <a:ext cx="3657600" cy="548640"/>
          </a:xfrm>
          <a:prstGeom prst="rect">
            <a:avLst/>
          </a:prstGeom>
          <a:noFill/>
          <a:ln/>
        </p:spPr>
        <p:txBody>
          <a:bodyPr wrap="square" lIns="0" tIns="0" rIns="0" bIns="0" rtlCol="0" anchor="t"/>
          <a:lstStyle/>
          <a:p>
            <a:pPr indent="0" marL="0">
              <a:buNone/>
            </a:pPr>
            <a:r>
              <a:rPr lang="en-US" sz="1400" dirty="0">
                <a:solidFill>
                  <a:schemeClr val="tx1"/>
                </a:solidFill>
              </a:rPr>
              <a:t>visits reconstructed (2018–2021)</a:t>
            </a:r>
            <a:endParaRPr lang="en-US" sz="1400" dirty="0"/>
          </a:p>
        </p:txBody>
      </p:sp>
      <p:sp>
        <p:nvSpPr>
          <p:cNvPr id="5" name="Deployment stat 2 value"/>
          <p:cNvSpPr txBox="1"/>
          <p:nvPr/>
        </p:nvSpPr>
        <p:spPr>
          <a:xfrm>
            <a:off x="548640" y="2743200"/>
            <a:ext cx="3657600" cy="77724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255</a:t>
            </a:r>
            <a:endParaRPr lang="en-US" sz="4000" dirty="0"/>
          </a:p>
        </p:txBody>
      </p:sp>
      <p:sp>
        <p:nvSpPr>
          <p:cNvPr id="6" name="Deployment stat 2 label"/>
          <p:cNvSpPr txBox="1"/>
          <p:nvPr/>
        </p:nvSpPr>
        <p:spPr>
          <a:xfrm>
            <a:off x="548640" y="3520440"/>
            <a:ext cx="3657600" cy="548640"/>
          </a:xfrm>
          <a:prstGeom prst="rect">
            <a:avLst/>
          </a:prstGeom>
          <a:noFill/>
          <a:ln/>
        </p:spPr>
        <p:txBody>
          <a:bodyPr wrap="square" lIns="0" tIns="0" rIns="0" bIns="0" rtlCol="0" anchor="t"/>
          <a:lstStyle/>
          <a:p>
            <a:pPr indent="0" marL="0">
              <a:buNone/>
            </a:pPr>
            <a:r>
              <a:rPr lang="en-US" sz="1400" dirty="0">
                <a:solidFill>
                  <a:schemeClr val="tx1"/>
                </a:solidFill>
              </a:rPr>
              <a:t>stations that never had a WQI</a:t>
            </a:r>
            <a:endParaRPr lang="en-US" sz="1400" dirty="0"/>
          </a:p>
        </p:txBody>
      </p:sp>
      <p:sp>
        <p:nvSpPr>
          <p:cNvPr id="7" name="Deployment stat 3 value"/>
          <p:cNvSpPr txBox="1"/>
          <p:nvPr/>
        </p:nvSpPr>
        <p:spPr>
          <a:xfrm>
            <a:off x="548640" y="4160520"/>
            <a:ext cx="3657600" cy="777240"/>
          </a:xfrm>
          <a:prstGeom prst="rect">
            <a:avLst/>
          </a:prstGeom>
          <a:noFill/>
          <a:ln/>
        </p:spPr>
        <p:txBody>
          <a:bodyPr wrap="square" lIns="0" tIns="0" rIns="0" bIns="0" rtlCol="0" anchor="ctr"/>
          <a:lstStyle/>
          <a:p>
            <a:pPr indent="0" marL="0">
              <a:buNone/>
            </a:pPr>
            <a:r>
              <a:rPr lang="en-US" sz="4000" b="1" dirty="0">
                <a:solidFill>
                  <a:schemeClr val="tx2"/>
                </a:solidFill>
                <a:latin typeface="Cambria" pitchFamily="34" charset="0"/>
                <a:ea typeface="Cambria" pitchFamily="34" charset="-122"/>
                <a:cs typeface="Cambria" pitchFamily="34" charset="-120"/>
              </a:rPr>
              <a:t>3.0</a:t>
            </a:r>
            <a:endParaRPr lang="en-US" sz="4000" dirty="0"/>
          </a:p>
        </p:txBody>
      </p:sp>
      <p:sp>
        <p:nvSpPr>
          <p:cNvPr id="8" name="Deployment stat 3 label"/>
          <p:cNvSpPr txBox="1"/>
          <p:nvPr/>
        </p:nvSpPr>
        <p:spPr>
          <a:xfrm>
            <a:off x="548640" y="4937760"/>
            <a:ext cx="3657600" cy="548640"/>
          </a:xfrm>
          <a:prstGeom prst="rect">
            <a:avLst/>
          </a:prstGeom>
          <a:noFill/>
          <a:ln/>
        </p:spPr>
        <p:txBody>
          <a:bodyPr wrap="square" lIns="0" tIns="0" rIns="0" bIns="0" rtlCol="0" anchor="t"/>
          <a:lstStyle/>
          <a:p>
            <a:pPr indent="0" marL="0">
              <a:buNone/>
            </a:pPr>
            <a:r>
              <a:rPr lang="en-US" sz="1400" dirty="0">
                <a:solidFill>
                  <a:schemeClr val="tx1"/>
                </a:solidFill>
              </a:rPr>
              <a:t>shift-corrected RMSE (vs 2.9 in CV)</a:t>
            </a:r>
            <a:endParaRPr lang="en-US" sz="1400" dirty="0"/>
          </a:p>
        </p:txBody>
      </p:sp>
      <p:sp>
        <p:nvSpPr>
          <p:cNvPr id="9" name="Text 7"/>
          <p:cNvSpPr txBox="1"/>
          <p:nvPr/>
        </p:nvSpPr>
        <p:spPr>
          <a:xfrm>
            <a:off x="548640" y="5486400"/>
            <a:ext cx="5120640" cy="822960"/>
          </a:xfrm>
          <a:prstGeom prst="rect">
            <a:avLst/>
          </a:prstGeom>
          <a:noFill/>
          <a:ln/>
        </p:spPr>
        <p:txBody>
          <a:bodyPr wrap="square" lIns="0" tIns="0" rIns="0" bIns="0" rtlCol="0" anchor="t"/>
          <a:lstStyle/>
          <a:p>
            <a:pPr indent="0" marL="0">
              <a:spcAft>
                <a:spcPts val="600"/>
              </a:spcAft>
              <a:buNone/>
            </a:pPr>
            <a:r>
              <a:rPr lang="en-US" sz="1400" b="1" dirty="0">
                <a:solidFill>
                  <a:schemeClr val="accent3"/>
                </a:solidFill>
              </a:rPr>
              <a:t>Caveat: </a:t>
            </a:r>
            <a:pPr indent="0" marL="0">
              <a:spcAft>
                <a:spcPts val="600"/>
              </a:spcAft>
              <a:buNone/>
            </a:pPr>
            <a:r>
              <a:rPr lang="en-US" sz="1400" dirty="0">
                <a:solidFill>
                  <a:schemeClr val="tx1"/>
                </a:solidFill>
              </a:rPr>
              <a:t>outside 2020, BOD ≤ 1 mg/L is never reported (left blank). Year-to-year trends must account for this reporting floor.</a:t>
            </a:r>
            <a:endParaRPr lang="en-US" sz="1400" dirty="0"/>
          </a:p>
        </p:txBody>
      </p:sp>
      <p:pic>
        <p:nvPicPr>
          <p:cNvPr id="10" name="River by year heatmap" descr="/home/mayank-tiwari/Projects/envi-project/figures/fig_dep_river_year.png">    </p:cNvPr>
          <p:cNvPicPr>
            <a:picLocks noChangeAspect="1"/>
          </p:cNvPicPr>
          <p:nvPr/>
        </p:nvPicPr>
        <p:blipFill>
          <a:blip r:embed="rId1"/>
          <a:stretch>
            <a:fillRect/>
          </a:stretch>
        </p:blipFill>
        <p:spPr>
          <a:xfrm>
            <a:off x="5943600" y="1234440"/>
            <a:ext cx="5669280" cy="4606290"/>
          </a:xfrm>
          <a:prstGeom prst="rect">
            <a:avLst/>
          </a:prstGeom>
        </p:spPr>
      </p:pic>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68680"/>
          </a:xfrm>
          <a:prstGeom prst="rect">
            <a:avLst/>
          </a:prstGeom>
          <a:noFill/>
          <a:ln/>
        </p:spPr>
        <p:txBody>
          <a:bodyPr wrap="square" lIns="0" tIns="0" rIns="0" bIns="0" rtlCol="0" anchor="ctr"/>
          <a:lstStyle/>
          <a:p>
            <a:pPr algn="l" indent="0" marL="0">
              <a:buNone/>
            </a:pPr>
            <a:r>
              <a:rPr lang="en-US" sz="3000" b="1" dirty="0">
                <a:solidFill>
                  <a:schemeClr val="tx2"/>
                </a:solidFill>
              </a:rPr>
              <a:t>Recommended monitoring kit</a:t>
            </a:r>
            <a:endParaRPr lang="en-US" sz="3000" dirty="0"/>
          </a:p>
        </p:txBody>
      </p:sp>
      <p:graphicFrame>
        <p:nvGraphicFramePr>
          <p:cNvPr id="15" name="Kit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651760"/>
                <a:gridCol w="4206240"/>
                <a:gridCol w="1097280"/>
                <a:gridCol w="1645920"/>
                <a:gridCol w="1463040"/>
              </a:tblGrid>
              <a:tr h="475488">
                <a:tc>
                  <a:txBody>
                    <a:bodyPr/>
                    <a:lstStyle/>
                    <a:p>
                      <a:pPr indent="0" marL="0">
                        <a:buNone/>
                      </a:pPr>
                      <a:r>
                        <a:rPr lang="en-US" sz="1400" b="1" dirty="0">
                          <a:solidFill>
                            <a:schemeClr val="bg1"/>
                          </a:solidFill>
                        </a:rPr>
                        <a:t>Tier</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Parameters</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R²</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Category acc.</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90% interval</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0  Routine (no new cost)</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pH, DO, BOD, fecal coliform + location, month</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0.977</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93.9%</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3.6</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1  + turbidity probe</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pH, DO, BOD, turbidity</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0.994</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96.8%</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1.6</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2  + nitrate field kit</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pH, DO, BOD, turbidity, nitrate-N</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0.998</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97.7%</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1.1</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Public-health robust</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S7: + both coliforms, EC</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0.994</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97.0%</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 1.5</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Screening only</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pH, DO, EC, turbidity (all probes)</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0.828</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82.4%</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 9.8</a:t>
                      </a:r>
                      <a:endParaRPr lang="en-US" sz="1400" dirty="0"/>
                    </a:p>
                  </a:txBody>
                  <a:tcPr marL="91440" marR="91440" marT="36576" marB="36576" anchor="ctr">
                    <a:lnL w="6350" cap="flat" cmpd="sng" algn="ctr">
                      <a:solidFill>
                        <a:srgbClr val="D9E2E6"/>
                      </a:solidFill>
                      <a:prstDash val="solid"/>
                      <a:round/>
                      <a:headEnd type="none" w="med" len="med"/>
                      <a:tailEnd type="none" w="med" len="med"/>
                    </a:lnL>
                    <a:lnR w="6350" cap="flat" cmpd="sng" algn="ctr">
                      <a:solidFill>
                        <a:srgbClr val="D9E2E6"/>
                      </a:solidFill>
                      <a:prstDash val="solid"/>
                      <a:round/>
                      <a:headEnd type="none" w="med" len="med"/>
                      <a:tailEnd type="none" w="med" len="med"/>
                    </a:lnR>
                    <a:lnT w="6350" cap="flat" cmpd="sng" algn="ctr">
                      <a:solidFill>
                        <a:srgbClr val="D9E2E6"/>
                      </a:solidFill>
                      <a:prstDash val="solid"/>
                      <a:round/>
                      <a:headEnd type="none" w="med" len="med"/>
                      <a:tailEnd type="none" w="med" len="med"/>
                    </a:lnT>
                    <a:lnB w="6350" cap="flat" cmpd="sng" algn="ctr">
                      <a:solidFill>
                        <a:srgbClr val="D9E2E6"/>
                      </a:solidFill>
                      <a:prstDash val="solid"/>
                      <a:round/>
                      <a:headEnd type="none" w="med" len="med"/>
                      <a:tailEnd type="none" w="med" len="med"/>
                    </a:lnB>
                    <a:solidFill>
                      <a:schemeClr val="bg1"/>
                    </a:solidFill>
                  </a:tcPr>
                </a:tc>
              </a:tr>
            </a:tbl>
          </a:graphicData>
        </a:graphic>
      </p:graphicFrame>
      <p:sp>
        <p:nvSpPr>
          <p:cNvPr id="4" name="Rule 1 badge"/>
          <p:cNvSpPr/>
          <p:nvPr/>
        </p:nvSpPr>
        <p:spPr>
          <a:xfrm>
            <a:off x="548640" y="4572000"/>
            <a:ext cx="411480" cy="411480"/>
          </a:xfrm>
          <a:prstGeom prst="ellipse">
            <a:avLst/>
          </a:prstGeom>
          <a:solidFill>
            <a:schemeClr val="accent1"/>
          </a:solidFill>
          <a:ln w="12700">
            <a:solidFill>
              <a:schemeClr val="accent1"/>
            </a:solidFill>
            <a:prstDash val="solid"/>
          </a:ln>
        </p:spPr>
      </p:sp>
      <p:sp>
        <p:nvSpPr>
          <p:cNvPr id="5" name="Rule 1 number"/>
          <p:cNvSpPr txBox="1"/>
          <p:nvPr/>
        </p:nvSpPr>
        <p:spPr>
          <a:xfrm>
            <a:off x="54864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Rule 1 text"/>
          <p:cNvSpPr txBox="1"/>
          <p:nvPr/>
        </p:nvSpPr>
        <p:spPr>
          <a:xfrm>
            <a:off x="1097280" y="4480560"/>
            <a:ext cx="4937760" cy="594360"/>
          </a:xfrm>
          <a:prstGeom prst="rect">
            <a:avLst/>
          </a:prstGeom>
          <a:noFill/>
          <a:ln/>
        </p:spPr>
        <p:txBody>
          <a:bodyPr wrap="square" lIns="0" tIns="0" rIns="0" bIns="0" rtlCol="0" anchor="ctr"/>
          <a:lstStyle/>
          <a:p>
            <a:pPr indent="0" marL="0">
              <a:buNone/>
            </a:pPr>
            <a:r>
              <a:rPr lang="en-US" sz="1500" dirty="0">
                <a:solidFill>
                  <a:schemeClr val="tx1"/>
                </a:solidFill>
              </a:rPr>
              <a:t>Calibrate pH to ±0.05 and quality-control BOD</a:t>
            </a:r>
            <a:endParaRPr lang="en-US" sz="1500" dirty="0"/>
          </a:p>
        </p:txBody>
      </p:sp>
      <p:sp>
        <p:nvSpPr>
          <p:cNvPr id="7" name="Rule 2 badge"/>
          <p:cNvSpPr/>
          <p:nvPr/>
        </p:nvSpPr>
        <p:spPr>
          <a:xfrm>
            <a:off x="6172200" y="4572000"/>
            <a:ext cx="411480" cy="411480"/>
          </a:xfrm>
          <a:prstGeom prst="ellipse">
            <a:avLst/>
          </a:prstGeom>
          <a:solidFill>
            <a:schemeClr val="accent1"/>
          </a:solidFill>
          <a:ln w="12700">
            <a:solidFill>
              <a:schemeClr val="accent1"/>
            </a:solidFill>
            <a:prstDash val="solid"/>
          </a:ln>
        </p:spPr>
      </p:sp>
      <p:sp>
        <p:nvSpPr>
          <p:cNvPr id="8" name="Rule 2 number"/>
          <p:cNvSpPr txBox="1"/>
          <p:nvPr/>
        </p:nvSpPr>
        <p:spPr>
          <a:xfrm>
            <a:off x="6172200"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Rule 2 text"/>
          <p:cNvSpPr txBox="1"/>
          <p:nvPr/>
        </p:nvSpPr>
        <p:spPr>
          <a:xfrm>
            <a:off x="6720840" y="4480560"/>
            <a:ext cx="4937760" cy="594360"/>
          </a:xfrm>
          <a:prstGeom prst="rect">
            <a:avLst/>
          </a:prstGeom>
          <a:noFill/>
          <a:ln/>
        </p:spPr>
        <p:txBody>
          <a:bodyPr wrap="square" lIns="0" tIns="0" rIns="0" bIns="0" rtlCol="0" anchor="ctr"/>
          <a:lstStyle/>
          <a:p>
            <a:pPr indent="0" marL="0">
              <a:buNone/>
            </a:pPr>
            <a:r>
              <a:rPr lang="en-US" sz="1500" dirty="0">
                <a:solidFill>
                  <a:schemeClr val="tx1"/>
                </a:solidFill>
              </a:rPr>
              <a:t>Route to a dedicated model for whatever was measured</a:t>
            </a:r>
            <a:endParaRPr lang="en-US" sz="1500" dirty="0"/>
          </a:p>
        </p:txBody>
      </p:sp>
      <p:sp>
        <p:nvSpPr>
          <p:cNvPr id="10" name="Rule 3 badge"/>
          <p:cNvSpPr/>
          <p:nvPr/>
        </p:nvSpPr>
        <p:spPr>
          <a:xfrm>
            <a:off x="548640" y="5440680"/>
            <a:ext cx="411480" cy="411480"/>
          </a:xfrm>
          <a:prstGeom prst="ellipse">
            <a:avLst/>
          </a:prstGeom>
          <a:solidFill>
            <a:schemeClr val="accent1"/>
          </a:solidFill>
          <a:ln w="12700">
            <a:solidFill>
              <a:schemeClr val="accent1"/>
            </a:solidFill>
            <a:prstDash val="solid"/>
          </a:ln>
        </p:spPr>
      </p:sp>
      <p:sp>
        <p:nvSpPr>
          <p:cNvPr id="11" name="Rule 3 number"/>
          <p:cNvSpPr txBox="1"/>
          <p:nvPr/>
        </p:nvSpPr>
        <p:spPr>
          <a:xfrm>
            <a:off x="548640" y="5440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Rule 3 text"/>
          <p:cNvSpPr txBox="1"/>
          <p:nvPr/>
        </p:nvSpPr>
        <p:spPr>
          <a:xfrm>
            <a:off x="1097280" y="5349240"/>
            <a:ext cx="4937760" cy="594360"/>
          </a:xfrm>
          <a:prstGeom prst="rect">
            <a:avLst/>
          </a:prstGeom>
          <a:noFill/>
          <a:ln/>
        </p:spPr>
        <p:txBody>
          <a:bodyPr wrap="square" lIns="0" tIns="0" rIns="0" bIns="0" rtlCol="0" anchor="ctr"/>
          <a:lstStyle/>
          <a:p>
            <a:pPr indent="0" marL="0">
              <a:buNone/>
            </a:pPr>
            <a:r>
              <a:rPr lang="en-US" sz="1500" dirty="0">
                <a:solidFill>
                  <a:schemeClr val="tx1"/>
                </a:solidFill>
              </a:rPr>
              <a:t>Publish the conformal interval with every estimate</a:t>
            </a:r>
            <a:endParaRPr lang="en-US" sz="1500" dirty="0"/>
          </a:p>
        </p:txBody>
      </p:sp>
      <p:sp>
        <p:nvSpPr>
          <p:cNvPr id="13" name="Rule 4 badge"/>
          <p:cNvSpPr/>
          <p:nvPr/>
        </p:nvSpPr>
        <p:spPr>
          <a:xfrm>
            <a:off x="6172200" y="5440680"/>
            <a:ext cx="411480" cy="411480"/>
          </a:xfrm>
          <a:prstGeom prst="ellipse">
            <a:avLst/>
          </a:prstGeom>
          <a:solidFill>
            <a:schemeClr val="accent1"/>
          </a:solidFill>
          <a:ln w="12700">
            <a:solidFill>
              <a:schemeClr val="accent1"/>
            </a:solidFill>
            <a:prstDash val="solid"/>
          </a:ln>
        </p:spPr>
      </p:sp>
      <p:sp>
        <p:nvSpPr>
          <p:cNvPr id="14" name="Rule 4 number"/>
          <p:cNvSpPr txBox="1"/>
          <p:nvPr/>
        </p:nvSpPr>
        <p:spPr>
          <a:xfrm>
            <a:off x="6172200" y="54406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Rule 4 text"/>
          <p:cNvSpPr txBox="1"/>
          <p:nvPr/>
        </p:nvSpPr>
        <p:spPr>
          <a:xfrm>
            <a:off x="6720840" y="5349240"/>
            <a:ext cx="4937760" cy="594360"/>
          </a:xfrm>
          <a:prstGeom prst="rect">
            <a:avLst/>
          </a:prstGeom>
          <a:noFill/>
          <a:ln/>
        </p:spPr>
        <p:txBody>
          <a:bodyPr wrap="square" lIns="0" tIns="0" rIns="0" bIns="0" rtlCol="0" anchor="ctr"/>
          <a:lstStyle/>
          <a:p>
            <a:pPr indent="0" marL="0">
              <a:buNone/>
            </a:pPr>
            <a:r>
              <a:rPr lang="en-US" sz="1500" dirty="0">
                <a:solidFill>
                  <a:schemeClr val="tx1"/>
                </a:solidFill>
              </a:rPr>
              <a:t>Report fecal coliform exceedance alongside the WQI</a:t>
            </a:r>
            <a:endParaRPr lang="en-US" sz="15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onclusion title"/>
          <p:cNvSpPr txBox="1"/>
          <p:nvPr/>
        </p:nvSpPr>
        <p:spPr>
          <a:xfrm>
            <a:off x="640080" y="548640"/>
            <a:ext cx="10972800" cy="8229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Answer: yes, with the right three parameters</a:t>
            </a:r>
            <a:endParaRPr lang="en-US" sz="3400" dirty="0"/>
          </a:p>
        </p:txBody>
      </p:sp>
      <p:sp>
        <p:nvSpPr>
          <p:cNvPr id="3" name="Takeaway badge 1"/>
          <p:cNvSpPr/>
          <p:nvPr/>
        </p:nvSpPr>
        <p:spPr>
          <a:xfrm>
            <a:off x="640080" y="1783080"/>
            <a:ext cx="502920" cy="502920"/>
          </a:xfrm>
          <a:prstGeom prst="ellipse">
            <a:avLst/>
          </a:prstGeom>
          <a:solidFill>
            <a:schemeClr val="accent2"/>
          </a:solidFill>
          <a:ln w="12700">
            <a:solidFill>
              <a:schemeClr val="accent2"/>
            </a:solidFill>
            <a:prstDash val="solid"/>
          </a:ln>
        </p:spPr>
      </p:sp>
      <p:sp>
        <p:nvSpPr>
          <p:cNvPr id="4" name="Takeaway number 1"/>
          <p:cNvSpPr txBox="1"/>
          <p:nvPr/>
        </p:nvSpPr>
        <p:spPr>
          <a:xfrm>
            <a:off x="640080" y="178308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5" name="Takeaway 1"/>
          <p:cNvSpPr txBox="1"/>
          <p:nvPr/>
        </p:nvSpPr>
        <p:spPr>
          <a:xfrm>
            <a:off x="1371600" y="1691640"/>
            <a:ext cx="10149840" cy="1005840"/>
          </a:xfrm>
          <a:prstGeom prst="rect">
            <a:avLst/>
          </a:prstGeom>
          <a:noFill/>
          <a:ln/>
        </p:spPr>
        <p:txBody>
          <a:bodyPr wrap="square" lIns="0" tIns="0" rIns="0" bIns="0" rtlCol="0" anchor="t"/>
          <a:lstStyle/>
          <a:p>
            <a:pPr indent="0" marL="0">
              <a:buNone/>
            </a:pPr>
            <a:r>
              <a:rPr lang="en-US" sz="2000" b="1" dirty="0">
                <a:solidFill>
                  <a:schemeClr val="bg1"/>
                </a:solidFill>
              </a:rPr>
              <a:t>pH, DO and BOD reproduce the CPCB WQI</a:t>
            </a:r>
            <a:endParaRPr lang="en-US" sz="2000" dirty="0"/>
          </a:p>
          <a:p>
            <a:pPr indent="0" marL="0">
              <a:buNone/>
            </a:pPr>
            <a:r>
              <a:rPr lang="en-US" sz="1500" dirty="0">
                <a:solidFill>
                  <a:schemeClr val="bg2"/>
                </a:solidFill>
              </a:rPr>
              <a:t>R² 0.957 and 91% category accuracy at unseen stations; 0.994 with a turbidity probe</a:t>
            </a:r>
            <a:endParaRPr lang="en-US" sz="2000" dirty="0"/>
          </a:p>
        </p:txBody>
      </p:sp>
      <p:sp>
        <p:nvSpPr>
          <p:cNvPr id="6" name="Takeaway badge 2"/>
          <p:cNvSpPr/>
          <p:nvPr/>
        </p:nvSpPr>
        <p:spPr>
          <a:xfrm>
            <a:off x="640080" y="2971800"/>
            <a:ext cx="502920" cy="502920"/>
          </a:xfrm>
          <a:prstGeom prst="ellipse">
            <a:avLst/>
          </a:prstGeom>
          <a:solidFill>
            <a:schemeClr val="accent2"/>
          </a:solidFill>
          <a:ln w="12700">
            <a:solidFill>
              <a:schemeClr val="accent2"/>
            </a:solidFill>
            <a:prstDash val="solid"/>
          </a:ln>
        </p:spPr>
      </p:sp>
      <p:sp>
        <p:nvSpPr>
          <p:cNvPr id="7" name="Takeaway number 2"/>
          <p:cNvSpPr txBox="1"/>
          <p:nvPr/>
        </p:nvSpPr>
        <p:spPr>
          <a:xfrm>
            <a:off x="640080" y="297180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8" name="Takeaway 2"/>
          <p:cNvSpPr txBox="1"/>
          <p:nvPr/>
        </p:nvSpPr>
        <p:spPr>
          <a:xfrm>
            <a:off x="1371600" y="2880360"/>
            <a:ext cx="10149840" cy="1005840"/>
          </a:xfrm>
          <a:prstGeom prst="rect">
            <a:avLst/>
          </a:prstGeom>
          <a:noFill/>
          <a:ln/>
        </p:spPr>
        <p:txBody>
          <a:bodyPr wrap="square" lIns="0" tIns="0" rIns="0" bIns="0" rtlCol="0" anchor="t"/>
          <a:lstStyle/>
          <a:p>
            <a:pPr indent="0" marL="0">
              <a:buNone/>
            </a:pPr>
            <a:r>
              <a:rPr lang="en-US" sz="2000" b="1" dirty="0">
                <a:solidFill>
                  <a:schemeClr val="bg1"/>
                </a:solidFill>
              </a:rPr>
              <a:t>Learning beats re-weighting</a:t>
            </a:r>
            <a:endParaRPr lang="en-US" sz="2000" dirty="0"/>
          </a:p>
          <a:p>
            <a:pPr indent="0" marL="0">
              <a:buNone/>
            </a:pPr>
            <a:r>
              <a:rPr lang="en-US" sz="1500" dirty="0">
                <a:solidFill>
                  <a:schemeClr val="bg2"/>
                </a:solidFill>
              </a:rPr>
              <a:t>once data from about 25 stations are available, with calibrated ±4.7-point intervals</a:t>
            </a:r>
            <a:endParaRPr lang="en-US" sz="2000" dirty="0"/>
          </a:p>
        </p:txBody>
      </p:sp>
      <p:sp>
        <p:nvSpPr>
          <p:cNvPr id="9" name="Takeaway badge 3"/>
          <p:cNvSpPr/>
          <p:nvPr/>
        </p:nvSpPr>
        <p:spPr>
          <a:xfrm>
            <a:off x="640080" y="4160520"/>
            <a:ext cx="502920" cy="502920"/>
          </a:xfrm>
          <a:prstGeom prst="ellipse">
            <a:avLst/>
          </a:prstGeom>
          <a:solidFill>
            <a:schemeClr val="accent2"/>
          </a:solidFill>
          <a:ln w="12700">
            <a:solidFill>
              <a:schemeClr val="accent2"/>
            </a:solidFill>
            <a:prstDash val="solid"/>
          </a:ln>
        </p:spPr>
      </p:sp>
      <p:sp>
        <p:nvSpPr>
          <p:cNvPr id="10" name="Takeaway number 3"/>
          <p:cNvSpPr txBox="1"/>
          <p:nvPr/>
        </p:nvSpPr>
        <p:spPr>
          <a:xfrm>
            <a:off x="640080" y="4160520"/>
            <a:ext cx="502920" cy="50292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1" name="Takeaway 3"/>
          <p:cNvSpPr txBox="1"/>
          <p:nvPr/>
        </p:nvSpPr>
        <p:spPr>
          <a:xfrm>
            <a:off x="1371600" y="4069080"/>
            <a:ext cx="10149840" cy="1005840"/>
          </a:xfrm>
          <a:prstGeom prst="rect">
            <a:avLst/>
          </a:prstGeom>
          <a:noFill/>
          <a:ln/>
        </p:spPr>
        <p:txBody>
          <a:bodyPr wrap="square" lIns="0" tIns="0" rIns="0" bIns="0" rtlCol="0" anchor="t"/>
          <a:lstStyle/>
          <a:p>
            <a:pPr indent="0" marL="0">
              <a:buNone/>
            </a:pPr>
            <a:r>
              <a:rPr lang="en-US" sz="2000" b="1" dirty="0">
                <a:solidFill>
                  <a:schemeClr val="bg1"/>
                </a:solidFill>
              </a:rPr>
              <a:t>Mind the index and the instruments</a:t>
            </a:r>
            <a:endParaRPr lang="en-US" sz="2000" dirty="0"/>
          </a:p>
          <a:p>
            <a:pPr indent="0" marL="0">
              <a:buNone/>
            </a:pPr>
            <a:r>
              <a:rPr lang="en-US" sz="1500" dirty="0">
                <a:solidFill>
                  <a:schemeClr val="bg2"/>
                </a:solidFill>
              </a:rPr>
              <a:t>the CPCB weights ignore coliforms, and pH precision matters more than parameter count</a:t>
            </a:r>
            <a:endParaRPr lang="en-US" sz="2000" dirty="0"/>
          </a:p>
        </p:txBody>
      </p:sp>
      <p:sp>
        <p:nvSpPr>
          <p:cNvPr id="12" name="Next steps"/>
          <p:cNvSpPr txBox="1"/>
          <p:nvPr/>
        </p:nvSpPr>
        <p:spPr>
          <a:xfrm>
            <a:off x="640080" y="5440680"/>
            <a:ext cx="10972800" cy="457200"/>
          </a:xfrm>
          <a:prstGeom prst="rect">
            <a:avLst/>
          </a:prstGeom>
          <a:noFill/>
          <a:ln/>
        </p:spPr>
        <p:txBody>
          <a:bodyPr wrap="square" lIns="0" tIns="0" rIns="0" bIns="0" rtlCol="0" anchor="ctr"/>
          <a:lstStyle/>
          <a:p>
            <a:pPr indent="0" marL="0">
              <a:buNone/>
            </a:pPr>
            <a:r>
              <a:rPr lang="en-US" sz="1500" b="1" dirty="0">
                <a:solidFill>
                  <a:schemeClr val="accent2"/>
                </a:solidFill>
              </a:rPr>
              <a:t>Next: </a:t>
            </a:r>
            <a:pPr indent="0" marL="0">
              <a:buNone/>
            </a:pPr>
            <a:r>
              <a:rPr lang="en-US" sz="1500" dirty="0">
                <a:solidFill>
                  <a:schemeClr val="bg1"/>
                </a:solidFill>
              </a:rPr>
              <a:t>more full-panel years, censored-BOD handling, NSF/CCME indices, satellite turbidity, a field tool.</a:t>
            </a:r>
            <a:endParaRPr lang="en-US" sz="1500" dirty="0"/>
          </a:p>
        </p:txBody>
      </p:sp>
      <p:sp>
        <p:nvSpPr>
          <p:cNvPr id="13" name="Thanks"/>
          <p:cNvSpPr txBox="1"/>
          <p:nvPr/>
        </p:nvSpPr>
        <p:spPr>
          <a:xfrm>
            <a:off x="640080" y="6035040"/>
            <a:ext cx="10972800" cy="457200"/>
          </a:xfrm>
          <a:prstGeom prst="rect">
            <a:avLst/>
          </a:prstGeom>
          <a:noFill/>
          <a:ln/>
        </p:spPr>
        <p:txBody>
          <a:bodyPr wrap="square" lIns="0" tIns="0" rIns="0" bIns="0" rtlCol="0" anchor="ctr"/>
          <a:lstStyle/>
          <a:p>
            <a:pPr indent="0" marL="0">
              <a:buNone/>
            </a:pPr>
            <a:r>
              <a:rPr lang="en-US" sz="1800" i="1" dirty="0">
                <a:solidFill>
                  <a:schemeClr val="accent2"/>
                </a:solidFill>
              </a:rPr>
              <a:t>Thank you. Questions?</a:t>
            </a:r>
            <a:endParaRPr lang="en-US" sz="1800" dirty="0"/>
          </a:p>
        </p:txBody>
      </p:sp>
    </p:spTree>
  </p:cSld>
  <p:clrMapOvr>
    <a:masterClrMapping/>
  </p:clrMapOvr>
</p:sld>
</file>

<file path=ppt/theme/theme1.xml><?xml version="1.0" encoding="utf-8"?>
<a:theme xmlns:a="http://schemas.openxmlformats.org/drawingml/2006/main" name="River">
  <a:themeElements>
    <a:clrScheme name="River">
      <a:dk1>
        <a:srgbClr val="13293D"/>
      </a:dk1>
      <a:lt1>
        <a:srgbClr val="FFFFFF"/>
      </a:lt1>
      <a:dk2>
        <a:srgbClr val="0B4F6C"/>
      </a:dk2>
      <a:lt2>
        <a:srgbClr val="E8F3F4"/>
      </a:lt2>
      <a:accent1>
        <a:srgbClr val="1A7F8E"/>
      </a:accent1>
      <a:accent2>
        <a:srgbClr val="F2A541"/>
      </a:accent2>
      <a:accent3>
        <a:srgbClr val="D1495B"/>
      </a:accent3>
      <a:accent4>
        <a:srgbClr val="66A182"/>
      </a:accent4>
      <a:accent5>
        <a:srgbClr val="8A9BA8"/>
      </a:accent5>
      <a:accent6>
        <a:srgbClr val="0B4F6C"/>
      </a:accent6>
      <a:hlink>
        <a:srgbClr val="1A7F8E"/>
      </a:hlink>
      <a:folHlink>
        <a:srgbClr val="5B3758"/>
      </a:folHlink>
    </a:clrScheme>
    <a:fontScheme name="Riv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Reduced-Parameter WQI Prediction for Data-Scarce River Systems</dc:title>
  <dc:subject>CV301 Environmental Engineering, NITK Surathkal</dc:subject>
  <dc:creator>Mayank Tiwari, Krupa Marol, Srushti Dongre, Sreenidhi Golamaru, Bharath Chowdary</dc:creator>
  <cp:lastModifiedBy>Mayank Tiwari, Krupa Marol, Srushti Dongre, Sreenidhi Golamaru, Bharath Chowdary</cp:lastModifiedBy>
  <cp:revision>1</cp:revision>
  <dcterms:created xsi:type="dcterms:W3CDTF">2026-10-18T14:20:45Z</dcterms:created>
  <dcterms:modified xsi:type="dcterms:W3CDTF">2026-10-18T14:20:45Z</dcterms:modified>
</cp:coreProperties>
</file>